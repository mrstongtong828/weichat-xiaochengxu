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</p:sldIdLst>
  <p:sldSz cx="12192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/Relationships>
</file>

<file path=ppt/notesSlides/_rels/notesSlide1.xml.rels><?xml version="1.0" encoding="UTF-8" standalone="yes"?>
<Relationships xmlns="http://schemas.openxmlformats.org/package/2006/relationships">
  <Relationship Id="rId1" Type="http://schemas.openxmlformats.org/officeDocument/2006/relationships/slide" Target="../slides/slide1.xml"/>
</Relationships>
</file>

<file path=ppt/notesSlides/_rels/notesSlide2.xml.rels><?xml version="1.0" encoding="UTF-8" standalone="yes"?>
<Relationships xmlns="http://schemas.openxmlformats.org/package/2006/relationships">
  <Relationship Id="rId1" Type="http://schemas.openxmlformats.org/officeDocument/2006/relationships/slide" Target="../slides/slide2.xml"/>
</Relationships>
</file>

<file path=ppt/notesSlides/_rels/notesSlide3.xml.rels><?xml version="1.0" encoding="UTF-8" standalone="yes"?>
<Relationships xmlns="http://schemas.openxmlformats.org/package/2006/relationships">
  <Relationship Id="rId1" Type="http://schemas.openxmlformats.org/officeDocument/2006/relationships/slide" Target="../slides/slide3.xml"/>
</Relationships>
</file>

<file path=ppt/notesSlides/_rels/notesSlide4.xml.rels><?xml version="1.0" encoding="UTF-8" standalone="yes"?>
<Relationships xmlns="http://schemas.openxmlformats.org/package/2006/relationships">
  <Relationship Id="rId1" Type="http://schemas.openxmlformats.org/officeDocument/2006/relationships/slide" Target="../slides/slide4.xml"/>
</Relationships>
</file>

<file path=ppt/notesSlides/_rels/notesSlide5.xml.rels><?xml version="1.0" encoding="UTF-8" standalone="yes"?>
<Relationships xmlns="http://schemas.openxmlformats.org/package/2006/relationships">
  <Relationship Id="rId1" Type="http://schemas.openxmlformats.org/officeDocument/2006/relationships/slide" Target="../slides/slide5.xml"/>
</Relationships>
</file>

<file path=ppt/notesSlides/_rels/notesSlide6.xml.rels><?xml version="1.0" encoding="UTF-8" standalone="yes"?>
<Relationships xmlns="http://schemas.openxmlformats.org/package/2006/relationships">
  <Relationship Id="rId1" Type="http://schemas.openxmlformats.org/officeDocument/2006/relationships/slide" Target="../slides/slide6.xml"/>
</Relationships>
</file>

<file path=ppt/notesSlides/_rels/notesSlide7.xml.rels><?xml version="1.0" encoding="UTF-8" standalone="yes"?>
<Relationships xmlns="http://schemas.openxmlformats.org/package/2006/relationships">
  <Relationship Id="rId1" Type="http://schemas.openxmlformats.org/officeDocument/2006/relationships/slide" Target="../slides/slide7.xml"/>
</Relationships>
</file>

<file path=ppt/notesSlides/_rels/notesSlide8.xml.rels><?xml version="1.0" encoding="UTF-8" standalone="yes"?>
<Relationships xmlns="http://schemas.openxmlformats.org/package/2006/relationships">
  <Relationship Id="rId1" Type="http://schemas.openxmlformats.org/officeDocument/2006/relationships/slide" Target="../slides/slide8.xml"/>
</Relationships>
</file>

<file path=ppt/notesSlides/_rels/notesSlide9.xml.rels><?xml version="1.0" encoding="UTF-8" standalone="yes"?>
<Relationships xmlns="http://schemas.openxmlformats.org/package/2006/relationships">
  <Relationship Id="rId1" Type="http://schemas.openxmlformats.org/officeDocument/2006/relationships/slide" Target="../slides/slide9.xml"/>
</Relationships>
</file>

<file path=ppt/notesSlides/_rels/notesSlide10.xml.rels><?xml version="1.0" encoding="UTF-8" standalone="yes"?>
<Relationships xmlns="http://schemas.openxmlformats.org/package/2006/relationships">
  <Relationship Id="rId1" Type="http://schemas.openxmlformats.org/officeDocument/2006/relationships/slide" Target="../slides/slide10.xml"/>
</Relationships>
</file>

<file path=ppt/notesSlides/_rels/notesSlide11.xml.rels><?xml version="1.0" encoding="UTF-8" standalone="yes"?>
<Relationships xmlns="http://schemas.openxmlformats.org/package/2006/relationships">
  <Relationship Id="rId1" Type="http://schemas.openxmlformats.org/officeDocument/2006/relationships/slide" Target="../slides/slide11.xml"/>
</Relationships>
</file>

<file path=ppt/notesSlides/_rels/notesSlide12.xml.rels><?xml version="1.0" encoding="UTF-8" standalone="yes"?>
<Relationships xmlns="http://schemas.openxmlformats.org/package/2006/relationships">
  <Relationship Id="rId1" Type="http://schemas.openxmlformats.org/officeDocument/2006/relationships/slide" Target="../slides/slide12.xml"/>
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这是牙医仪器检修小程序的项目进度汇报，统计时间是六月二十二日，目标是七月上线。一句话定调：开发已经基本完成，上线卡在配置与审核。底部四个数字就是当前盘面——代码功能完成度百分之九十五，后端正式部署百分之零，最低上线门槛达成零比十二，发布阻断项一个。</a:t>
            </a: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先看四个关键指标。客户端代码功能完成度百分之九十五，十六项主流程全部实现，并且已经写完合规整改。后端云函数七个代码就绪，其中五个需要按整改重新部署到正式环境。最低上线门槛达成零比十二，代码就绪八项但全部卡在部署、配置和验收。发布阻断项一个，就是医疗器械类目审核。</a:t>
            </a: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把七个维度逐个过一遍。客户端代码和云函数代码这两项已经完成。后端正式部署、数据库索引、微信支付与订阅配置这三项都还未完成，原因都是平台配置或者部署没做，不是代码问题。真机和全流程验收还没开始，排期是从六月二十八日起。最后类目审核处于阻断状态，是发布前置的硬卡点。</a:t>
            </a:r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一句话结论：开发已经基本完成，上线在配置和审核，代码侧没有重大缺口。剩下的工作收口为三大卡点。第一是类目审核，医疗器械类目没通过，需要补齐资质重新提交，这一项卡住发布。第二是部署与配置，包括切正式云空间、重部署云函数、配支付订阅域名、建数据库索引。第三是真机与验收，客户全流程和后台核心业务的验收都还没开始。</a:t>
            </a:r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客户端十六项主流程功能已经全部实现，这一页是逐项确认。从登录、报修建单、上传图片、订单进度，到报价确认、微信支付、对公凭证、发票、收货、评价回访，再到投诉建议、订阅消息、设备档案、隐私授权和账号注销，全部打勾。代码侧只剩两个非编码项要确认：客服热线号还在用临时号码待确认，客户可见的资质和资料要换成正式版本。</a:t>
            </a:r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这是上线的硬指标，十二项最低门槛目前达成零项。可以看到，前八项的代码都已经就绪，但卡点分别是真机未验收、没连正式环境、支付参数未配、订阅模板没配、控制台没建索引等等。第九到第十一项是部署和索引相关，第十二项客户资料处于待确认。结论很清楚：代码不是瓶颈，瓶颈在部署、配置和验收，任一门槛未过原则上不得提审。</a:t>
            </a:r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时间线分五个阶段。第一阶段正式资料锁定，六月二十二到二十四日，今天已经进行中。第二阶段正式环境部署，六月二十五到二十七日。第三阶段第一轮全流程验收，六月二十八到三十日。第四阶段最终回归和提审准备，七月一到三日。第五阶段微信审核与发布，从七月四日起。需要特别提醒：类目审核的资质要并行补齐，否则会卡在最后一步。</a:t>
            </a:r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这是当前唯一的发布阻断项，编号 B 一。阻塞原因是微信公众平台类目管理里，医疗器械类目的资质审核没有通过。下一步动作是补齐医疗器械生产许可证、互联网信息服务备案凭证等资质，然后在类目管理里重新提交审核。负责人是吴彤彤，依赖客户提供资质证照，预计完成时间待定，因为它直接卡住发布。</a:t>
            </a:r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接下来按人看分工和卡点，这一页是前三位。吴彤彤负责客户资料和上线总控，关键是收齐正式资料、确认客服热线、组织每日同步。陈莎负责微信平台、支付和订阅，关键是配合法域名、申请订阅模板、配微信支付参数。苏凤冰负责云端，关键是切正式云空间、重部署七个云函数、创建数据库集合和索引。</a:t>
            </a:r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这一页是后三位。郑佳华负责小程序端和真机闭环，关键是用正式 AppID 出体验版、连正式环境、真机跑客户主流程。蔡珠琪负责 PC 后台部署和验收，关键是配正式 URL、部署正式域名和 HTTPS、验收后台核心业务。钟浩霆负责资料核对和全流程验收，关键是核对客户可见资料、跑完整业务闭环、最终复验后给出上线建议。</a:t>
            </a:r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把未来七天的动作按日期归桶。六月二十二到二十四日，吴彤彤锁定正式资料，苏凤冰把五个整改云函数重部署到正式。六月二十五到二十七日，切正式云空间并完成支付、订阅、域名、索引配置，蔡珠琪部署 PC 后台正式域名和 HTTPS。六月二十八到三十日，郑佳华和钟浩霆做第一轮真机和全流程验收，并整理问题清单复测。同时并行推进的是类目审核资质补齐，这一项卡住发布，由吴彤彤负责。</a:t>
            </a:r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最后是上线判定。一句话：门槛未清零，不提审。判定规则是，任一最低上线门槛没过原则上不得提审；如果要有条件上线，必须由吴彤彤在最终上线确认单里写明风险、兜底方案、负责人和预计修复时间。总结一句——开发已经就位，决胜在配置与审核。</a:t>
            </a:r>
          </a:p>
        </p:txBody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
  <Relationship Id="rId1" Type="http://schemas.openxmlformats.org/officeDocument/2006/relationships/slideLayout" Target="../slideLayouts/slideLayout1.xml"/>
  <Relationship Id="rId2" Type="http://schemas.openxmlformats.org/officeDocument/2006/relationships/notesSlide" Target="../notesSlides/notesSlide1.xml"/>
</Relationships>
</file>

<file path=ppt/slides/_rels/slide2.xml.rels><?xml version="1.0" encoding="UTF-8" standalone="yes"?>
<Relationships xmlns="http://schemas.openxmlformats.org/package/2006/relationships">
  <Relationship Id="rId1" Type="http://schemas.openxmlformats.org/officeDocument/2006/relationships/slideLayout" Target="../slideLayouts/slideLayout1.xml"/>
  <Relationship Id="rId2" Type="http://schemas.openxmlformats.org/officeDocument/2006/relationships/notesSlide" Target="../notesSlides/notesSlide2.xml"/>
</Relationships>
</file>

<file path=ppt/slides/_rels/slide3.xml.rels><?xml version="1.0" encoding="UTF-8" standalone="yes"?>
<Relationships xmlns="http://schemas.openxmlformats.org/package/2006/relationships">
  <Relationship Id="rId1" Type="http://schemas.openxmlformats.org/officeDocument/2006/relationships/slideLayout" Target="../slideLayouts/slideLayout1.xml"/>
  <Relationship Id="rId2" Type="http://schemas.openxmlformats.org/officeDocument/2006/relationships/notesSlide" Target="../notesSlides/notesSlide3.xml"/>
</Relationships>
</file>

<file path=ppt/slides/_rels/slide4.xml.rels><?xml version="1.0" encoding="UTF-8" standalone="yes"?>
<Relationships xmlns="http://schemas.openxmlformats.org/package/2006/relationships">
  <Relationship Id="rId1" Type="http://schemas.openxmlformats.org/officeDocument/2006/relationships/slideLayout" Target="../slideLayouts/slideLayout1.xml"/>
  <Relationship Id="rId2" Type="http://schemas.openxmlformats.org/officeDocument/2006/relationships/notesSlide" Target="../notesSlides/notesSlide4.xml"/>
</Relationships>
</file>

<file path=ppt/slides/_rels/slide5.xml.rels><?xml version="1.0" encoding="UTF-8" standalone="yes"?>
<Relationships xmlns="http://schemas.openxmlformats.org/package/2006/relationships">
  <Relationship Id="rId1" Type="http://schemas.openxmlformats.org/officeDocument/2006/relationships/slideLayout" Target="../slideLayouts/slideLayout1.xml"/>
  <Relationship Id="rId2" Type="http://schemas.openxmlformats.org/officeDocument/2006/relationships/notesSlide" Target="../notesSlides/notesSlide5.xml"/>
</Relationships>
</file>

<file path=ppt/slides/_rels/slide6.xml.rels><?xml version="1.0" encoding="UTF-8" standalone="yes"?>
<Relationships xmlns="http://schemas.openxmlformats.org/package/2006/relationships">
  <Relationship Id="rId1" Type="http://schemas.openxmlformats.org/officeDocument/2006/relationships/slideLayout" Target="../slideLayouts/slideLayout1.xml"/>
  <Relationship Id="rId2" Type="http://schemas.openxmlformats.org/officeDocument/2006/relationships/notesSlide" Target="../notesSlides/notesSlide6.xml"/>
</Relationships>
</file>

<file path=ppt/slides/_rels/slide7.xml.rels><?xml version="1.0" encoding="UTF-8" standalone="yes"?>
<Relationships xmlns="http://schemas.openxmlformats.org/package/2006/relationships">
  <Relationship Id="rId1" Type="http://schemas.openxmlformats.org/officeDocument/2006/relationships/slideLayout" Target="../slideLayouts/slideLayout1.xml"/>
  <Relationship Id="rId2" Type="http://schemas.openxmlformats.org/officeDocument/2006/relationships/notesSlide" Target="../notesSlides/notesSlide7.xml"/>
</Relationships>
</file>

<file path=ppt/slides/_rels/slide8.xml.rels><?xml version="1.0" encoding="UTF-8" standalone="yes"?>
<Relationships xmlns="http://schemas.openxmlformats.org/package/2006/relationships">
  <Relationship Id="rId1" Type="http://schemas.openxmlformats.org/officeDocument/2006/relationships/slideLayout" Target="../slideLayouts/slideLayout1.xml"/>
  <Relationship Id="rId2" Type="http://schemas.openxmlformats.org/officeDocument/2006/relationships/notesSlide" Target="../notesSlides/notesSlide8.xml"/>
</Relationships>
</file>

<file path=ppt/slides/_rels/slide9.xml.rels><?xml version="1.0" encoding="UTF-8" standalone="yes"?>
<Relationships xmlns="http://schemas.openxmlformats.org/package/2006/relationships">
  <Relationship Id="rId1" Type="http://schemas.openxmlformats.org/officeDocument/2006/relationships/slideLayout" Target="../slideLayouts/slideLayout1.xml"/>
  <Relationship Id="rId2" Type="http://schemas.openxmlformats.org/officeDocument/2006/relationships/notesSlide" Target="../notesSlides/notesSlide9.xml"/>
</Relationships>
</file>

<file path=ppt/slides/_rels/slide10.xml.rels><?xml version="1.0" encoding="UTF-8" standalone="yes"?>
<Relationships xmlns="http://schemas.openxmlformats.org/package/2006/relationships">
  <Relationship Id="rId1" Type="http://schemas.openxmlformats.org/officeDocument/2006/relationships/slideLayout" Target="../slideLayouts/slideLayout1.xml"/>
  <Relationship Id="rId2" Type="http://schemas.openxmlformats.org/officeDocument/2006/relationships/notesSlide" Target="../notesSlides/notesSlide10.xml"/>
</Relationships>
</file>

<file path=ppt/slides/_rels/slide11.xml.rels><?xml version="1.0" encoding="UTF-8" standalone="yes"?>
<Relationships xmlns="http://schemas.openxmlformats.org/package/2006/relationships">
  <Relationship Id="rId1" Type="http://schemas.openxmlformats.org/officeDocument/2006/relationships/slideLayout" Target="../slideLayouts/slideLayout1.xml"/>
  <Relationship Id="rId2" Type="http://schemas.openxmlformats.org/officeDocument/2006/relationships/notesSlide" Target="../notesSlides/notesSlide11.xml"/>
</Relationships>
</file>

<file path=ppt/slides/_rels/slide12.xml.rels><?xml version="1.0" encoding="UTF-8" standalone="yes"?>
<Relationships xmlns="http://schemas.openxmlformats.org/package/2006/relationships">
  <Relationship Id="rId1" Type="http://schemas.openxmlformats.org/officeDocument/2006/relationships/slideLayout" Target="../slideLayouts/slideLayout1.xml"/>
  <Relationship Id="rId2" Type="http://schemas.openxmlformats.org/officeDocument/2006/relationships/notesSlide" Target="../notesSlides/notesSlide12.xml"/>
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oup 4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2" name="Rectangle 2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</p:spPr>
        </p:sp>
        <p:sp>
          <p:nvSpPr>
            <p:cNvPr id="3" name="Rectangle 3"/>
            <p:cNvSpPr/>
            <p:nvPr/>
          </p:nvSpPr>
          <p:spPr>
            <a:xfrm>
              <a:off x="0" y="0"/>
              <a:ext cx="95250" cy="6858000"/>
            </a:xfrm>
            <a:prstGeom prst="rect">
              <a:avLst/>
            </a:prstGeom>
            <a:solidFill>
              <a:srgbClr val="1565C0"/>
            </a:solidFill>
            <a:ln>
              <a:noFill/>
            </a:ln>
          </p:spPr>
        </p:sp>
      </p:grpSp>
      <p:grpSp>
        <p:nvGrpSpPr>
          <p:cNvPr id="7" name="Group 7"/>
          <p:cNvGrpSpPr/>
          <p:nvPr/>
        </p:nvGrpSpPr>
        <p:grpSpPr>
          <a:xfrm>
            <a:off x="685800" y="1062514"/>
            <a:ext cx="3684747" cy="259080"/>
            <a:chOff x="685800" y="1062514"/>
            <a:chExt cx="3684747" cy="259080"/>
          </a:xfrm>
        </p:grpSpPr>
        <p:sp>
          <p:nvSpPr>
            <p:cNvPr id="5" name="Rectangle 5"/>
            <p:cNvSpPr/>
            <p:nvPr/>
          </p:nvSpPr>
          <p:spPr>
            <a:xfrm>
              <a:off x="685800" y="1123950"/>
              <a:ext cx="323850" cy="38100"/>
            </a:xfrm>
            <a:prstGeom prst="rect">
              <a:avLst/>
            </a:prstGeom>
            <a:solidFill>
              <a:srgbClr val="1565C0"/>
            </a:solidFill>
            <a:ln>
              <a:noFill/>
            </a:ln>
          </p:spPr>
        </p:sp>
        <p:sp>
          <p:nvSpPr>
            <p:cNvPr id="6" name="TextBox 6"/>
            <p:cNvSpPr txBox="1"/>
            <p:nvPr/>
          </p:nvSpPr>
          <p:spPr>
            <a:xfrm>
              <a:off x="1107758" y="1062514"/>
              <a:ext cx="3262789" cy="2590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75" dirty="0">
                  <a:solidFill>
                    <a:srgbClr val="1565C0"/>
                  </a:solidFill>
                  <a:latin typeface="Arial"/>
                  <a:ea typeface="SimHei"/>
                  <a:cs typeface="Arial"/>
                </a:rPr>
                <a:t>PROJECT STATUS BRIEFING · 项目进度汇报</a:t>
              </a:r>
            </a:p>
          </p:txBody>
        </p:sp>
      </p:grpSp>
      <p:grpSp>
        <p:nvGrpSpPr>
          <p:cNvPr id="11" name="Group 11"/>
          <p:cNvGrpSpPr/>
          <p:nvPr/>
        </p:nvGrpSpPr>
        <p:grpSpPr>
          <a:xfrm>
            <a:off x="607695" y="1822132"/>
            <a:ext cx="5977842" cy="1644968"/>
            <a:chOff x="607695" y="1822132"/>
            <a:chExt cx="5977842" cy="1644968"/>
          </a:xfrm>
        </p:grpSpPr>
        <p:sp>
          <p:nvSpPr>
            <p:cNvPr id="8" name="TextBox 8"/>
            <p:cNvSpPr txBox="1"/>
            <p:nvPr/>
          </p:nvSpPr>
          <p:spPr>
            <a:xfrm>
              <a:off x="607695" y="1822132"/>
              <a:ext cx="5977842" cy="944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4650" b="1" dirty="0">
                  <a:solidFill>
                    <a:srgbClr val="1A2230"/>
                  </a:solidFill>
                  <a:latin typeface="Arial"/>
                  <a:ea typeface="SimHei"/>
                  <a:cs typeface="Arial"/>
                </a:rPr>
                <a:t>牙医仪器检修小程序</a:t>
              </a:r>
            </a:p>
          </p:txBody>
        </p:sp>
        <p:sp>
          <p:nvSpPr>
            <p:cNvPr id="9" name="TextBox 9"/>
            <p:cNvSpPr txBox="1"/>
            <p:nvPr/>
          </p:nvSpPr>
          <p:spPr>
            <a:xfrm>
              <a:off x="657225" y="2843212"/>
              <a:ext cx="5097780" cy="4572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250" b="1" dirty="0">
                  <a:solidFill>
                    <a:srgbClr val="1565C0"/>
                  </a:solidFill>
                  <a:latin typeface="Arial"/>
                  <a:ea typeface="SimHei"/>
                  <a:cs typeface="Arial"/>
                </a:rPr>
                <a:t>开发已基本完成，上线在配置与审核</a:t>
              </a:r>
            </a:p>
          </p:txBody>
        </p:sp>
        <p:sp>
          <p:nvSpPr>
            <p:cNvPr id="10" name="Rectangle 10"/>
            <p:cNvSpPr/>
            <p:nvPr/>
          </p:nvSpPr>
          <p:spPr>
            <a:xfrm>
              <a:off x="685800" y="3429000"/>
              <a:ext cx="1143000" cy="38100"/>
            </a:xfrm>
            <a:prstGeom prst="rect">
              <a:avLst/>
            </a:prstGeom>
            <a:solidFill>
              <a:srgbClr val="0D3B66"/>
            </a:solidFill>
            <a:ln>
              <a:noFill/>
            </a:ln>
          </p:spPr>
        </p:sp>
      </p:grpSp>
      <p:grpSp>
        <p:nvGrpSpPr>
          <p:cNvPr id="13" name="Group 13"/>
          <p:cNvGrpSpPr/>
          <p:nvPr/>
        </p:nvGrpSpPr>
        <p:grpSpPr>
          <a:xfrm>
            <a:off x="668655" y="3892868"/>
            <a:ext cx="5443966" cy="274320"/>
            <a:chOff x="668655" y="3892868"/>
            <a:chExt cx="5443966" cy="274320"/>
          </a:xfrm>
        </p:grpSpPr>
        <p:sp>
          <p:nvSpPr>
            <p:cNvPr id="12" name="TextBox 12"/>
            <p:cNvSpPr txBox="1"/>
            <p:nvPr/>
          </p:nvSpPr>
          <p:spPr>
            <a:xfrm>
              <a:off x="668655" y="3892868"/>
              <a:ext cx="5443966" cy="2743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5A6675"/>
                  </a:solidFill>
                  <a:latin typeface="Arial"/>
                  <a:ea typeface="Microsoft YaHei"/>
                  <a:cs typeface="Arial"/>
                </a:rPr>
                <a:t>统计时间 2026-06-22 · 目标 2026 年 7 月上线 · 上线总控：吴彤彤</a:t>
              </a:r>
            </a:p>
          </p:txBody>
        </p:sp>
      </p:grpSp>
      <p:grpSp>
        <p:nvGrpSpPr>
          <p:cNvPr id="30" name="Group 30"/>
          <p:cNvGrpSpPr/>
          <p:nvPr/>
        </p:nvGrpSpPr>
        <p:grpSpPr>
          <a:xfrm>
            <a:off x="647700" y="5295900"/>
            <a:ext cx="10858500" cy="1121569"/>
            <a:chOff x="647700" y="5295900"/>
            <a:chExt cx="10858500" cy="1121569"/>
          </a:xfrm>
        </p:grpSpPr>
        <p:sp>
          <p:nvSpPr>
            <p:cNvPr id="14" name="Line 14"/>
            <p:cNvSpPr/>
            <p:nvPr/>
          </p:nvSpPr>
          <p:spPr>
            <a:xfrm>
              <a:off x="685800" y="5295900"/>
              <a:ext cx="10820400" cy="9525"/>
            </a:xfrm>
            <a:custGeom>
              <a:avLst/>
              <a:gdLst/>
              <a:ahLst/>
              <a:cxnLst/>
              <a:rect l="l" t="t" r="r" b="b"/>
              <a:pathLst>
                <a:path w="10820400" h="9525">
                  <a:moveTo>
                    <a:pt x="0" y="0"/>
                  </a:moveTo>
                  <a:lnTo>
                    <a:pt x="10820400" y="0"/>
                  </a:lnTo>
                </a:path>
              </a:pathLst>
            </a:custGeom>
            <a:noFill/>
            <a:ln w="9525">
              <a:solidFill>
                <a:srgbClr val="D7DEE7"/>
              </a:solidFill>
            </a:ln>
          </p:spPr>
        </p:sp>
        <p:sp>
          <p:nvSpPr>
            <p:cNvPr id="15" name="Line 15"/>
            <p:cNvSpPr/>
            <p:nvPr/>
          </p:nvSpPr>
          <p:spPr>
            <a:xfrm>
              <a:off x="3390900" y="5410200"/>
              <a:ext cx="9525" cy="933450"/>
            </a:xfrm>
            <a:custGeom>
              <a:avLst/>
              <a:gdLst/>
              <a:ahLst/>
              <a:cxnLst/>
              <a:rect l="l" t="t" r="r" b="b"/>
              <a:pathLst>
                <a:path w="9525" h="933450">
                  <a:moveTo>
                    <a:pt x="0" y="0"/>
                  </a:moveTo>
                  <a:lnTo>
                    <a:pt x="0" y="933450"/>
                  </a:lnTo>
                </a:path>
              </a:pathLst>
            </a:custGeom>
            <a:noFill/>
            <a:ln w="9525">
              <a:solidFill>
                <a:srgbClr val="E5EAF0"/>
              </a:solidFill>
            </a:ln>
          </p:spPr>
        </p:sp>
        <p:sp>
          <p:nvSpPr>
            <p:cNvPr id="16" name="Line 16"/>
            <p:cNvSpPr/>
            <p:nvPr/>
          </p:nvSpPr>
          <p:spPr>
            <a:xfrm>
              <a:off x="6096000" y="5410200"/>
              <a:ext cx="9525" cy="933450"/>
            </a:xfrm>
            <a:custGeom>
              <a:avLst/>
              <a:gdLst/>
              <a:ahLst/>
              <a:cxnLst/>
              <a:rect l="l" t="t" r="r" b="b"/>
              <a:pathLst>
                <a:path w="9525" h="933450">
                  <a:moveTo>
                    <a:pt x="0" y="0"/>
                  </a:moveTo>
                  <a:lnTo>
                    <a:pt x="0" y="933450"/>
                  </a:lnTo>
                </a:path>
              </a:pathLst>
            </a:custGeom>
            <a:noFill/>
            <a:ln w="9525">
              <a:solidFill>
                <a:srgbClr val="E5EAF0"/>
              </a:solidFill>
            </a:ln>
          </p:spPr>
        </p:sp>
        <p:sp>
          <p:nvSpPr>
            <p:cNvPr id="17" name="Line 17"/>
            <p:cNvSpPr/>
            <p:nvPr/>
          </p:nvSpPr>
          <p:spPr>
            <a:xfrm>
              <a:off x="8801100" y="5410200"/>
              <a:ext cx="9525" cy="933450"/>
            </a:xfrm>
            <a:custGeom>
              <a:avLst/>
              <a:gdLst/>
              <a:ahLst/>
              <a:cxnLst/>
              <a:rect l="l" t="t" r="r" b="b"/>
              <a:pathLst>
                <a:path w="9525" h="933450">
                  <a:moveTo>
                    <a:pt x="0" y="0"/>
                  </a:moveTo>
                  <a:lnTo>
                    <a:pt x="0" y="933450"/>
                  </a:lnTo>
                </a:path>
              </a:pathLst>
            </a:custGeom>
            <a:noFill/>
            <a:ln w="9525">
              <a:solidFill>
                <a:srgbClr val="E5EAF0"/>
              </a:solidFill>
            </a:ln>
          </p:spPr>
        </p:sp>
        <p:sp>
          <p:nvSpPr>
            <p:cNvPr id="18" name="TextBox 18"/>
            <p:cNvSpPr txBox="1"/>
            <p:nvPr/>
          </p:nvSpPr>
          <p:spPr>
            <a:xfrm>
              <a:off x="671512" y="5517356"/>
              <a:ext cx="1078706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5" dirty="0">
                  <a:solidFill>
                    <a:srgbClr val="5A6675"/>
                  </a:solidFill>
                  <a:latin typeface="Arial"/>
                  <a:ea typeface="Microsoft YaHei"/>
                  <a:cs typeface="Arial"/>
                </a:rPr>
                <a:t>代码功能完成度</a:t>
              </a:r>
            </a:p>
          </p:txBody>
        </p:sp>
        <p:sp>
          <p:nvSpPr>
            <p:cNvPr id="19" name="TextBox 19"/>
            <p:cNvSpPr txBox="1"/>
            <p:nvPr/>
          </p:nvSpPr>
          <p:spPr>
            <a:xfrm>
              <a:off x="647700" y="5772150"/>
              <a:ext cx="853297" cy="609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3000" b="1" dirty="0">
                  <a:solidFill>
                    <a:srgbClr val="2E7D32"/>
                  </a:solidFill>
                  <a:latin typeface="Arial"/>
                  <a:ea typeface="Arial"/>
                  <a:cs typeface="Arial"/>
                </a:rPr>
                <a:t>95%</a:t>
              </a:r>
            </a:p>
          </p:txBody>
        </p:sp>
        <p:sp>
          <p:nvSpPr>
            <p:cNvPr id="20" name="TextBox 20"/>
            <p:cNvSpPr txBox="1"/>
            <p:nvPr/>
          </p:nvSpPr>
          <p:spPr>
            <a:xfrm>
              <a:off x="673418" y="6219349"/>
              <a:ext cx="1279422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dirty="0">
                  <a:solidFill>
                    <a:srgbClr val="93A0B0"/>
                  </a:solidFill>
                  <a:latin typeface="Arial"/>
                  <a:ea typeface="Microsoft YaHei"/>
                  <a:cs typeface="Arial"/>
                </a:rPr>
                <a:t>16 / 16 主流程已实现</a:t>
              </a:r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3605212" y="5517356"/>
              <a:ext cx="928688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5" dirty="0">
                  <a:solidFill>
                    <a:srgbClr val="5A6675"/>
                  </a:solidFill>
                  <a:latin typeface="Arial"/>
                  <a:ea typeface="Microsoft YaHei"/>
                  <a:cs typeface="Arial"/>
                </a:rPr>
                <a:t>后端正式部署</a:t>
              </a:r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3581400" y="5772150"/>
              <a:ext cx="622268" cy="609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3000" b="1" dirty="0">
                  <a:solidFill>
                    <a:srgbClr val="D32F2F"/>
                  </a:solidFill>
                  <a:latin typeface="Arial"/>
                  <a:ea typeface="Arial"/>
                  <a:cs typeface="Arial"/>
                </a:rPr>
                <a:t>0%</a:t>
              </a:r>
            </a:p>
          </p:txBody>
        </p:sp>
        <p:sp>
          <p:nvSpPr>
            <p:cNvPr id="23" name="TextBox 23"/>
            <p:cNvSpPr txBox="1"/>
            <p:nvPr/>
          </p:nvSpPr>
          <p:spPr>
            <a:xfrm>
              <a:off x="3607118" y="6219349"/>
              <a:ext cx="934879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dirty="0">
                  <a:solidFill>
                    <a:srgbClr val="93A0B0"/>
                  </a:solidFill>
                  <a:latin typeface="Arial"/>
                  <a:ea typeface="Microsoft YaHei"/>
                  <a:cs typeface="Arial"/>
                </a:rPr>
                <a:t>仅在开发云空间</a:t>
              </a:r>
            </a:p>
          </p:txBody>
        </p:sp>
        <p:sp>
          <p:nvSpPr>
            <p:cNvPr id="24" name="TextBox 24"/>
            <p:cNvSpPr txBox="1"/>
            <p:nvPr/>
          </p:nvSpPr>
          <p:spPr>
            <a:xfrm>
              <a:off x="6310312" y="5517356"/>
              <a:ext cx="928688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5" dirty="0">
                  <a:solidFill>
                    <a:srgbClr val="5A6675"/>
                  </a:solidFill>
                  <a:latin typeface="Arial"/>
                  <a:ea typeface="Microsoft YaHei"/>
                  <a:cs typeface="Arial"/>
                </a:rPr>
                <a:t>最低上线门槛</a:t>
              </a:r>
            </a:p>
          </p:txBody>
        </p:sp>
        <p:sp>
          <p:nvSpPr>
            <p:cNvPr id="25" name="TextBox 25"/>
            <p:cNvSpPr txBox="1"/>
            <p:nvPr/>
          </p:nvSpPr>
          <p:spPr>
            <a:xfrm>
              <a:off x="6286500" y="5772150"/>
              <a:ext cx="1252347" cy="609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3000" b="1" dirty="0">
                  <a:solidFill>
                    <a:srgbClr val="D32F2F"/>
                  </a:solidFill>
                  <a:latin typeface="Arial"/>
                  <a:ea typeface="Arial"/>
                  <a:cs typeface="Arial"/>
                </a:rPr>
                <a:t>0 / 12</a:t>
              </a:r>
            </a:p>
          </p:txBody>
        </p:sp>
        <p:sp>
          <p:nvSpPr>
            <p:cNvPr id="26" name="TextBox 26"/>
            <p:cNvSpPr txBox="1"/>
            <p:nvPr/>
          </p:nvSpPr>
          <p:spPr>
            <a:xfrm>
              <a:off x="6312218" y="6219349"/>
              <a:ext cx="824365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dirty="0">
                  <a:solidFill>
                    <a:srgbClr val="93A0B0"/>
                  </a:solidFill>
                  <a:latin typeface="Arial"/>
                  <a:ea typeface="Microsoft YaHei"/>
                  <a:cs typeface="Arial"/>
                </a:rPr>
                <a:t>达成数 / 总数</a:t>
              </a:r>
            </a:p>
          </p:txBody>
        </p:sp>
        <p:sp>
          <p:nvSpPr>
            <p:cNvPr id="27" name="TextBox 27"/>
            <p:cNvSpPr txBox="1"/>
            <p:nvPr/>
          </p:nvSpPr>
          <p:spPr>
            <a:xfrm>
              <a:off x="9015412" y="5517356"/>
              <a:ext cx="778669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5" dirty="0">
                  <a:solidFill>
                    <a:srgbClr val="5A6675"/>
                  </a:solidFill>
                  <a:latin typeface="Arial"/>
                  <a:ea typeface="Microsoft YaHei"/>
                  <a:cs typeface="Arial"/>
                </a:rPr>
                <a:t>发布阻断项</a:t>
              </a:r>
            </a:p>
          </p:txBody>
        </p:sp>
        <p:sp>
          <p:nvSpPr>
            <p:cNvPr id="28" name="TextBox 28"/>
            <p:cNvSpPr txBox="1"/>
            <p:nvPr/>
          </p:nvSpPr>
          <p:spPr>
            <a:xfrm>
              <a:off x="8991600" y="5772150"/>
              <a:ext cx="307229" cy="609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3000" b="1" dirty="0">
                  <a:solidFill>
                    <a:srgbClr val="D32F2F"/>
                  </a:solidFill>
                  <a:latin typeface="Arial"/>
                  <a:ea typeface="Arial"/>
                  <a:cs typeface="Arial"/>
                </a:rPr>
                <a:t>1</a:t>
              </a:r>
            </a:p>
          </p:txBody>
        </p:sp>
        <p:sp>
          <p:nvSpPr>
            <p:cNvPr id="29" name="TextBox 29"/>
            <p:cNvSpPr txBox="1"/>
            <p:nvPr/>
          </p:nvSpPr>
          <p:spPr>
            <a:xfrm>
              <a:off x="9017318" y="6219349"/>
              <a:ext cx="1064895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dirty="0">
                  <a:solidFill>
                    <a:srgbClr val="93A0B0"/>
                  </a:solidFill>
                  <a:latin typeface="Arial"/>
                  <a:ea typeface="Microsoft YaHei"/>
                  <a:cs typeface="Arial"/>
                </a:rPr>
                <a:t>医疗器械类目审核</a:t>
              </a:r>
            </a:p>
          </p:txBody>
        </p:sp>
      </p:grpSp>
      <p:grpSp>
        <p:nvGrpSpPr>
          <p:cNvPr id="33" name="Group 33"/>
          <p:cNvGrpSpPr/>
          <p:nvPr/>
        </p:nvGrpSpPr>
        <p:grpSpPr>
          <a:xfrm>
            <a:off x="675322" y="6597491"/>
            <a:ext cx="10841355" cy="167640"/>
            <a:chOff x="675322" y="6597491"/>
            <a:chExt cx="10841355" cy="167640"/>
          </a:xfrm>
        </p:grpSpPr>
        <p:sp>
          <p:nvSpPr>
            <p:cNvPr id="31" name="TextBox 31"/>
            <p:cNvSpPr txBox="1"/>
            <p:nvPr/>
          </p:nvSpPr>
          <p:spPr>
            <a:xfrm>
              <a:off x="675322" y="6597491"/>
              <a:ext cx="1797677" cy="1676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825" dirty="0">
                  <a:solidFill>
                    <a:srgbClr val="93A0B0"/>
                  </a:solidFill>
                  <a:latin typeface="Arial"/>
                  <a:ea typeface="Microsoft YaHei"/>
                  <a:cs typeface="Arial"/>
                </a:rPr>
                <a:t>牙医仪器检修小程序 · 项目进度汇报</a:t>
              </a:r>
            </a:p>
          </p:txBody>
        </p:sp>
        <p:sp>
          <p:nvSpPr>
            <p:cNvPr id="32" name="TextBox 32"/>
            <p:cNvSpPr txBox="1"/>
            <p:nvPr/>
          </p:nvSpPr>
          <p:spPr>
            <a:xfrm>
              <a:off x="10335077" y="6597491"/>
              <a:ext cx="1181600" cy="1676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en-US" sz="825" dirty="0">
                  <a:solidFill>
                    <a:srgbClr val="93A0B0"/>
                  </a:solidFill>
                  <a:latin typeface="Arial"/>
                  <a:ea typeface="Arial"/>
                  <a:cs typeface="Arial"/>
                </a:rPr>
                <a:t>2026-06-22 · P01 / 12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</p:sp>
      <p:grpSp>
        <p:nvGrpSpPr>
          <p:cNvPr id="7" name="Group 7"/>
          <p:cNvGrpSpPr/>
          <p:nvPr/>
        </p:nvGrpSpPr>
        <p:grpSpPr>
          <a:xfrm>
            <a:off x="685800" y="533400"/>
            <a:ext cx="10833735" cy="504825"/>
            <a:chOff x="685800" y="533400"/>
            <a:chExt cx="10833735" cy="504825"/>
          </a:xfrm>
        </p:grpSpPr>
        <p:sp>
          <p:nvSpPr>
            <p:cNvPr id="3" name="Rectangle 3"/>
            <p:cNvSpPr/>
            <p:nvPr/>
          </p:nvSpPr>
          <p:spPr>
            <a:xfrm>
              <a:off x="685800" y="533400"/>
              <a:ext cx="57150" cy="323850"/>
            </a:xfrm>
            <a:prstGeom prst="rect">
              <a:avLst/>
            </a:prstGeom>
            <a:solidFill>
              <a:srgbClr val="1565C0"/>
            </a:solidFill>
            <a:ln>
              <a:noFill/>
            </a:ln>
          </p:spPr>
        </p:sp>
        <p:sp>
          <p:nvSpPr>
            <p:cNvPr id="4" name="TextBox 4"/>
            <p:cNvSpPr txBox="1"/>
            <p:nvPr/>
          </p:nvSpPr>
          <p:spPr>
            <a:xfrm>
              <a:off x="847725" y="557212"/>
              <a:ext cx="1632347" cy="4572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250" b="1" dirty="0">
                  <a:solidFill>
                    <a:srgbClr val="1A2230"/>
                  </a:solidFill>
                  <a:latin typeface="Arial"/>
                  <a:ea typeface="SimHei"/>
                  <a:cs typeface="Arial"/>
                </a:rPr>
                <a:t>进度仪表盘</a:t>
              </a:r>
            </a:p>
          </p:txBody>
        </p:sp>
        <p:sp>
          <p:nvSpPr>
            <p:cNvPr id="5" name="TextBox 5"/>
            <p:cNvSpPr txBox="1"/>
            <p:nvPr/>
          </p:nvSpPr>
          <p:spPr>
            <a:xfrm>
              <a:off x="9679638" y="667702"/>
              <a:ext cx="1839897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1050" dirty="0">
                  <a:solidFill>
                    <a:srgbClr val="93A0B0"/>
                  </a:solidFill>
                  <a:latin typeface="Arial"/>
                  <a:ea typeface="Microsoft YaHei"/>
                  <a:cs typeface="Arial"/>
                </a:rPr>
                <a:t>关键指标 · 截至 2026-06-22</a:t>
              </a:r>
            </a:p>
          </p:txBody>
        </p:sp>
        <p:sp>
          <p:nvSpPr>
            <p:cNvPr id="6" name="Line 6"/>
            <p:cNvSpPr/>
            <p:nvPr/>
          </p:nvSpPr>
          <p:spPr>
            <a:xfrm>
              <a:off x="685800" y="1028700"/>
              <a:ext cx="10820400" cy="9525"/>
            </a:xfrm>
            <a:custGeom>
              <a:avLst/>
              <a:gdLst/>
              <a:ahLst/>
              <a:cxnLst/>
              <a:rect l="l" t="t" r="r" b="b"/>
              <a:pathLst>
                <a:path w="10820400" h="9525">
                  <a:moveTo>
                    <a:pt x="0" y="0"/>
                  </a:moveTo>
                  <a:lnTo>
                    <a:pt x="10820400" y="0"/>
                  </a:lnTo>
                </a:path>
              </a:pathLst>
            </a:custGeom>
            <a:noFill/>
            <a:ln w="9525">
              <a:solidFill>
                <a:srgbClr val="E5EAF0"/>
              </a:solidFill>
            </a:ln>
          </p:spPr>
        </p:sp>
      </p:grpSp>
      <p:grpSp>
        <p:nvGrpSpPr>
          <p:cNvPr id="17" name="Group 17"/>
          <p:cNvGrpSpPr/>
          <p:nvPr/>
        </p:nvGrpSpPr>
        <p:grpSpPr>
          <a:xfrm>
            <a:off x="685800" y="1428750"/>
            <a:ext cx="5219700" cy="2190750"/>
            <a:chOff x="685800" y="1428750"/>
            <a:chExt cx="5219700" cy="2190750"/>
          </a:xfrm>
        </p:grpSpPr>
        <p:sp>
          <p:nvSpPr>
            <p:cNvPr id="8" name="Rectangle 8"/>
            <p:cNvSpPr/>
            <p:nvPr/>
          </p:nvSpPr>
          <p:spPr>
            <a:xfrm>
              <a:off x="685800" y="1428750"/>
              <a:ext cx="5219700" cy="2190750"/>
            </a:xfrm>
            <a:prstGeom prst="rect">
              <a:avLst/>
            </a:prstGeom>
            <a:solidFill>
              <a:srgbClr val="F4F7FB"/>
            </a:solidFill>
            <a:ln>
              <a:noFill/>
            </a:ln>
          </p:spPr>
        </p:sp>
        <p:sp>
          <p:nvSpPr>
            <p:cNvPr id="9" name="Rectangle 9"/>
            <p:cNvSpPr/>
            <p:nvPr/>
          </p:nvSpPr>
          <p:spPr>
            <a:xfrm>
              <a:off x="685800" y="1428750"/>
              <a:ext cx="47625" cy="2190750"/>
            </a:xfrm>
            <a:prstGeom prst="rect">
              <a:avLst/>
            </a:prstGeom>
            <a:solidFill>
              <a:srgbClr val="2E7D32"/>
            </a:solidFill>
            <a:ln>
              <a:noFill/>
            </a:ln>
          </p:spPr>
        </p:sp>
        <p:grpSp>
          <p:nvGrpSpPr>
            <p:cNvPr id="13" name="Group 13"/>
            <p:cNvGrpSpPr/>
            <p:nvPr/>
          </p:nvGrpSpPr>
          <p:grpSpPr>
            <a:xfrm>
              <a:off x="1057275" y="1816100"/>
              <a:ext cx="285751" cy="254001"/>
              <a:chOff x="1057275" y="1816100"/>
              <a:chExt cx="285751" cy="254001"/>
            </a:xfrm>
          </p:grpSpPr>
          <p:sp>
            <p:nvSpPr>
              <p:cNvPr id="10" name="Freeform 10"/>
              <p:cNvSpPr/>
              <p:nvPr/>
            </p:nvSpPr>
            <p:spPr>
              <a:xfrm>
                <a:off x="1057275" y="1879600"/>
                <a:ext cx="63500" cy="127000"/>
              </a:xfrm>
              <a:custGeom>
                <a:avLst/>
                <a:gdLst/>
                <a:ahLst/>
                <a:cxnLst/>
                <a:rect l="l" t="t" r="r" b="b"/>
                <a:pathLst>
                  <a:path w="63500" h="127000">
                    <a:moveTo>
                      <a:pt x="63500" y="0"/>
                    </a:moveTo>
                    <a:lnTo>
                      <a:pt x="0" y="63500"/>
                    </a:lnTo>
                    <a:lnTo>
                      <a:pt x="63500" y="127000"/>
                    </a:lnTo>
                  </a:path>
                </a:pathLst>
              </a:custGeom>
              <a:noFill/>
              <a:ln w="19050">
                <a:solidFill>
                  <a:srgbClr val="2E7D32"/>
                </a:solidFill>
              </a:ln>
            </p:spPr>
          </p:sp>
          <p:sp>
            <p:nvSpPr>
              <p:cNvPr id="11" name="Freeform 11"/>
              <p:cNvSpPr/>
              <p:nvPr/>
            </p:nvSpPr>
            <p:spPr>
              <a:xfrm>
                <a:off x="1279526" y="1879600"/>
                <a:ext cx="63500" cy="127000"/>
              </a:xfrm>
              <a:custGeom>
                <a:avLst/>
                <a:gdLst/>
                <a:ahLst/>
                <a:cxnLst/>
                <a:rect l="l" t="t" r="r" b="b"/>
                <a:pathLst>
                  <a:path w="63500" h="127000">
                    <a:moveTo>
                      <a:pt x="0" y="0"/>
                    </a:moveTo>
                    <a:lnTo>
                      <a:pt x="63500" y="63500"/>
                    </a:lnTo>
                    <a:lnTo>
                      <a:pt x="0" y="127000"/>
                    </a:lnTo>
                  </a:path>
                </a:pathLst>
              </a:custGeom>
              <a:noFill/>
              <a:ln w="19050">
                <a:solidFill>
                  <a:srgbClr val="2E7D32"/>
                </a:solidFill>
              </a:ln>
            </p:spPr>
          </p:sp>
          <p:sp>
            <p:nvSpPr>
              <p:cNvPr id="12" name="Freeform 12"/>
              <p:cNvSpPr/>
              <p:nvPr/>
            </p:nvSpPr>
            <p:spPr>
              <a:xfrm>
                <a:off x="1168400" y="1816100"/>
                <a:ext cx="63500" cy="254001"/>
              </a:xfrm>
              <a:custGeom>
                <a:avLst/>
                <a:gdLst/>
                <a:ahLst/>
                <a:cxnLst/>
                <a:rect l="l" t="t" r="r" b="b"/>
                <a:pathLst>
                  <a:path w="63500" h="254001">
                    <a:moveTo>
                      <a:pt x="63500" y="0"/>
                    </a:moveTo>
                    <a:lnTo>
                      <a:pt x="0" y="254001"/>
                    </a:lnTo>
                  </a:path>
                </a:pathLst>
              </a:custGeom>
              <a:noFill/>
              <a:ln w="19050">
                <a:solidFill>
                  <a:srgbClr val="2E7D32"/>
                </a:solidFill>
              </a:ln>
            </p:spPr>
          </p:sp>
        </p:grpSp>
        <p:sp>
          <p:nvSpPr>
            <p:cNvPr id="14" name="TextBox 14"/>
            <p:cNvSpPr txBox="1"/>
            <p:nvPr/>
          </p:nvSpPr>
          <p:spPr>
            <a:xfrm>
              <a:off x="1503998" y="1849279"/>
              <a:ext cx="1583698" cy="3200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75" b="1" dirty="0">
                  <a:solidFill>
                    <a:srgbClr val="1A2230"/>
                  </a:solidFill>
                  <a:latin typeface="Arial"/>
                  <a:ea typeface="SimHei"/>
                  <a:cs typeface="Arial"/>
                </a:rPr>
                <a:t>代码功能完成度</a:t>
              </a:r>
            </a:p>
          </p:txBody>
        </p:sp>
        <p:sp>
          <p:nvSpPr>
            <p:cNvPr id="15" name="TextBox 15"/>
            <p:cNvSpPr txBox="1"/>
            <p:nvPr/>
          </p:nvSpPr>
          <p:spPr>
            <a:xfrm>
              <a:off x="956310" y="2518410"/>
              <a:ext cx="1194616" cy="8534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4200" b="1" dirty="0">
                  <a:solidFill>
                    <a:srgbClr val="2E7D32"/>
                  </a:solidFill>
                  <a:latin typeface="Arial"/>
                  <a:ea typeface="Arial"/>
                  <a:cs typeface="Arial"/>
                </a:rPr>
                <a:t>95%</a:t>
              </a:r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994410" y="3223260"/>
              <a:ext cx="2534793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5A6675"/>
                  </a:solidFill>
                  <a:latin typeface="Arial"/>
                  <a:ea typeface="Microsoft YaHei"/>
                  <a:cs typeface="Arial"/>
                </a:rPr>
                <a:t>16 / 16 主流程已实现，含合规整改</a:t>
              </a:r>
            </a:p>
          </p:txBody>
        </p:sp>
      </p:grpSp>
      <p:grpSp>
        <p:nvGrpSpPr>
          <p:cNvPr id="28" name="Group 28"/>
          <p:cNvGrpSpPr/>
          <p:nvPr/>
        </p:nvGrpSpPr>
        <p:grpSpPr>
          <a:xfrm>
            <a:off x="6286500" y="1428750"/>
            <a:ext cx="5219700" cy="2190750"/>
            <a:chOff x="6286500" y="1428750"/>
            <a:chExt cx="5219700" cy="2190750"/>
          </a:xfrm>
        </p:grpSpPr>
        <p:sp>
          <p:nvSpPr>
            <p:cNvPr id="18" name="Rectangle 18"/>
            <p:cNvSpPr/>
            <p:nvPr/>
          </p:nvSpPr>
          <p:spPr>
            <a:xfrm>
              <a:off x="6286500" y="1428750"/>
              <a:ext cx="5219700" cy="2190750"/>
            </a:xfrm>
            <a:prstGeom prst="rect">
              <a:avLst/>
            </a:prstGeom>
            <a:solidFill>
              <a:srgbClr val="F4F7FB"/>
            </a:solidFill>
            <a:ln>
              <a:noFill/>
            </a:ln>
          </p:spPr>
        </p:sp>
        <p:sp>
          <p:nvSpPr>
            <p:cNvPr id="19" name="Rectangle 19"/>
            <p:cNvSpPr/>
            <p:nvPr/>
          </p:nvSpPr>
          <p:spPr>
            <a:xfrm>
              <a:off x="6286500" y="1428750"/>
              <a:ext cx="47625" cy="2190750"/>
            </a:xfrm>
            <a:prstGeom prst="rect">
              <a:avLst/>
            </a:prstGeom>
            <a:solidFill>
              <a:srgbClr val="1565C0"/>
            </a:solidFill>
            <a:ln>
              <a:noFill/>
            </a:ln>
          </p:spPr>
        </p:sp>
        <p:grpSp>
          <p:nvGrpSpPr>
            <p:cNvPr id="24" name="Group 24"/>
            <p:cNvGrpSpPr/>
            <p:nvPr/>
          </p:nvGrpSpPr>
          <p:grpSpPr>
            <a:xfrm>
              <a:off x="6657975" y="1816100"/>
              <a:ext cx="285751" cy="254000"/>
              <a:chOff x="6657975" y="1816100"/>
              <a:chExt cx="285751" cy="254000"/>
            </a:xfrm>
          </p:grpSpPr>
          <p:sp>
            <p:nvSpPr>
              <p:cNvPr id="20" name="Freeform 20"/>
              <p:cNvSpPr/>
              <p:nvPr/>
            </p:nvSpPr>
            <p:spPr>
              <a:xfrm>
                <a:off x="6657975" y="1816100"/>
                <a:ext cx="285751" cy="127000"/>
              </a:xfrm>
              <a:custGeom>
                <a:avLst/>
                <a:gdLst/>
                <a:ahLst/>
                <a:cxnLst/>
                <a:rect l="l" t="t" r="r" b="b"/>
                <a:pathLst>
                  <a:path w="285751" h="127000">
                    <a:moveTo>
                      <a:pt x="0" y="47625"/>
                    </a:moveTo>
                    <a:cubicBezTo>
                      <a:pt x="0" y="21322"/>
                      <a:pt x="21322" y="0"/>
                      <a:pt x="47625" y="0"/>
                    </a:cubicBezTo>
                    <a:lnTo>
                      <a:pt x="238125" y="0"/>
                    </a:lnTo>
                    <a:cubicBezTo>
                      <a:pt x="264428" y="0"/>
                      <a:pt x="285751" y="21322"/>
                      <a:pt x="285751" y="47625"/>
                    </a:cubicBezTo>
                    <a:lnTo>
                      <a:pt x="285751" y="79375"/>
                    </a:lnTo>
                    <a:cubicBezTo>
                      <a:pt x="285751" y="105678"/>
                      <a:pt x="264428" y="127000"/>
                      <a:pt x="238125" y="127000"/>
                    </a:cubicBezTo>
                    <a:lnTo>
                      <a:pt x="47625" y="127000"/>
                    </a:lnTo>
                    <a:cubicBezTo>
                      <a:pt x="21322" y="127000"/>
                      <a:pt x="0" y="105678"/>
                      <a:pt x="0" y="79375"/>
                    </a:cubicBezTo>
                  </a:path>
                </a:pathLst>
              </a:custGeom>
              <a:noFill/>
              <a:ln w="19050">
                <a:solidFill>
                  <a:srgbClr val="1565C0"/>
                </a:solidFill>
              </a:ln>
            </p:spPr>
          </p:sp>
          <p:sp>
            <p:nvSpPr>
              <p:cNvPr id="21" name="Freeform 21"/>
              <p:cNvSpPr/>
              <p:nvPr/>
            </p:nvSpPr>
            <p:spPr>
              <a:xfrm>
                <a:off x="6657975" y="1943100"/>
                <a:ext cx="285751" cy="127000"/>
              </a:xfrm>
              <a:custGeom>
                <a:avLst/>
                <a:gdLst/>
                <a:ahLst/>
                <a:cxnLst/>
                <a:rect l="l" t="t" r="r" b="b"/>
                <a:pathLst>
                  <a:path w="285751" h="127000">
                    <a:moveTo>
                      <a:pt x="0" y="47625"/>
                    </a:moveTo>
                    <a:cubicBezTo>
                      <a:pt x="0" y="21322"/>
                      <a:pt x="21322" y="0"/>
                      <a:pt x="47625" y="0"/>
                    </a:cubicBezTo>
                    <a:lnTo>
                      <a:pt x="238125" y="0"/>
                    </a:lnTo>
                    <a:cubicBezTo>
                      <a:pt x="264428" y="0"/>
                      <a:pt x="285751" y="21322"/>
                      <a:pt x="285751" y="47625"/>
                    </a:cubicBezTo>
                    <a:lnTo>
                      <a:pt x="285751" y="79375"/>
                    </a:lnTo>
                    <a:cubicBezTo>
                      <a:pt x="285751" y="105678"/>
                      <a:pt x="264428" y="127000"/>
                      <a:pt x="238125" y="127000"/>
                    </a:cubicBezTo>
                    <a:lnTo>
                      <a:pt x="47625" y="127000"/>
                    </a:lnTo>
                    <a:cubicBezTo>
                      <a:pt x="21322" y="127000"/>
                      <a:pt x="0" y="105678"/>
                      <a:pt x="0" y="79375"/>
                    </a:cubicBezTo>
                    <a:lnTo>
                      <a:pt x="0" y="47625"/>
                    </a:lnTo>
                  </a:path>
                </a:pathLst>
              </a:custGeom>
              <a:noFill/>
              <a:ln w="19050">
                <a:solidFill>
                  <a:srgbClr val="1565C0"/>
                </a:solidFill>
              </a:ln>
            </p:spPr>
          </p:sp>
          <p:sp>
            <p:nvSpPr>
              <p:cNvPr id="22" name="Freeform 22"/>
              <p:cNvSpPr/>
              <p:nvPr/>
            </p:nvSpPr>
            <p:spPr>
              <a:xfrm>
                <a:off x="6721475" y="1879600"/>
                <a:ext cx="9525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9525">
                    <a:moveTo>
                      <a:pt x="0" y="0"/>
                    </a:moveTo>
                    <a:lnTo>
                      <a:pt x="0" y="159"/>
                    </a:lnTo>
                  </a:path>
                </a:pathLst>
              </a:custGeom>
              <a:noFill/>
              <a:ln w="19050">
                <a:solidFill>
                  <a:srgbClr val="1565C0"/>
                </a:solidFill>
              </a:ln>
            </p:spPr>
          </p:sp>
          <p:sp>
            <p:nvSpPr>
              <p:cNvPr id="23" name="Freeform 23"/>
              <p:cNvSpPr/>
              <p:nvPr/>
            </p:nvSpPr>
            <p:spPr>
              <a:xfrm>
                <a:off x="6721475" y="2006601"/>
                <a:ext cx="9525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9525">
                    <a:moveTo>
                      <a:pt x="0" y="0"/>
                    </a:moveTo>
                    <a:lnTo>
                      <a:pt x="0" y="159"/>
                    </a:lnTo>
                  </a:path>
                </a:pathLst>
              </a:custGeom>
              <a:noFill/>
              <a:ln w="19050">
                <a:solidFill>
                  <a:srgbClr val="1565C0"/>
                </a:solidFill>
              </a:ln>
            </p:spPr>
          </p:sp>
        </p:grpSp>
        <p:sp>
          <p:nvSpPr>
            <p:cNvPr id="25" name="TextBox 25"/>
            <p:cNvSpPr txBox="1"/>
            <p:nvPr/>
          </p:nvSpPr>
          <p:spPr>
            <a:xfrm>
              <a:off x="7104698" y="1849279"/>
              <a:ext cx="1142643" cy="3200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75" b="1" dirty="0">
                  <a:solidFill>
                    <a:srgbClr val="1A2230"/>
                  </a:solidFill>
                  <a:latin typeface="Arial"/>
                  <a:ea typeface="SimHei"/>
                  <a:cs typeface="Arial"/>
                </a:rPr>
                <a:t>后端云函数</a:t>
              </a:r>
            </a:p>
          </p:txBody>
        </p:sp>
        <p:sp>
          <p:nvSpPr>
            <p:cNvPr id="26" name="TextBox 26"/>
            <p:cNvSpPr txBox="1"/>
            <p:nvPr/>
          </p:nvSpPr>
          <p:spPr>
            <a:xfrm>
              <a:off x="6557010" y="2518410"/>
              <a:ext cx="1194616" cy="8534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4200" b="1" dirty="0">
                  <a:solidFill>
                    <a:srgbClr val="1565C0"/>
                  </a:solidFill>
                  <a:latin typeface="Arial"/>
                  <a:ea typeface="SimHei"/>
                  <a:cs typeface="Arial"/>
                </a:rPr>
                <a:t>7 个</a:t>
              </a:r>
            </a:p>
          </p:txBody>
        </p:sp>
        <p:sp>
          <p:nvSpPr>
            <p:cNvPr id="27" name="TextBox 27"/>
            <p:cNvSpPr txBox="1"/>
            <p:nvPr/>
          </p:nvSpPr>
          <p:spPr>
            <a:xfrm>
              <a:off x="6595110" y="3223260"/>
              <a:ext cx="2726817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5A6675"/>
                  </a:solidFill>
                  <a:latin typeface="Arial"/>
                  <a:ea typeface="Microsoft YaHei"/>
                  <a:cs typeface="Arial"/>
                </a:rPr>
                <a:t>代码就绪；5 个需按整改重部署到正式</a:t>
              </a:r>
            </a:p>
          </p:txBody>
        </p:sp>
      </p:grpSp>
      <p:grpSp>
        <p:nvGrpSpPr>
          <p:cNvPr id="39" name="Group 39"/>
          <p:cNvGrpSpPr/>
          <p:nvPr/>
        </p:nvGrpSpPr>
        <p:grpSpPr>
          <a:xfrm>
            <a:off x="685800" y="4000500"/>
            <a:ext cx="5219700" cy="2190750"/>
            <a:chOff x="685800" y="4000500"/>
            <a:chExt cx="5219700" cy="2190750"/>
          </a:xfrm>
        </p:grpSpPr>
        <p:sp>
          <p:nvSpPr>
            <p:cNvPr id="29" name="Rectangle 29"/>
            <p:cNvSpPr/>
            <p:nvPr/>
          </p:nvSpPr>
          <p:spPr>
            <a:xfrm>
              <a:off x="685800" y="4000500"/>
              <a:ext cx="5219700" cy="2190750"/>
            </a:xfrm>
            <a:prstGeom prst="rect">
              <a:avLst/>
            </a:prstGeom>
            <a:solidFill>
              <a:srgbClr val="F4F7FB"/>
            </a:solidFill>
            <a:ln>
              <a:noFill/>
            </a:ln>
          </p:spPr>
        </p:sp>
        <p:sp>
          <p:nvSpPr>
            <p:cNvPr id="30" name="Rectangle 30"/>
            <p:cNvSpPr/>
            <p:nvPr/>
          </p:nvSpPr>
          <p:spPr>
            <a:xfrm>
              <a:off x="685800" y="4000500"/>
              <a:ext cx="47625" cy="2190750"/>
            </a:xfrm>
            <a:prstGeom prst="rect">
              <a:avLst/>
            </a:prstGeom>
            <a:solidFill>
              <a:srgbClr val="D32F2F"/>
            </a:solidFill>
            <a:ln>
              <a:noFill/>
            </a:ln>
          </p:spPr>
        </p:sp>
        <p:grpSp>
          <p:nvGrpSpPr>
            <p:cNvPr id="35" name="Group 35"/>
            <p:cNvGrpSpPr/>
            <p:nvPr/>
          </p:nvGrpSpPr>
          <p:grpSpPr>
            <a:xfrm>
              <a:off x="1057275" y="4371975"/>
              <a:ext cx="285751" cy="285751"/>
              <a:chOff x="1057275" y="4371975"/>
              <a:chExt cx="285751" cy="285751"/>
            </a:xfrm>
          </p:grpSpPr>
          <p:sp>
            <p:nvSpPr>
              <p:cNvPr id="31" name="Freeform 31"/>
              <p:cNvSpPr/>
              <p:nvPr/>
            </p:nvSpPr>
            <p:spPr>
              <a:xfrm>
                <a:off x="1057275" y="4371975"/>
                <a:ext cx="285751" cy="285751"/>
              </a:xfrm>
              <a:custGeom>
                <a:avLst/>
                <a:gdLst/>
                <a:ahLst/>
                <a:cxnLst/>
                <a:rect l="l" t="t" r="r" b="b"/>
                <a:pathLst>
                  <a:path w="285751" h="285751">
                    <a:moveTo>
                      <a:pt x="0" y="142875"/>
                    </a:moveTo>
                    <a:cubicBezTo>
                      <a:pt x="0" y="221783"/>
                      <a:pt x="63967" y="285751"/>
                      <a:pt x="142875" y="285751"/>
                    </a:cubicBezTo>
                    <a:cubicBezTo>
                      <a:pt x="221783" y="285751"/>
                      <a:pt x="285751" y="221783"/>
                      <a:pt x="285751" y="142875"/>
                    </a:cubicBezTo>
                    <a:cubicBezTo>
                      <a:pt x="285751" y="63967"/>
                      <a:pt x="221783" y="0"/>
                      <a:pt x="142875" y="0"/>
                    </a:cubicBezTo>
                    <a:cubicBezTo>
                      <a:pt x="63967" y="0"/>
                      <a:pt x="0" y="63967"/>
                      <a:pt x="0" y="142875"/>
                    </a:cubicBezTo>
                  </a:path>
                </a:pathLst>
              </a:custGeom>
              <a:noFill/>
              <a:ln w="19050">
                <a:solidFill>
                  <a:srgbClr val="D32F2F"/>
                </a:solidFill>
              </a:ln>
            </p:spPr>
          </p:sp>
          <p:sp>
            <p:nvSpPr>
              <p:cNvPr id="32" name="Freeform 32"/>
              <p:cNvSpPr/>
              <p:nvPr/>
            </p:nvSpPr>
            <p:spPr>
              <a:xfrm>
                <a:off x="1184275" y="4498975"/>
                <a:ext cx="31750" cy="31750"/>
              </a:xfrm>
              <a:custGeom>
                <a:avLst/>
                <a:gdLst/>
                <a:ahLst/>
                <a:cxnLst/>
                <a:rect l="l" t="t" r="r" b="b"/>
                <a:pathLst>
                  <a:path w="31750" h="31750">
                    <a:moveTo>
                      <a:pt x="0" y="15875"/>
                    </a:moveTo>
                    <a:cubicBezTo>
                      <a:pt x="0" y="24643"/>
                      <a:pt x="7107" y="31750"/>
                      <a:pt x="15875" y="31750"/>
                    </a:cubicBezTo>
                    <a:cubicBezTo>
                      <a:pt x="24643" y="31750"/>
                      <a:pt x="31750" y="24643"/>
                      <a:pt x="31750" y="15875"/>
                    </a:cubicBezTo>
                    <a:cubicBezTo>
                      <a:pt x="31750" y="7107"/>
                      <a:pt x="24643" y="0"/>
                      <a:pt x="15875" y="0"/>
                    </a:cubicBezTo>
                    <a:cubicBezTo>
                      <a:pt x="7107" y="0"/>
                      <a:pt x="0" y="7107"/>
                      <a:pt x="0" y="15875"/>
                    </a:cubicBezTo>
                  </a:path>
                </a:pathLst>
              </a:custGeom>
              <a:noFill/>
              <a:ln w="19050">
                <a:solidFill>
                  <a:srgbClr val="D32F2F"/>
                </a:solidFill>
              </a:ln>
            </p:spPr>
          </p:sp>
          <p:sp>
            <p:nvSpPr>
              <p:cNvPr id="33" name="Freeform 33"/>
              <p:cNvSpPr/>
              <p:nvPr/>
            </p:nvSpPr>
            <p:spPr>
              <a:xfrm>
                <a:off x="1222534" y="4451350"/>
                <a:ext cx="41116" cy="41116"/>
              </a:xfrm>
              <a:custGeom>
                <a:avLst/>
                <a:gdLst/>
                <a:ahLst/>
                <a:cxnLst/>
                <a:rect l="l" t="t" r="r" b="b"/>
                <a:pathLst>
                  <a:path w="41116" h="41116">
                    <a:moveTo>
                      <a:pt x="0" y="41116"/>
                    </a:moveTo>
                    <a:lnTo>
                      <a:pt x="41116" y="0"/>
                    </a:lnTo>
                  </a:path>
                </a:pathLst>
              </a:custGeom>
              <a:noFill/>
              <a:ln w="19050">
                <a:solidFill>
                  <a:srgbClr val="D32F2F"/>
                </a:solidFill>
              </a:ln>
            </p:spPr>
          </p:sp>
          <p:sp>
            <p:nvSpPr>
              <p:cNvPr id="34" name="Freeform 34"/>
              <p:cNvSpPr/>
              <p:nvPr/>
            </p:nvSpPr>
            <p:spPr>
              <a:xfrm>
                <a:off x="1120775" y="4435475"/>
                <a:ext cx="79375" cy="79375"/>
              </a:xfrm>
              <a:custGeom>
                <a:avLst/>
                <a:gdLst/>
                <a:ahLst/>
                <a:cxnLst/>
                <a:rect l="l" t="t" r="r" b="b"/>
                <a:pathLst>
                  <a:path w="79375" h="79375">
                    <a:moveTo>
                      <a:pt x="0" y="79375"/>
                    </a:moveTo>
                    <a:cubicBezTo>
                      <a:pt x="0" y="35537"/>
                      <a:pt x="35537" y="0"/>
                      <a:pt x="79375" y="0"/>
                    </a:cubicBezTo>
                  </a:path>
                </a:pathLst>
              </a:custGeom>
              <a:noFill/>
              <a:ln w="19050">
                <a:solidFill>
                  <a:srgbClr val="D32F2F"/>
                </a:solidFill>
              </a:ln>
            </p:spPr>
          </p:sp>
        </p:grpSp>
        <p:sp>
          <p:nvSpPr>
            <p:cNvPr id="36" name="TextBox 36"/>
            <p:cNvSpPr txBox="1"/>
            <p:nvPr/>
          </p:nvSpPr>
          <p:spPr>
            <a:xfrm>
              <a:off x="1503998" y="4421029"/>
              <a:ext cx="1363170" cy="3200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75" b="1" dirty="0">
                  <a:solidFill>
                    <a:srgbClr val="1A2230"/>
                  </a:solidFill>
                  <a:latin typeface="Arial"/>
                  <a:ea typeface="SimHei"/>
                  <a:cs typeface="Arial"/>
                </a:rPr>
                <a:t>最低上线门槛</a:t>
              </a:r>
            </a:p>
          </p:txBody>
        </p:sp>
        <p:sp>
          <p:nvSpPr>
            <p:cNvPr id="37" name="TextBox 37"/>
            <p:cNvSpPr txBox="1"/>
            <p:nvPr/>
          </p:nvSpPr>
          <p:spPr>
            <a:xfrm>
              <a:off x="956310" y="5090160"/>
              <a:ext cx="1753286" cy="8534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4200" b="1" dirty="0">
                  <a:solidFill>
                    <a:srgbClr val="D32F2F"/>
                  </a:solidFill>
                  <a:latin typeface="Arial"/>
                  <a:ea typeface="Arial"/>
                  <a:cs typeface="Arial"/>
                </a:rPr>
                <a:t>0 / 12</a:t>
              </a:r>
            </a:p>
          </p:txBody>
        </p:sp>
        <p:sp>
          <p:nvSpPr>
            <p:cNvPr id="38" name="TextBox 38"/>
            <p:cNvSpPr txBox="1"/>
            <p:nvPr/>
          </p:nvSpPr>
          <p:spPr>
            <a:xfrm>
              <a:off x="994410" y="5795010"/>
              <a:ext cx="2982849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5A6675"/>
                  </a:solidFill>
                  <a:latin typeface="Arial"/>
                  <a:ea typeface="Microsoft YaHei"/>
                  <a:cs typeface="Arial"/>
                </a:rPr>
                <a:t>代码就绪 8 项，均卡在部署 / 配置 / 验收</a:t>
              </a:r>
            </a:p>
          </p:txBody>
        </p:sp>
      </p:grpSp>
      <p:grpSp>
        <p:nvGrpSpPr>
          <p:cNvPr id="49" name="Group 49"/>
          <p:cNvGrpSpPr/>
          <p:nvPr/>
        </p:nvGrpSpPr>
        <p:grpSpPr>
          <a:xfrm>
            <a:off x="6286500" y="4000500"/>
            <a:ext cx="5219700" cy="2190750"/>
            <a:chOff x="6286500" y="4000500"/>
            <a:chExt cx="5219700" cy="2190750"/>
          </a:xfrm>
        </p:grpSpPr>
        <p:sp>
          <p:nvSpPr>
            <p:cNvPr id="40" name="Rectangle 40"/>
            <p:cNvSpPr/>
            <p:nvPr/>
          </p:nvSpPr>
          <p:spPr>
            <a:xfrm>
              <a:off x="6286500" y="4000500"/>
              <a:ext cx="5219700" cy="2190750"/>
            </a:xfrm>
            <a:prstGeom prst="rect">
              <a:avLst/>
            </a:prstGeom>
            <a:solidFill>
              <a:srgbClr val="F4F7FB"/>
            </a:solidFill>
            <a:ln>
              <a:noFill/>
            </a:ln>
          </p:spPr>
        </p:sp>
        <p:sp>
          <p:nvSpPr>
            <p:cNvPr id="41" name="Rectangle 41"/>
            <p:cNvSpPr/>
            <p:nvPr/>
          </p:nvSpPr>
          <p:spPr>
            <a:xfrm>
              <a:off x="6286500" y="4000500"/>
              <a:ext cx="47625" cy="2190750"/>
            </a:xfrm>
            <a:prstGeom prst="rect">
              <a:avLst/>
            </a:prstGeom>
            <a:solidFill>
              <a:srgbClr val="D32F2F"/>
            </a:solidFill>
            <a:ln>
              <a:noFill/>
            </a:ln>
          </p:spPr>
        </p:sp>
        <p:grpSp>
          <p:nvGrpSpPr>
            <p:cNvPr id="45" name="Group 45"/>
            <p:cNvGrpSpPr/>
            <p:nvPr/>
          </p:nvGrpSpPr>
          <p:grpSpPr>
            <a:xfrm>
              <a:off x="6640749" y="4366701"/>
              <a:ext cx="320191" cy="275086"/>
              <a:chOff x="6640749" y="4366701"/>
              <a:chExt cx="320191" cy="275086"/>
            </a:xfrm>
          </p:grpSpPr>
          <p:sp>
            <p:nvSpPr>
              <p:cNvPr id="42" name="Freeform 42"/>
              <p:cNvSpPr/>
              <p:nvPr/>
            </p:nvSpPr>
            <p:spPr>
              <a:xfrm>
                <a:off x="6800850" y="4467225"/>
                <a:ext cx="9525" cy="63500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63500">
                    <a:moveTo>
                      <a:pt x="0" y="0"/>
                    </a:moveTo>
                    <a:lnTo>
                      <a:pt x="0" y="63500"/>
                    </a:lnTo>
                  </a:path>
                </a:pathLst>
              </a:custGeom>
              <a:noFill/>
              <a:ln w="19050">
                <a:solidFill>
                  <a:srgbClr val="D32F2F"/>
                </a:solidFill>
              </a:ln>
            </p:spPr>
          </p:sp>
          <p:sp>
            <p:nvSpPr>
              <p:cNvPr id="43" name="Freeform 43"/>
              <p:cNvSpPr/>
              <p:nvPr/>
            </p:nvSpPr>
            <p:spPr>
              <a:xfrm>
                <a:off x="6640749" y="4366701"/>
                <a:ext cx="320191" cy="275086"/>
              </a:xfrm>
              <a:custGeom>
                <a:avLst/>
                <a:gdLst/>
                <a:ahLst/>
                <a:cxnLst/>
                <a:rect l="l" t="t" r="r" b="b"/>
                <a:pathLst>
                  <a:path w="320191" h="275086">
                    <a:moveTo>
                      <a:pt x="134114" y="14656"/>
                    </a:moveTo>
                    <a:lnTo>
                      <a:pt x="5431" y="229509"/>
                    </a:lnTo>
                    <a:cubicBezTo>
                      <a:pt x="33" y="238857"/>
                      <a:pt x="0" y="250368"/>
                      <a:pt x="5345" y="259747"/>
                    </a:cubicBezTo>
                    <a:cubicBezTo>
                      <a:pt x="10689" y="269126"/>
                      <a:pt x="20608" y="274965"/>
                      <a:pt x="31403" y="275086"/>
                    </a:cubicBezTo>
                    <a:lnTo>
                      <a:pt x="288800" y="275086"/>
                    </a:lnTo>
                    <a:cubicBezTo>
                      <a:pt x="299590" y="274962"/>
                      <a:pt x="309504" y="269125"/>
                      <a:pt x="314847" y="259751"/>
                    </a:cubicBezTo>
                    <a:cubicBezTo>
                      <a:pt x="320191" y="250377"/>
                      <a:pt x="320162" y="238872"/>
                      <a:pt x="314772" y="229525"/>
                    </a:cubicBezTo>
                    <a:lnTo>
                      <a:pt x="186089" y="14640"/>
                    </a:lnTo>
                    <a:cubicBezTo>
                      <a:pt x="180583" y="5552"/>
                      <a:pt x="170728" y="0"/>
                      <a:pt x="160102" y="0"/>
                    </a:cubicBezTo>
                    <a:cubicBezTo>
                      <a:pt x="149475" y="0"/>
                      <a:pt x="139620" y="5552"/>
                      <a:pt x="134114" y="14640"/>
                    </a:cubicBezTo>
                  </a:path>
                </a:pathLst>
              </a:custGeom>
              <a:noFill/>
              <a:ln w="19050">
                <a:solidFill>
                  <a:srgbClr val="D32F2F"/>
                </a:solidFill>
              </a:ln>
            </p:spPr>
          </p:sp>
          <p:sp>
            <p:nvSpPr>
              <p:cNvPr id="44" name="Freeform 44"/>
              <p:cNvSpPr/>
              <p:nvPr/>
            </p:nvSpPr>
            <p:spPr>
              <a:xfrm>
                <a:off x="6800850" y="4578351"/>
                <a:ext cx="9525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9525">
                    <a:moveTo>
                      <a:pt x="0" y="0"/>
                    </a:moveTo>
                    <a:lnTo>
                      <a:pt x="159" y="0"/>
                    </a:lnTo>
                  </a:path>
                </a:pathLst>
              </a:custGeom>
              <a:noFill/>
              <a:ln w="19050">
                <a:solidFill>
                  <a:srgbClr val="D32F2F"/>
                </a:solidFill>
              </a:ln>
            </p:spPr>
          </p:sp>
        </p:grpSp>
        <p:sp>
          <p:nvSpPr>
            <p:cNvPr id="46" name="TextBox 46"/>
            <p:cNvSpPr txBox="1"/>
            <p:nvPr/>
          </p:nvSpPr>
          <p:spPr>
            <a:xfrm>
              <a:off x="7104698" y="4421029"/>
              <a:ext cx="1142643" cy="3200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75" b="1" dirty="0">
                  <a:solidFill>
                    <a:srgbClr val="1A2230"/>
                  </a:solidFill>
                  <a:latin typeface="Arial"/>
                  <a:ea typeface="SimHei"/>
                  <a:cs typeface="Arial"/>
                </a:rPr>
                <a:t>发布阻断项</a:t>
              </a:r>
            </a:p>
          </p:txBody>
        </p:sp>
        <p:sp>
          <p:nvSpPr>
            <p:cNvPr id="47" name="TextBox 47"/>
            <p:cNvSpPr txBox="1"/>
            <p:nvPr/>
          </p:nvSpPr>
          <p:spPr>
            <a:xfrm>
              <a:off x="6557010" y="5090160"/>
              <a:ext cx="430120" cy="8534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4200" b="1" dirty="0">
                  <a:solidFill>
                    <a:srgbClr val="D32F2F"/>
                  </a:solidFill>
                  <a:latin typeface="Arial"/>
                  <a:ea typeface="Arial"/>
                  <a:cs typeface="Arial"/>
                </a:rPr>
                <a:t>1</a:t>
              </a:r>
            </a:p>
          </p:txBody>
        </p:sp>
        <p:sp>
          <p:nvSpPr>
            <p:cNvPr id="48" name="TextBox 48"/>
            <p:cNvSpPr txBox="1"/>
            <p:nvPr/>
          </p:nvSpPr>
          <p:spPr>
            <a:xfrm>
              <a:off x="6595110" y="5795010"/>
              <a:ext cx="2590800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5A6675"/>
                  </a:solidFill>
                  <a:latin typeface="Arial"/>
                  <a:ea typeface="Microsoft YaHei"/>
                  <a:cs typeface="Arial"/>
                </a:rPr>
                <a:t>医疗器械类目审核未通过，发布前置</a:t>
              </a:r>
            </a:p>
          </p:txBody>
        </p:sp>
      </p:grpSp>
      <p:grpSp>
        <p:nvGrpSpPr>
          <p:cNvPr id="52" name="Group 52"/>
          <p:cNvGrpSpPr/>
          <p:nvPr/>
        </p:nvGrpSpPr>
        <p:grpSpPr>
          <a:xfrm>
            <a:off x="675322" y="6597491"/>
            <a:ext cx="10841355" cy="167640"/>
            <a:chOff x="675322" y="6597491"/>
            <a:chExt cx="10841355" cy="167640"/>
          </a:xfrm>
        </p:grpSpPr>
        <p:sp>
          <p:nvSpPr>
            <p:cNvPr id="50" name="TextBox 50"/>
            <p:cNvSpPr txBox="1"/>
            <p:nvPr/>
          </p:nvSpPr>
          <p:spPr>
            <a:xfrm>
              <a:off x="675322" y="6597491"/>
              <a:ext cx="1797677" cy="1676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825" dirty="0">
                  <a:solidFill>
                    <a:srgbClr val="93A0B0"/>
                  </a:solidFill>
                  <a:latin typeface="Arial"/>
                  <a:ea typeface="Microsoft YaHei"/>
                  <a:cs typeface="Arial"/>
                </a:rPr>
                <a:t>牙医仪器检修小程序 · 项目进度汇报</a:t>
              </a:r>
            </a:p>
          </p:txBody>
        </p:sp>
        <p:sp>
          <p:nvSpPr>
            <p:cNvPr id="51" name="TextBox 51"/>
            <p:cNvSpPr txBox="1"/>
            <p:nvPr/>
          </p:nvSpPr>
          <p:spPr>
            <a:xfrm>
              <a:off x="10335077" y="6597491"/>
              <a:ext cx="1181600" cy="1676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en-US" sz="825" dirty="0">
                  <a:solidFill>
                    <a:srgbClr val="93A0B0"/>
                  </a:solidFill>
                  <a:latin typeface="Arial"/>
                  <a:ea typeface="Arial"/>
                  <a:cs typeface="Arial"/>
                </a:rPr>
                <a:t>2026-06-22 · P02 / 12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</p:sp>
      <p:grpSp>
        <p:nvGrpSpPr>
          <p:cNvPr id="7" name="Group 7"/>
          <p:cNvGrpSpPr/>
          <p:nvPr/>
        </p:nvGrpSpPr>
        <p:grpSpPr>
          <a:xfrm>
            <a:off x="685800" y="533400"/>
            <a:ext cx="10833735" cy="504825"/>
            <a:chOff x="685800" y="533400"/>
            <a:chExt cx="10833735" cy="504825"/>
          </a:xfrm>
        </p:grpSpPr>
        <p:sp>
          <p:nvSpPr>
            <p:cNvPr id="3" name="Rectangle 3"/>
            <p:cNvSpPr/>
            <p:nvPr/>
          </p:nvSpPr>
          <p:spPr>
            <a:xfrm>
              <a:off x="685800" y="533400"/>
              <a:ext cx="57150" cy="323850"/>
            </a:xfrm>
            <a:prstGeom prst="rect">
              <a:avLst/>
            </a:prstGeom>
            <a:solidFill>
              <a:srgbClr val="1565C0"/>
            </a:solidFill>
            <a:ln>
              <a:noFill/>
            </a:ln>
          </p:spPr>
        </p:sp>
        <p:sp>
          <p:nvSpPr>
            <p:cNvPr id="4" name="TextBox 4"/>
            <p:cNvSpPr txBox="1"/>
            <p:nvPr/>
          </p:nvSpPr>
          <p:spPr>
            <a:xfrm>
              <a:off x="847725" y="557212"/>
              <a:ext cx="3569839" cy="4572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250" b="1" dirty="0">
                  <a:solidFill>
                    <a:srgbClr val="1A2230"/>
                  </a:solidFill>
                  <a:latin typeface="Arial"/>
                  <a:ea typeface="SimHei"/>
                  <a:cs typeface="Arial"/>
                </a:rPr>
                <a:t>总览结论 · 七维度完成度</a:t>
              </a:r>
            </a:p>
          </p:txBody>
        </p:sp>
        <p:sp>
          <p:nvSpPr>
            <p:cNvPr id="5" name="TextBox 5"/>
            <p:cNvSpPr txBox="1"/>
            <p:nvPr/>
          </p:nvSpPr>
          <p:spPr>
            <a:xfrm>
              <a:off x="9791652" y="667702"/>
              <a:ext cx="1727883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1050" dirty="0">
                  <a:solidFill>
                    <a:srgbClr val="93A0B0"/>
                  </a:solidFill>
                  <a:latin typeface="Arial"/>
                  <a:ea typeface="Microsoft YaHei"/>
                  <a:cs typeface="Arial"/>
                </a:rPr>
                <a:t>代码已就绪 · 上线侧待推进</a:t>
              </a:r>
            </a:p>
          </p:txBody>
        </p:sp>
        <p:sp>
          <p:nvSpPr>
            <p:cNvPr id="6" name="Line 6"/>
            <p:cNvSpPr/>
            <p:nvPr/>
          </p:nvSpPr>
          <p:spPr>
            <a:xfrm>
              <a:off x="685800" y="1028700"/>
              <a:ext cx="10820400" cy="9525"/>
            </a:xfrm>
            <a:custGeom>
              <a:avLst/>
              <a:gdLst/>
              <a:ahLst/>
              <a:cxnLst/>
              <a:rect l="l" t="t" r="r" b="b"/>
              <a:pathLst>
                <a:path w="10820400" h="9525">
                  <a:moveTo>
                    <a:pt x="0" y="0"/>
                  </a:moveTo>
                  <a:lnTo>
                    <a:pt x="10820400" y="0"/>
                  </a:lnTo>
                </a:path>
              </a:pathLst>
            </a:custGeom>
            <a:noFill/>
            <a:ln w="9525">
              <a:solidFill>
                <a:srgbClr val="E5EAF0"/>
              </a:solidFill>
            </a:ln>
          </p:spPr>
        </p:sp>
      </p:grpSp>
      <p:grpSp>
        <p:nvGrpSpPr>
          <p:cNvPr id="12" name="Group 12"/>
          <p:cNvGrpSpPr/>
          <p:nvPr/>
        </p:nvGrpSpPr>
        <p:grpSpPr>
          <a:xfrm>
            <a:off x="685800" y="1428750"/>
            <a:ext cx="10820400" cy="419100"/>
            <a:chOff x="685800" y="1428750"/>
            <a:chExt cx="10820400" cy="419100"/>
          </a:xfrm>
        </p:grpSpPr>
        <p:sp>
          <p:nvSpPr>
            <p:cNvPr id="8" name="Rectangle 8"/>
            <p:cNvSpPr/>
            <p:nvPr/>
          </p:nvSpPr>
          <p:spPr>
            <a:xfrm>
              <a:off x="685800" y="1428750"/>
              <a:ext cx="10820400" cy="419100"/>
            </a:xfrm>
            <a:prstGeom prst="rect">
              <a:avLst/>
            </a:prstGeom>
            <a:solidFill>
              <a:srgbClr val="0D3B66"/>
            </a:solidFill>
            <a:ln>
              <a:noFill/>
            </a:ln>
          </p:spPr>
        </p:sp>
        <p:sp>
          <p:nvSpPr>
            <p:cNvPr id="9" name="TextBox 9"/>
            <p:cNvSpPr txBox="1"/>
            <p:nvPr/>
          </p:nvSpPr>
          <p:spPr>
            <a:xfrm>
              <a:off x="860108" y="1567339"/>
              <a:ext cx="389430" cy="2590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75" b="1" dirty="0">
                  <a:solidFill>
                    <a:srgbClr val="FFFFFF"/>
                  </a:solidFill>
                  <a:latin typeface="Arial"/>
                  <a:ea typeface="SimHei"/>
                  <a:cs typeface="Arial"/>
                </a:rPr>
                <a:t>维度</a:t>
              </a:r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3908108" y="1567339"/>
              <a:ext cx="567952" cy="2590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75" b="1" dirty="0">
                  <a:solidFill>
                    <a:srgbClr val="FFFFFF"/>
                  </a:solidFill>
                  <a:latin typeface="Arial"/>
                  <a:ea typeface="SimHei"/>
                  <a:cs typeface="Arial"/>
                </a:rPr>
                <a:t>完成度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6308408" y="1567339"/>
              <a:ext cx="389430" cy="2590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75" b="1" dirty="0">
                  <a:solidFill>
                    <a:srgbClr val="FFFFFF"/>
                  </a:solidFill>
                  <a:latin typeface="Arial"/>
                  <a:ea typeface="SimHei"/>
                  <a:cs typeface="Arial"/>
                </a:rPr>
                <a:t>说明</a:t>
              </a:r>
            </a:p>
          </p:txBody>
        </p:sp>
      </p:grpSp>
      <p:grpSp>
        <p:nvGrpSpPr>
          <p:cNvPr id="18" name="Group 18"/>
          <p:cNvGrpSpPr/>
          <p:nvPr/>
        </p:nvGrpSpPr>
        <p:grpSpPr>
          <a:xfrm>
            <a:off x="685800" y="1847850"/>
            <a:ext cx="10820400" cy="590550"/>
            <a:chOff x="685800" y="1847850"/>
            <a:chExt cx="10820400" cy="590550"/>
          </a:xfrm>
        </p:grpSpPr>
        <p:sp>
          <p:nvSpPr>
            <p:cNvPr id="13" name="Rectangle 13"/>
            <p:cNvSpPr/>
            <p:nvPr/>
          </p:nvSpPr>
          <p:spPr>
            <a:xfrm>
              <a:off x="685800" y="1847850"/>
              <a:ext cx="10820400" cy="590550"/>
            </a:xfrm>
            <a:prstGeom prst="rect">
              <a:avLst/>
            </a:prstGeom>
            <a:solidFill>
              <a:srgbClr val="F4F7FB"/>
            </a:solidFill>
            <a:ln>
              <a:noFill/>
            </a:ln>
          </p:spPr>
        </p:sp>
        <p:sp>
          <p:nvSpPr>
            <p:cNvPr id="14" name="TextBox 14"/>
            <p:cNvSpPr txBox="1"/>
            <p:nvPr/>
          </p:nvSpPr>
          <p:spPr>
            <a:xfrm>
              <a:off x="859155" y="2054542"/>
              <a:ext cx="1357455" cy="2743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1A2230"/>
                  </a:solidFill>
                  <a:latin typeface="Arial"/>
                  <a:ea typeface="SimHei"/>
                  <a:cs typeface="Arial"/>
                </a:rPr>
                <a:t>客户端代码功能</a:t>
              </a:r>
            </a:p>
          </p:txBody>
        </p:sp>
        <p:sp>
          <p:nvSpPr>
            <p:cNvPr id="15" name="Rectangle 15"/>
            <p:cNvSpPr/>
            <p:nvPr/>
          </p:nvSpPr>
          <p:spPr>
            <a:xfrm>
              <a:off x="3924300" y="2057400"/>
              <a:ext cx="133350" cy="133350"/>
            </a:xfrm>
            <a:prstGeom prst="rect">
              <a:avLst/>
            </a:prstGeom>
            <a:solidFill>
              <a:srgbClr val="2E7D32"/>
            </a:solidFill>
            <a:ln>
              <a:noFill/>
            </a:ln>
          </p:spPr>
        </p:sp>
        <p:sp>
          <p:nvSpPr>
            <p:cNvPr id="16" name="TextBox 16"/>
            <p:cNvSpPr txBox="1"/>
            <p:nvPr/>
          </p:nvSpPr>
          <p:spPr>
            <a:xfrm>
              <a:off x="4117658" y="2062639"/>
              <a:ext cx="1001506" cy="2590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75" dirty="0">
                  <a:solidFill>
                    <a:srgbClr val="2E7D32"/>
                  </a:solidFill>
                  <a:latin typeface="Arial"/>
                  <a:ea typeface="Microsoft YaHei"/>
                  <a:cs typeface="Arial"/>
                </a:rPr>
                <a:t>已完成 ~95%</a:t>
              </a:r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6309360" y="2070735"/>
              <a:ext cx="3198876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5A6675"/>
                  </a:solidFill>
                  <a:latin typeface="Arial"/>
                  <a:ea typeface="Microsoft YaHei"/>
                  <a:cs typeface="Arial"/>
                </a:rPr>
                <a:t>16 / 16 主流程，仅余号码 / 资质等内容确认</a:t>
              </a:r>
            </a:p>
          </p:txBody>
        </p:sp>
      </p:grpSp>
      <p:grpSp>
        <p:nvGrpSpPr>
          <p:cNvPr id="23" name="Group 23"/>
          <p:cNvGrpSpPr/>
          <p:nvPr/>
        </p:nvGrpSpPr>
        <p:grpSpPr>
          <a:xfrm>
            <a:off x="859155" y="2645092"/>
            <a:ext cx="7856982" cy="274320"/>
            <a:chOff x="859155" y="2645092"/>
            <a:chExt cx="7856982" cy="274320"/>
          </a:xfrm>
        </p:grpSpPr>
        <p:sp>
          <p:nvSpPr>
            <p:cNvPr id="19" name="TextBox 19"/>
            <p:cNvSpPr txBox="1"/>
            <p:nvPr/>
          </p:nvSpPr>
          <p:spPr>
            <a:xfrm>
              <a:off x="859155" y="2645092"/>
              <a:ext cx="1357455" cy="2743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1A2230"/>
                  </a:solidFill>
                  <a:latin typeface="Arial"/>
                  <a:ea typeface="SimHei"/>
                  <a:cs typeface="Arial"/>
                </a:rPr>
                <a:t>后端云函数代码</a:t>
              </a:r>
            </a:p>
          </p:txBody>
        </p:sp>
        <p:sp>
          <p:nvSpPr>
            <p:cNvPr id="20" name="Rectangle 20"/>
            <p:cNvSpPr/>
            <p:nvPr/>
          </p:nvSpPr>
          <p:spPr>
            <a:xfrm>
              <a:off x="3924300" y="2647950"/>
              <a:ext cx="133350" cy="133350"/>
            </a:xfrm>
            <a:prstGeom prst="rect">
              <a:avLst/>
            </a:prstGeom>
            <a:solidFill>
              <a:srgbClr val="2E7D32"/>
            </a:solidFill>
            <a:ln>
              <a:noFill/>
            </a:ln>
          </p:spPr>
        </p:sp>
        <p:sp>
          <p:nvSpPr>
            <p:cNvPr id="21" name="TextBox 21"/>
            <p:cNvSpPr txBox="1"/>
            <p:nvPr/>
          </p:nvSpPr>
          <p:spPr>
            <a:xfrm>
              <a:off x="4117658" y="2653189"/>
              <a:ext cx="542449" cy="2590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75" dirty="0">
                  <a:solidFill>
                    <a:srgbClr val="2E7D32"/>
                  </a:solidFill>
                  <a:latin typeface="Arial"/>
                  <a:ea typeface="Microsoft YaHei"/>
                  <a:cs typeface="Arial"/>
                </a:rPr>
                <a:t>已完成</a:t>
              </a:r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6309360" y="2661285"/>
              <a:ext cx="2406777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5A6675"/>
                  </a:solidFill>
                  <a:latin typeface="Arial"/>
                  <a:ea typeface="Microsoft YaHei"/>
                  <a:cs typeface="Arial"/>
                </a:rPr>
                <a:t>7 个云函数齐备，合规整改已写完</a:t>
              </a:r>
            </a:p>
          </p:txBody>
        </p:sp>
      </p:grpSp>
      <p:grpSp>
        <p:nvGrpSpPr>
          <p:cNvPr id="29" name="Group 29"/>
          <p:cNvGrpSpPr/>
          <p:nvPr/>
        </p:nvGrpSpPr>
        <p:grpSpPr>
          <a:xfrm>
            <a:off x="685800" y="3028950"/>
            <a:ext cx="10820400" cy="590550"/>
            <a:chOff x="685800" y="3028950"/>
            <a:chExt cx="10820400" cy="590550"/>
          </a:xfrm>
        </p:grpSpPr>
        <p:sp>
          <p:nvSpPr>
            <p:cNvPr id="24" name="Rectangle 24"/>
            <p:cNvSpPr/>
            <p:nvPr/>
          </p:nvSpPr>
          <p:spPr>
            <a:xfrm>
              <a:off x="685800" y="3028950"/>
              <a:ext cx="10820400" cy="590550"/>
            </a:xfrm>
            <a:prstGeom prst="rect">
              <a:avLst/>
            </a:prstGeom>
            <a:solidFill>
              <a:srgbClr val="F4F7FB"/>
            </a:solidFill>
            <a:ln>
              <a:noFill/>
            </a:ln>
          </p:spPr>
        </p:sp>
        <p:sp>
          <p:nvSpPr>
            <p:cNvPr id="25" name="TextBox 25"/>
            <p:cNvSpPr txBox="1"/>
            <p:nvPr/>
          </p:nvSpPr>
          <p:spPr>
            <a:xfrm>
              <a:off x="859155" y="3235642"/>
              <a:ext cx="1924526" cy="2743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1A2230"/>
                  </a:solidFill>
                  <a:latin typeface="Arial"/>
                  <a:ea typeface="SimHei"/>
                  <a:cs typeface="Arial"/>
                </a:rPr>
                <a:t>后端部署（正式环境）</a:t>
              </a:r>
            </a:p>
          </p:txBody>
        </p:sp>
        <p:sp>
          <p:nvSpPr>
            <p:cNvPr id="26" name="Rectangle 26"/>
            <p:cNvSpPr/>
            <p:nvPr/>
          </p:nvSpPr>
          <p:spPr>
            <a:xfrm>
              <a:off x="3924300" y="3238500"/>
              <a:ext cx="133350" cy="133350"/>
            </a:xfrm>
            <a:prstGeom prst="rect">
              <a:avLst/>
            </a:prstGeom>
            <a:solidFill>
              <a:srgbClr val="D32F2F"/>
            </a:solidFill>
            <a:ln>
              <a:noFill/>
            </a:ln>
          </p:spPr>
        </p:sp>
        <p:sp>
          <p:nvSpPr>
            <p:cNvPr id="27" name="TextBox 27"/>
            <p:cNvSpPr txBox="1"/>
            <p:nvPr/>
          </p:nvSpPr>
          <p:spPr>
            <a:xfrm>
              <a:off x="4117658" y="3243739"/>
              <a:ext cx="542449" cy="2590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75" dirty="0">
                  <a:solidFill>
                    <a:srgbClr val="D32F2F"/>
                  </a:solidFill>
                  <a:latin typeface="Arial"/>
                  <a:ea typeface="Microsoft YaHei"/>
                  <a:cs typeface="Arial"/>
                </a:rPr>
                <a:t>未完成</a:t>
              </a:r>
            </a:p>
          </p:txBody>
        </p:sp>
        <p:sp>
          <p:nvSpPr>
            <p:cNvPr id="28" name="TextBox 28"/>
            <p:cNvSpPr txBox="1"/>
            <p:nvPr/>
          </p:nvSpPr>
          <p:spPr>
            <a:xfrm>
              <a:off x="6309360" y="3251835"/>
              <a:ext cx="2886837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5A6675"/>
                  </a:solidFill>
                  <a:latin typeface="Arial"/>
                  <a:ea typeface="Microsoft YaHei"/>
                  <a:cs typeface="Arial"/>
                </a:rPr>
                <a:t>仅部署到开发云空间，5 个函数需重部署</a:t>
              </a:r>
            </a:p>
          </p:txBody>
        </p:sp>
      </p:grpSp>
      <p:grpSp>
        <p:nvGrpSpPr>
          <p:cNvPr id="34" name="Group 34"/>
          <p:cNvGrpSpPr/>
          <p:nvPr/>
        </p:nvGrpSpPr>
        <p:grpSpPr>
          <a:xfrm>
            <a:off x="859155" y="3826192"/>
            <a:ext cx="8697087" cy="274320"/>
            <a:chOff x="859155" y="3826192"/>
            <a:chExt cx="8697087" cy="274320"/>
          </a:xfrm>
        </p:grpSpPr>
        <p:sp>
          <p:nvSpPr>
            <p:cNvPr id="30" name="TextBox 30"/>
            <p:cNvSpPr txBox="1"/>
            <p:nvPr/>
          </p:nvSpPr>
          <p:spPr>
            <a:xfrm>
              <a:off x="859155" y="3826192"/>
              <a:ext cx="979408" cy="2743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1A2230"/>
                  </a:solidFill>
                  <a:latin typeface="Arial"/>
                  <a:ea typeface="SimHei"/>
                  <a:cs typeface="Arial"/>
                </a:rPr>
                <a:t>数据库索引</a:t>
              </a:r>
            </a:p>
          </p:txBody>
        </p:sp>
        <p:sp>
          <p:nvSpPr>
            <p:cNvPr id="31" name="Rectangle 31"/>
            <p:cNvSpPr/>
            <p:nvPr/>
          </p:nvSpPr>
          <p:spPr>
            <a:xfrm>
              <a:off x="3924300" y="3829050"/>
              <a:ext cx="133350" cy="133350"/>
            </a:xfrm>
            <a:prstGeom prst="rect">
              <a:avLst/>
            </a:prstGeom>
            <a:solidFill>
              <a:srgbClr val="D32F2F"/>
            </a:solidFill>
            <a:ln>
              <a:noFill/>
            </a:ln>
          </p:spPr>
        </p:sp>
        <p:sp>
          <p:nvSpPr>
            <p:cNvPr id="32" name="TextBox 32"/>
            <p:cNvSpPr txBox="1"/>
            <p:nvPr/>
          </p:nvSpPr>
          <p:spPr>
            <a:xfrm>
              <a:off x="4117658" y="3834289"/>
              <a:ext cx="542449" cy="2590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75" dirty="0">
                  <a:solidFill>
                    <a:srgbClr val="D32F2F"/>
                  </a:solidFill>
                  <a:latin typeface="Arial"/>
                  <a:ea typeface="Microsoft YaHei"/>
                  <a:cs typeface="Arial"/>
                </a:rPr>
                <a:t>未完成</a:t>
              </a:r>
            </a:p>
          </p:txBody>
        </p:sp>
        <p:sp>
          <p:nvSpPr>
            <p:cNvPr id="33" name="TextBox 33"/>
            <p:cNvSpPr txBox="1"/>
            <p:nvPr/>
          </p:nvSpPr>
          <p:spPr>
            <a:xfrm>
              <a:off x="6309360" y="3842385"/>
              <a:ext cx="3246882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5A6675"/>
                  </a:solidFill>
                  <a:latin typeface="Arial"/>
                  <a:ea typeface="Microsoft YaHei"/>
                  <a:cs typeface="Arial"/>
                </a:rPr>
                <a:t>清单已写（INDEX_TASK.md），控制台未创建</a:t>
              </a:r>
            </a:p>
          </p:txBody>
        </p:sp>
      </p:grpSp>
      <p:grpSp>
        <p:nvGrpSpPr>
          <p:cNvPr id="40" name="Group 40"/>
          <p:cNvGrpSpPr/>
          <p:nvPr/>
        </p:nvGrpSpPr>
        <p:grpSpPr>
          <a:xfrm>
            <a:off x="685800" y="4210050"/>
            <a:ext cx="10820400" cy="590550"/>
            <a:chOff x="685800" y="4210050"/>
            <a:chExt cx="10820400" cy="590550"/>
          </a:xfrm>
        </p:grpSpPr>
        <p:sp>
          <p:nvSpPr>
            <p:cNvPr id="35" name="Rectangle 35"/>
            <p:cNvSpPr/>
            <p:nvPr/>
          </p:nvSpPr>
          <p:spPr>
            <a:xfrm>
              <a:off x="685800" y="4210050"/>
              <a:ext cx="10820400" cy="590550"/>
            </a:xfrm>
            <a:prstGeom prst="rect">
              <a:avLst/>
            </a:prstGeom>
            <a:solidFill>
              <a:srgbClr val="F4F7FB"/>
            </a:solidFill>
            <a:ln>
              <a:noFill/>
            </a:ln>
          </p:spPr>
        </p:sp>
        <p:sp>
          <p:nvSpPr>
            <p:cNvPr id="36" name="TextBox 36"/>
            <p:cNvSpPr txBox="1"/>
            <p:nvPr/>
          </p:nvSpPr>
          <p:spPr>
            <a:xfrm>
              <a:off x="859155" y="4416742"/>
              <a:ext cx="1763856" cy="2743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1A2230"/>
                  </a:solidFill>
                  <a:latin typeface="Arial"/>
                  <a:ea typeface="SimHei"/>
                  <a:cs typeface="Arial"/>
                </a:rPr>
                <a:t>微信支付 / 订阅配置</a:t>
              </a:r>
            </a:p>
          </p:txBody>
        </p:sp>
        <p:sp>
          <p:nvSpPr>
            <p:cNvPr id="37" name="Rectangle 37"/>
            <p:cNvSpPr/>
            <p:nvPr/>
          </p:nvSpPr>
          <p:spPr>
            <a:xfrm>
              <a:off x="3924300" y="4419600"/>
              <a:ext cx="133350" cy="133350"/>
            </a:xfrm>
            <a:prstGeom prst="rect">
              <a:avLst/>
            </a:prstGeom>
            <a:solidFill>
              <a:srgbClr val="D32F2F"/>
            </a:solidFill>
            <a:ln>
              <a:noFill/>
            </a:ln>
          </p:spPr>
        </p:sp>
        <p:sp>
          <p:nvSpPr>
            <p:cNvPr id="38" name="TextBox 38"/>
            <p:cNvSpPr txBox="1"/>
            <p:nvPr/>
          </p:nvSpPr>
          <p:spPr>
            <a:xfrm>
              <a:off x="4117658" y="4424839"/>
              <a:ext cx="542449" cy="2590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75" dirty="0">
                  <a:solidFill>
                    <a:srgbClr val="D32F2F"/>
                  </a:solidFill>
                  <a:latin typeface="Arial"/>
                  <a:ea typeface="Microsoft YaHei"/>
                  <a:cs typeface="Arial"/>
                </a:rPr>
                <a:t>未完成</a:t>
              </a:r>
            </a:p>
          </p:txBody>
        </p:sp>
        <p:sp>
          <p:nvSpPr>
            <p:cNvPr id="39" name="TextBox 39"/>
            <p:cNvSpPr txBox="1"/>
            <p:nvPr/>
          </p:nvSpPr>
          <p:spPr>
            <a:xfrm>
              <a:off x="6309360" y="4432935"/>
              <a:ext cx="2982849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5A6675"/>
                  </a:solidFill>
                  <a:latin typeface="Arial"/>
                  <a:ea typeface="Microsoft YaHei"/>
                  <a:cs typeface="Arial"/>
                </a:rPr>
                <a:t>合法域名、支付参数、订阅模板 ID 均未配</a:t>
              </a:r>
            </a:p>
          </p:txBody>
        </p:sp>
      </p:grpSp>
      <p:grpSp>
        <p:nvGrpSpPr>
          <p:cNvPr id="45" name="Group 45"/>
          <p:cNvGrpSpPr/>
          <p:nvPr/>
        </p:nvGrpSpPr>
        <p:grpSpPr>
          <a:xfrm>
            <a:off x="859155" y="5007292"/>
            <a:ext cx="7296912" cy="274320"/>
            <a:chOff x="859155" y="5007292"/>
            <a:chExt cx="7296912" cy="274320"/>
          </a:xfrm>
        </p:grpSpPr>
        <p:sp>
          <p:nvSpPr>
            <p:cNvPr id="41" name="TextBox 41"/>
            <p:cNvSpPr txBox="1"/>
            <p:nvPr/>
          </p:nvSpPr>
          <p:spPr>
            <a:xfrm>
              <a:off x="859155" y="5007292"/>
              <a:ext cx="1574833" cy="2743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1A2230"/>
                  </a:solidFill>
                  <a:latin typeface="Arial"/>
                  <a:ea typeface="SimHei"/>
                  <a:cs typeface="Arial"/>
                </a:rPr>
                <a:t>真机 / 全流程验收</a:t>
              </a:r>
            </a:p>
          </p:txBody>
        </p:sp>
        <p:sp>
          <p:nvSpPr>
            <p:cNvPr id="42" name="Rectangle 42"/>
            <p:cNvSpPr/>
            <p:nvPr/>
          </p:nvSpPr>
          <p:spPr>
            <a:xfrm>
              <a:off x="3924300" y="5010150"/>
              <a:ext cx="133350" cy="133350"/>
            </a:xfrm>
            <a:prstGeom prst="rect">
              <a:avLst/>
            </a:prstGeom>
            <a:solidFill>
              <a:srgbClr val="93A0B0"/>
            </a:solidFill>
            <a:ln>
              <a:noFill/>
            </a:ln>
          </p:spPr>
        </p:sp>
        <p:sp>
          <p:nvSpPr>
            <p:cNvPr id="43" name="TextBox 43"/>
            <p:cNvSpPr txBox="1"/>
            <p:nvPr/>
          </p:nvSpPr>
          <p:spPr>
            <a:xfrm>
              <a:off x="4117658" y="5015389"/>
              <a:ext cx="542449" cy="2590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75" dirty="0">
                  <a:solidFill>
                    <a:srgbClr val="5A6675"/>
                  </a:solidFill>
                  <a:latin typeface="Arial"/>
                  <a:ea typeface="Microsoft YaHei"/>
                  <a:cs typeface="Arial"/>
                </a:rPr>
                <a:t>未开始</a:t>
              </a:r>
            </a:p>
          </p:txBody>
        </p:sp>
        <p:sp>
          <p:nvSpPr>
            <p:cNvPr id="44" name="TextBox 44"/>
            <p:cNvSpPr txBox="1"/>
            <p:nvPr/>
          </p:nvSpPr>
          <p:spPr>
            <a:xfrm>
              <a:off x="6309360" y="5023485"/>
              <a:ext cx="1846707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5A6675"/>
                  </a:solidFill>
                  <a:latin typeface="Arial"/>
                  <a:ea typeface="Microsoft YaHei"/>
                  <a:cs typeface="Arial"/>
                </a:rPr>
                <a:t>排期 06-28 起，尚未开始</a:t>
              </a:r>
            </a:p>
          </p:txBody>
        </p:sp>
      </p:grpSp>
      <p:grpSp>
        <p:nvGrpSpPr>
          <p:cNvPr id="51" name="Group 51"/>
          <p:cNvGrpSpPr/>
          <p:nvPr/>
        </p:nvGrpSpPr>
        <p:grpSpPr>
          <a:xfrm>
            <a:off x="685800" y="5391150"/>
            <a:ext cx="10820400" cy="590550"/>
            <a:chOff x="685800" y="5391150"/>
            <a:chExt cx="10820400" cy="590550"/>
          </a:xfrm>
        </p:grpSpPr>
        <p:sp>
          <p:nvSpPr>
            <p:cNvPr id="46" name="Rectangle 46"/>
            <p:cNvSpPr/>
            <p:nvPr/>
          </p:nvSpPr>
          <p:spPr>
            <a:xfrm>
              <a:off x="685800" y="5391150"/>
              <a:ext cx="10820400" cy="590550"/>
            </a:xfrm>
            <a:prstGeom prst="rect">
              <a:avLst/>
            </a:prstGeom>
            <a:solidFill>
              <a:srgbClr val="FBE9EA"/>
            </a:solidFill>
            <a:ln>
              <a:noFill/>
            </a:ln>
          </p:spPr>
        </p:sp>
        <p:sp>
          <p:nvSpPr>
            <p:cNvPr id="47" name="TextBox 47"/>
            <p:cNvSpPr txBox="1"/>
            <p:nvPr/>
          </p:nvSpPr>
          <p:spPr>
            <a:xfrm>
              <a:off x="859155" y="5597842"/>
              <a:ext cx="1735503" cy="2743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1A2230"/>
                  </a:solidFill>
                  <a:latin typeface="Arial"/>
                  <a:ea typeface="SimHei"/>
                  <a:cs typeface="Arial"/>
                </a:rPr>
                <a:t>类目审核（阻断项）</a:t>
              </a:r>
            </a:p>
          </p:txBody>
        </p:sp>
        <p:sp>
          <p:nvSpPr>
            <p:cNvPr id="48" name="Rectangle 48"/>
            <p:cNvSpPr/>
            <p:nvPr/>
          </p:nvSpPr>
          <p:spPr>
            <a:xfrm>
              <a:off x="3924300" y="5600700"/>
              <a:ext cx="133350" cy="133350"/>
            </a:xfrm>
            <a:prstGeom prst="rect">
              <a:avLst/>
            </a:prstGeom>
            <a:solidFill>
              <a:srgbClr val="D32F2F"/>
            </a:solidFill>
            <a:ln>
              <a:noFill/>
            </a:ln>
          </p:spPr>
        </p:sp>
        <p:sp>
          <p:nvSpPr>
            <p:cNvPr id="49" name="TextBox 49"/>
            <p:cNvSpPr txBox="1"/>
            <p:nvPr/>
          </p:nvSpPr>
          <p:spPr>
            <a:xfrm>
              <a:off x="4117658" y="5605939"/>
              <a:ext cx="389430" cy="2590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75" b="1" dirty="0">
                  <a:solidFill>
                    <a:srgbClr val="D32F2F"/>
                  </a:solidFill>
                  <a:latin typeface="Arial"/>
                  <a:ea typeface="SimHei"/>
                  <a:cs typeface="Arial"/>
                </a:rPr>
                <a:t>阻断</a:t>
              </a:r>
            </a:p>
          </p:txBody>
        </p:sp>
        <p:sp>
          <p:nvSpPr>
            <p:cNvPr id="50" name="TextBox 50"/>
            <p:cNvSpPr txBox="1"/>
            <p:nvPr/>
          </p:nvSpPr>
          <p:spPr>
            <a:xfrm>
              <a:off x="6309360" y="5614035"/>
              <a:ext cx="3230880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5A6675"/>
                  </a:solidFill>
                  <a:latin typeface="Arial"/>
                  <a:ea typeface="Microsoft YaHei"/>
                  <a:cs typeface="Arial"/>
                </a:rPr>
                <a:t>医疗器械类目资质审核未通过，发布前置阻断</a:t>
              </a:r>
            </a:p>
          </p:txBody>
        </p:sp>
      </p:grpSp>
      <p:grpSp>
        <p:nvGrpSpPr>
          <p:cNvPr id="54" name="Group 54"/>
          <p:cNvGrpSpPr/>
          <p:nvPr/>
        </p:nvGrpSpPr>
        <p:grpSpPr>
          <a:xfrm>
            <a:off x="675322" y="6597491"/>
            <a:ext cx="10841355" cy="167640"/>
            <a:chOff x="675322" y="6597491"/>
            <a:chExt cx="10841355" cy="167640"/>
          </a:xfrm>
        </p:grpSpPr>
        <p:sp>
          <p:nvSpPr>
            <p:cNvPr id="52" name="TextBox 52"/>
            <p:cNvSpPr txBox="1"/>
            <p:nvPr/>
          </p:nvSpPr>
          <p:spPr>
            <a:xfrm>
              <a:off x="675322" y="6597491"/>
              <a:ext cx="1797677" cy="1676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825" dirty="0">
                  <a:solidFill>
                    <a:srgbClr val="93A0B0"/>
                  </a:solidFill>
                  <a:latin typeface="Arial"/>
                  <a:ea typeface="Microsoft YaHei"/>
                  <a:cs typeface="Arial"/>
                </a:rPr>
                <a:t>牙医仪器检修小程序 · 项目进度汇报</a:t>
              </a:r>
            </a:p>
          </p:txBody>
        </p:sp>
        <p:sp>
          <p:nvSpPr>
            <p:cNvPr id="53" name="TextBox 53"/>
            <p:cNvSpPr txBox="1"/>
            <p:nvPr/>
          </p:nvSpPr>
          <p:spPr>
            <a:xfrm>
              <a:off x="10335077" y="6597491"/>
              <a:ext cx="1181600" cy="1676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en-US" sz="825" dirty="0">
                  <a:solidFill>
                    <a:srgbClr val="93A0B0"/>
                  </a:solidFill>
                  <a:latin typeface="Arial"/>
                  <a:ea typeface="Arial"/>
                  <a:cs typeface="Arial"/>
                </a:rPr>
                <a:t>2026-06-22 · P03 / 12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</p:sp>
      <p:grpSp>
        <p:nvGrpSpPr>
          <p:cNvPr id="7" name="Group 7"/>
          <p:cNvGrpSpPr/>
          <p:nvPr/>
        </p:nvGrpSpPr>
        <p:grpSpPr>
          <a:xfrm>
            <a:off x="624840" y="1291114"/>
            <a:ext cx="7476744" cy="1999774"/>
            <a:chOff x="624840" y="1291114"/>
            <a:chExt cx="7476744" cy="1999774"/>
          </a:xfrm>
        </p:grpSpPr>
        <p:sp>
          <p:nvSpPr>
            <p:cNvPr id="3" name="TextBox 3"/>
            <p:cNvSpPr txBox="1"/>
            <p:nvPr/>
          </p:nvSpPr>
          <p:spPr>
            <a:xfrm>
              <a:off x="669608" y="1291114"/>
              <a:ext cx="1528572" cy="2590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75" dirty="0">
                  <a:solidFill>
                    <a:srgbClr val="1565C0"/>
                  </a:solidFill>
                  <a:latin typeface="Arial"/>
                  <a:ea typeface="SimHei"/>
                  <a:cs typeface="Arial"/>
                </a:rPr>
                <a:t>结论 · CONCLUSION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624840" y="1967865"/>
              <a:ext cx="7476744" cy="6705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3300" b="1" dirty="0">
                  <a:solidFill>
                    <a:srgbClr val="1A2230"/>
                  </a:solidFill>
                  <a:latin typeface="Arial"/>
                  <a:ea typeface="SimHei"/>
                  <a:cs typeface="Arial"/>
                </a:rPr>
                <a:t>开发已基本完成，上线在配置和审核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685800" y="2628900"/>
              <a:ext cx="1524000" cy="47625"/>
            </a:xfrm>
            <a:prstGeom prst="rect">
              <a:avLst/>
            </a:prstGeom>
            <a:solidFill>
              <a:srgbClr val="0D3B66"/>
            </a:solidFill>
            <a:ln>
              <a:noFill/>
            </a:ln>
          </p:spPr>
        </p:sp>
        <p:sp>
          <p:nvSpPr>
            <p:cNvPr id="6" name="TextBox 6"/>
            <p:cNvSpPr txBox="1"/>
            <p:nvPr/>
          </p:nvSpPr>
          <p:spPr>
            <a:xfrm>
              <a:off x="668655" y="3016568"/>
              <a:ext cx="6569107" cy="2743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5A6675"/>
                  </a:solidFill>
                  <a:latin typeface="Arial"/>
                  <a:ea typeface="Microsoft YaHei"/>
                  <a:cs typeface="Arial"/>
                </a:rPr>
                <a:t>代码侧无重大缺口；剩下的是「配置 + 审核 + 验收」三类工作，收口为三大卡点。</a:t>
              </a:r>
            </a:p>
          </p:txBody>
        </p:sp>
      </p:grpSp>
      <p:grpSp>
        <p:nvGrpSpPr>
          <p:cNvPr id="11" name="Group 11"/>
          <p:cNvGrpSpPr/>
          <p:nvPr/>
        </p:nvGrpSpPr>
        <p:grpSpPr>
          <a:xfrm>
            <a:off x="664845" y="3555682"/>
            <a:ext cx="7193280" cy="2635568"/>
            <a:chOff x="664845" y="3555682"/>
            <a:chExt cx="7193280" cy="2635568"/>
          </a:xfrm>
        </p:grpSpPr>
        <p:sp>
          <p:nvSpPr>
            <p:cNvPr id="8" name="TextBox 8"/>
            <p:cNvSpPr txBox="1"/>
            <p:nvPr/>
          </p:nvSpPr>
          <p:spPr>
            <a:xfrm>
              <a:off x="664845" y="3555682"/>
              <a:ext cx="966026" cy="3352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b="1" dirty="0">
                  <a:solidFill>
                    <a:srgbClr val="1A2230"/>
                  </a:solidFill>
                  <a:latin typeface="Arial"/>
                  <a:ea typeface="SimHei"/>
                  <a:cs typeface="Arial"/>
                </a:rPr>
                <a:t>三大卡点</a:t>
              </a:r>
            </a:p>
          </p:txBody>
        </p:sp>
        <p:sp>
          <p:nvSpPr>
            <p:cNvPr id="9" name="Line 9"/>
            <p:cNvSpPr/>
            <p:nvPr/>
          </p:nvSpPr>
          <p:spPr>
            <a:xfrm>
              <a:off x="4152900" y="3962400"/>
              <a:ext cx="9525" cy="2228850"/>
            </a:xfrm>
            <a:custGeom>
              <a:avLst/>
              <a:gdLst/>
              <a:ahLst/>
              <a:cxnLst/>
              <a:rect l="l" t="t" r="r" b="b"/>
              <a:pathLst>
                <a:path w="9525" h="2228850">
                  <a:moveTo>
                    <a:pt x="0" y="0"/>
                  </a:moveTo>
                  <a:lnTo>
                    <a:pt x="0" y="2228850"/>
                  </a:lnTo>
                </a:path>
              </a:pathLst>
            </a:custGeom>
            <a:noFill/>
            <a:ln w="9525">
              <a:solidFill>
                <a:srgbClr val="D7DEE7"/>
              </a:solidFill>
            </a:ln>
          </p:spPr>
        </p:sp>
        <p:sp>
          <p:nvSpPr>
            <p:cNvPr id="10" name="Line 10"/>
            <p:cNvSpPr/>
            <p:nvPr/>
          </p:nvSpPr>
          <p:spPr>
            <a:xfrm>
              <a:off x="7848600" y="3962400"/>
              <a:ext cx="9525" cy="2228850"/>
            </a:xfrm>
            <a:custGeom>
              <a:avLst/>
              <a:gdLst/>
              <a:ahLst/>
              <a:cxnLst/>
              <a:rect l="l" t="t" r="r" b="b"/>
              <a:pathLst>
                <a:path w="9525" h="2228850">
                  <a:moveTo>
                    <a:pt x="0" y="0"/>
                  </a:moveTo>
                  <a:lnTo>
                    <a:pt x="0" y="2228850"/>
                  </a:lnTo>
                </a:path>
              </a:pathLst>
            </a:custGeom>
            <a:noFill/>
            <a:ln w="9525">
              <a:solidFill>
                <a:srgbClr val="D7DEE7"/>
              </a:solidFill>
            </a:ln>
          </p:spPr>
        </p:sp>
      </p:grpSp>
      <p:grpSp>
        <p:nvGrpSpPr>
          <p:cNvPr id="21" name="Group 21"/>
          <p:cNvGrpSpPr/>
          <p:nvPr/>
        </p:nvGrpSpPr>
        <p:grpSpPr>
          <a:xfrm>
            <a:off x="664845" y="4074795"/>
            <a:ext cx="2276475" cy="1754505"/>
            <a:chOff x="664845" y="4074795"/>
            <a:chExt cx="2276475" cy="1754505"/>
          </a:xfrm>
        </p:grpSpPr>
        <p:grpSp>
          <p:nvGrpSpPr>
            <p:cNvPr id="15" name="Group 15"/>
            <p:cNvGrpSpPr/>
            <p:nvPr/>
          </p:nvGrpSpPr>
          <p:grpSpPr>
            <a:xfrm>
              <a:off x="713159" y="4095766"/>
              <a:ext cx="288171" cy="247577"/>
              <a:chOff x="713159" y="4095766"/>
              <a:chExt cx="288171" cy="247577"/>
            </a:xfrm>
          </p:grpSpPr>
          <p:sp>
            <p:nvSpPr>
              <p:cNvPr id="12" name="Freeform 12"/>
              <p:cNvSpPr/>
              <p:nvPr/>
            </p:nvSpPr>
            <p:spPr>
              <a:xfrm>
                <a:off x="857250" y="4186238"/>
                <a:ext cx="9525" cy="57150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57150">
                    <a:moveTo>
                      <a:pt x="0" y="0"/>
                    </a:moveTo>
                    <a:lnTo>
                      <a:pt x="0" y="57150"/>
                    </a:lnTo>
                  </a:path>
                </a:pathLst>
              </a:custGeom>
              <a:noFill/>
              <a:ln w="19050">
                <a:solidFill>
                  <a:srgbClr val="D32F2F"/>
                </a:solidFill>
              </a:ln>
            </p:spPr>
          </p:sp>
          <p:sp>
            <p:nvSpPr>
              <p:cNvPr id="13" name="Freeform 13"/>
              <p:cNvSpPr/>
              <p:nvPr/>
            </p:nvSpPr>
            <p:spPr>
              <a:xfrm>
                <a:off x="713159" y="4095766"/>
                <a:ext cx="288171" cy="247577"/>
              </a:xfrm>
              <a:custGeom>
                <a:avLst/>
                <a:gdLst/>
                <a:ahLst/>
                <a:cxnLst/>
                <a:rect l="l" t="t" r="r" b="b"/>
                <a:pathLst>
                  <a:path w="288171" h="247577">
                    <a:moveTo>
                      <a:pt x="120702" y="13191"/>
                    </a:moveTo>
                    <a:lnTo>
                      <a:pt x="4888" y="206558"/>
                    </a:lnTo>
                    <a:cubicBezTo>
                      <a:pt x="30" y="214971"/>
                      <a:pt x="0" y="225330"/>
                      <a:pt x="4810" y="233771"/>
                    </a:cubicBezTo>
                    <a:cubicBezTo>
                      <a:pt x="9620" y="242213"/>
                      <a:pt x="18548" y="247468"/>
                      <a:pt x="28262" y="247577"/>
                    </a:cubicBezTo>
                    <a:lnTo>
                      <a:pt x="259920" y="247577"/>
                    </a:lnTo>
                    <a:cubicBezTo>
                      <a:pt x="269630" y="247465"/>
                      <a:pt x="278553" y="242212"/>
                      <a:pt x="283362" y="233775"/>
                    </a:cubicBezTo>
                    <a:cubicBezTo>
                      <a:pt x="288171" y="225339"/>
                      <a:pt x="288145" y="214984"/>
                      <a:pt x="283294" y="206572"/>
                    </a:cubicBezTo>
                    <a:lnTo>
                      <a:pt x="167480" y="13176"/>
                    </a:lnTo>
                    <a:cubicBezTo>
                      <a:pt x="162524" y="4996"/>
                      <a:pt x="153655" y="0"/>
                      <a:pt x="144091" y="0"/>
                    </a:cubicBezTo>
                    <a:cubicBezTo>
                      <a:pt x="134527" y="0"/>
                      <a:pt x="125658" y="4996"/>
                      <a:pt x="120702" y="13176"/>
                    </a:cubicBezTo>
                  </a:path>
                </a:pathLst>
              </a:custGeom>
              <a:noFill/>
              <a:ln w="19050">
                <a:solidFill>
                  <a:srgbClr val="D32F2F"/>
                </a:solidFill>
              </a:ln>
            </p:spPr>
          </p:sp>
          <p:sp>
            <p:nvSpPr>
              <p:cNvPr id="14" name="Freeform 14"/>
              <p:cNvSpPr/>
              <p:nvPr/>
            </p:nvSpPr>
            <p:spPr>
              <a:xfrm>
                <a:off x="857250" y="4286250"/>
                <a:ext cx="9525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9525">
                    <a:moveTo>
                      <a:pt x="0" y="0"/>
                    </a:moveTo>
                    <a:lnTo>
                      <a:pt x="143" y="0"/>
                    </a:lnTo>
                  </a:path>
                </a:pathLst>
              </a:custGeom>
              <a:noFill/>
              <a:ln w="19050">
                <a:solidFill>
                  <a:srgbClr val="D32F2F"/>
                </a:solidFill>
              </a:ln>
            </p:spPr>
          </p:sp>
        </p:grpSp>
        <p:sp>
          <p:nvSpPr>
            <p:cNvPr id="16" name="TextBox 16"/>
            <p:cNvSpPr txBox="1"/>
            <p:nvPr/>
          </p:nvSpPr>
          <p:spPr>
            <a:xfrm>
              <a:off x="1150620" y="4074795"/>
              <a:ext cx="430606" cy="4876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2400" b="1" dirty="0">
                  <a:solidFill>
                    <a:srgbClr val="D32F2F"/>
                  </a:solidFill>
                  <a:latin typeface="Arial"/>
                  <a:ea typeface="Arial"/>
                  <a:cs typeface="Arial"/>
                </a:rPr>
                <a:t>01</a:t>
              </a:r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664845" y="4679632"/>
              <a:ext cx="1890141" cy="3352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b="1" dirty="0">
                  <a:solidFill>
                    <a:srgbClr val="1A2230"/>
                  </a:solidFill>
                  <a:latin typeface="Arial"/>
                  <a:ea typeface="SimHei"/>
                  <a:cs typeface="Arial"/>
                </a:rPr>
                <a:t>类目审核（阻断）</a:t>
              </a:r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670560" y="5090160"/>
              <a:ext cx="2270760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5A6675"/>
                  </a:solidFill>
                  <a:latin typeface="Arial"/>
                  <a:ea typeface="Microsoft YaHei"/>
                  <a:cs typeface="Arial"/>
                </a:rPr>
                <a:t>微信医疗器械类目审核未通过；</a:t>
              </a:r>
            </a:p>
          </p:txBody>
        </p:sp>
        <p:sp>
          <p:nvSpPr>
            <p:cNvPr id="19" name="TextBox 19"/>
            <p:cNvSpPr txBox="1"/>
            <p:nvPr/>
          </p:nvSpPr>
          <p:spPr>
            <a:xfrm>
              <a:off x="670560" y="5337810"/>
              <a:ext cx="1950720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5A6675"/>
                  </a:solidFill>
                  <a:latin typeface="Arial"/>
                  <a:ea typeface="Microsoft YaHei"/>
                  <a:cs typeface="Arial"/>
                </a:rPr>
                <a:t>需补齐生产许可证、备案后</a:t>
              </a:r>
            </a:p>
          </p:txBody>
        </p:sp>
        <p:sp>
          <p:nvSpPr>
            <p:cNvPr id="20" name="TextBox 20"/>
            <p:cNvSpPr txBox="1"/>
            <p:nvPr/>
          </p:nvSpPr>
          <p:spPr>
            <a:xfrm>
              <a:off x="670560" y="5585460"/>
              <a:ext cx="1646682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5A6675"/>
                  </a:solidFill>
                  <a:latin typeface="Arial"/>
                  <a:ea typeface="Microsoft YaHei"/>
                  <a:cs typeface="Arial"/>
                </a:rPr>
                <a:t>重新提交——卡住发布。</a:t>
              </a:r>
            </a:p>
          </p:txBody>
        </p:sp>
      </p:grpSp>
      <p:grpSp>
        <p:nvGrpSpPr>
          <p:cNvPr id="32" name="Group 32"/>
          <p:cNvGrpSpPr/>
          <p:nvPr/>
        </p:nvGrpSpPr>
        <p:grpSpPr>
          <a:xfrm>
            <a:off x="4360545" y="4074795"/>
            <a:ext cx="2620518" cy="1754505"/>
            <a:chOff x="4360545" y="4074795"/>
            <a:chExt cx="2620518" cy="1754505"/>
          </a:xfrm>
        </p:grpSpPr>
        <p:grpSp>
          <p:nvGrpSpPr>
            <p:cNvPr id="26" name="Group 26"/>
            <p:cNvGrpSpPr/>
            <p:nvPr/>
          </p:nvGrpSpPr>
          <p:grpSpPr>
            <a:xfrm>
              <a:off x="4424362" y="4114800"/>
              <a:ext cx="257175" cy="228600"/>
              <a:chOff x="4424362" y="4114800"/>
              <a:chExt cx="257175" cy="228600"/>
            </a:xfrm>
          </p:grpSpPr>
          <p:sp>
            <p:nvSpPr>
              <p:cNvPr id="22" name="Freeform 22"/>
              <p:cNvSpPr/>
              <p:nvPr/>
            </p:nvSpPr>
            <p:spPr>
              <a:xfrm>
                <a:off x="4424362" y="4114800"/>
                <a:ext cx="257175" cy="114300"/>
              </a:xfrm>
              <a:custGeom>
                <a:avLst/>
                <a:gdLst/>
                <a:ahLst/>
                <a:cxnLst/>
                <a:rect l="l" t="t" r="r" b="b"/>
                <a:pathLst>
                  <a:path w="257175" h="114300">
                    <a:moveTo>
                      <a:pt x="0" y="42862"/>
                    </a:moveTo>
                    <a:cubicBezTo>
                      <a:pt x="0" y="19190"/>
                      <a:pt x="19190" y="0"/>
                      <a:pt x="42862" y="0"/>
                    </a:cubicBezTo>
                    <a:lnTo>
                      <a:pt x="214312" y="0"/>
                    </a:lnTo>
                    <a:cubicBezTo>
                      <a:pt x="237985" y="0"/>
                      <a:pt x="257175" y="19190"/>
                      <a:pt x="257175" y="42862"/>
                    </a:cubicBezTo>
                    <a:lnTo>
                      <a:pt x="257175" y="71438"/>
                    </a:lnTo>
                    <a:cubicBezTo>
                      <a:pt x="257175" y="95110"/>
                      <a:pt x="237985" y="114300"/>
                      <a:pt x="214312" y="114300"/>
                    </a:cubicBezTo>
                    <a:lnTo>
                      <a:pt x="42862" y="114300"/>
                    </a:lnTo>
                    <a:cubicBezTo>
                      <a:pt x="19190" y="114300"/>
                      <a:pt x="0" y="95110"/>
                      <a:pt x="0" y="71438"/>
                    </a:cubicBezTo>
                  </a:path>
                </a:pathLst>
              </a:custGeom>
              <a:noFill/>
              <a:ln w="19050">
                <a:solidFill>
                  <a:srgbClr val="1565C0"/>
                </a:solidFill>
              </a:ln>
            </p:spPr>
          </p:sp>
          <p:sp>
            <p:nvSpPr>
              <p:cNvPr id="23" name="Freeform 23"/>
              <p:cNvSpPr/>
              <p:nvPr/>
            </p:nvSpPr>
            <p:spPr>
              <a:xfrm>
                <a:off x="4424362" y="4229100"/>
                <a:ext cx="257175" cy="114300"/>
              </a:xfrm>
              <a:custGeom>
                <a:avLst/>
                <a:gdLst/>
                <a:ahLst/>
                <a:cxnLst/>
                <a:rect l="l" t="t" r="r" b="b"/>
                <a:pathLst>
                  <a:path w="257175" h="114300">
                    <a:moveTo>
                      <a:pt x="0" y="42862"/>
                    </a:moveTo>
                    <a:cubicBezTo>
                      <a:pt x="0" y="19190"/>
                      <a:pt x="19190" y="0"/>
                      <a:pt x="42862" y="0"/>
                    </a:cubicBezTo>
                    <a:lnTo>
                      <a:pt x="214312" y="0"/>
                    </a:lnTo>
                    <a:cubicBezTo>
                      <a:pt x="237985" y="0"/>
                      <a:pt x="257175" y="19190"/>
                      <a:pt x="257175" y="42862"/>
                    </a:cubicBezTo>
                    <a:lnTo>
                      <a:pt x="257175" y="71438"/>
                    </a:lnTo>
                    <a:cubicBezTo>
                      <a:pt x="257175" y="95110"/>
                      <a:pt x="237985" y="114300"/>
                      <a:pt x="214312" y="114300"/>
                    </a:cubicBezTo>
                    <a:lnTo>
                      <a:pt x="42862" y="114300"/>
                    </a:lnTo>
                    <a:cubicBezTo>
                      <a:pt x="19190" y="114300"/>
                      <a:pt x="0" y="95110"/>
                      <a:pt x="0" y="71438"/>
                    </a:cubicBezTo>
                    <a:lnTo>
                      <a:pt x="0" y="42862"/>
                    </a:lnTo>
                  </a:path>
                </a:pathLst>
              </a:custGeom>
              <a:noFill/>
              <a:ln w="19050">
                <a:solidFill>
                  <a:srgbClr val="1565C0"/>
                </a:solidFill>
              </a:ln>
            </p:spPr>
          </p:sp>
          <p:sp>
            <p:nvSpPr>
              <p:cNvPr id="24" name="Freeform 24"/>
              <p:cNvSpPr/>
              <p:nvPr/>
            </p:nvSpPr>
            <p:spPr>
              <a:xfrm>
                <a:off x="4481512" y="4171950"/>
                <a:ext cx="9525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9525">
                    <a:moveTo>
                      <a:pt x="0" y="0"/>
                    </a:moveTo>
                    <a:lnTo>
                      <a:pt x="0" y="143"/>
                    </a:lnTo>
                  </a:path>
                </a:pathLst>
              </a:custGeom>
              <a:noFill/>
              <a:ln w="19050">
                <a:solidFill>
                  <a:srgbClr val="1565C0"/>
                </a:solidFill>
              </a:ln>
            </p:spPr>
          </p:sp>
          <p:sp>
            <p:nvSpPr>
              <p:cNvPr id="25" name="Freeform 25"/>
              <p:cNvSpPr/>
              <p:nvPr/>
            </p:nvSpPr>
            <p:spPr>
              <a:xfrm>
                <a:off x="4481512" y="4286250"/>
                <a:ext cx="9525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9525">
                    <a:moveTo>
                      <a:pt x="0" y="0"/>
                    </a:moveTo>
                    <a:lnTo>
                      <a:pt x="0" y="143"/>
                    </a:lnTo>
                  </a:path>
                </a:pathLst>
              </a:custGeom>
              <a:noFill/>
              <a:ln w="19050">
                <a:solidFill>
                  <a:srgbClr val="1565C0"/>
                </a:solidFill>
              </a:ln>
            </p:spPr>
          </p:sp>
        </p:grpSp>
        <p:sp>
          <p:nvSpPr>
            <p:cNvPr id="27" name="TextBox 27"/>
            <p:cNvSpPr txBox="1"/>
            <p:nvPr/>
          </p:nvSpPr>
          <p:spPr>
            <a:xfrm>
              <a:off x="4846320" y="4074795"/>
              <a:ext cx="430606" cy="4876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2400" b="1" dirty="0">
                  <a:solidFill>
                    <a:srgbClr val="1565C0"/>
                  </a:solidFill>
                  <a:latin typeface="Arial"/>
                  <a:ea typeface="Arial"/>
                  <a:cs typeface="Arial"/>
                </a:rPr>
                <a:t>02</a:t>
              </a:r>
            </a:p>
          </p:txBody>
        </p:sp>
        <p:sp>
          <p:nvSpPr>
            <p:cNvPr id="28" name="TextBox 28"/>
            <p:cNvSpPr txBox="1"/>
            <p:nvPr/>
          </p:nvSpPr>
          <p:spPr>
            <a:xfrm>
              <a:off x="4360545" y="4679632"/>
              <a:ext cx="1197054" cy="3352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b="1" dirty="0">
                  <a:solidFill>
                    <a:srgbClr val="1A2230"/>
                  </a:solidFill>
                  <a:latin typeface="Arial"/>
                  <a:ea typeface="SimHei"/>
                  <a:cs typeface="Arial"/>
                </a:rPr>
                <a:t>部署与配置</a:t>
              </a:r>
            </a:p>
          </p:txBody>
        </p:sp>
        <p:sp>
          <p:nvSpPr>
            <p:cNvPr id="29" name="TextBox 29"/>
            <p:cNvSpPr txBox="1"/>
            <p:nvPr/>
          </p:nvSpPr>
          <p:spPr>
            <a:xfrm>
              <a:off x="4366260" y="5090160"/>
              <a:ext cx="2614803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5A6675"/>
                  </a:solidFill>
                  <a:latin typeface="Arial"/>
                  <a:ea typeface="Microsoft YaHei"/>
                  <a:cs typeface="Arial"/>
                </a:rPr>
                <a:t>切正式云空间、重部署 7 个云函数；</a:t>
              </a:r>
            </a:p>
          </p:txBody>
        </p:sp>
        <p:sp>
          <p:nvSpPr>
            <p:cNvPr id="30" name="TextBox 30"/>
            <p:cNvSpPr txBox="1"/>
            <p:nvPr/>
          </p:nvSpPr>
          <p:spPr>
            <a:xfrm>
              <a:off x="4366260" y="5337810"/>
              <a:ext cx="1998726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5A6675"/>
                  </a:solidFill>
                  <a:latin typeface="Arial"/>
                  <a:ea typeface="Microsoft YaHei"/>
                  <a:cs typeface="Arial"/>
                </a:rPr>
                <a:t>配支付 / 订阅 / 合法域名；</a:t>
              </a:r>
            </a:p>
          </p:txBody>
        </p:sp>
        <p:sp>
          <p:nvSpPr>
            <p:cNvPr id="31" name="TextBox 31"/>
            <p:cNvSpPr txBox="1"/>
            <p:nvPr/>
          </p:nvSpPr>
          <p:spPr>
            <a:xfrm>
              <a:off x="4366260" y="5585460"/>
              <a:ext cx="1790700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5A6675"/>
                  </a:solidFill>
                  <a:latin typeface="Arial"/>
                  <a:ea typeface="Microsoft YaHei"/>
                  <a:cs typeface="Arial"/>
                </a:rPr>
                <a:t>控制台创建数据库索引。</a:t>
              </a:r>
            </a:p>
          </p:txBody>
        </p:sp>
      </p:grpSp>
      <p:grpSp>
        <p:nvGrpSpPr>
          <p:cNvPr id="42" name="Group 42"/>
          <p:cNvGrpSpPr/>
          <p:nvPr/>
        </p:nvGrpSpPr>
        <p:grpSpPr>
          <a:xfrm>
            <a:off x="8056245" y="4074795"/>
            <a:ext cx="1700403" cy="1754505"/>
            <a:chOff x="8056245" y="4074795"/>
            <a:chExt cx="1700403" cy="1754505"/>
          </a:xfrm>
        </p:grpSpPr>
        <p:grpSp>
          <p:nvGrpSpPr>
            <p:cNvPr id="36" name="Group 36"/>
            <p:cNvGrpSpPr/>
            <p:nvPr/>
          </p:nvGrpSpPr>
          <p:grpSpPr>
            <a:xfrm>
              <a:off x="8148638" y="4100512"/>
              <a:ext cx="200025" cy="257176"/>
              <a:chOff x="8148638" y="4100512"/>
              <a:chExt cx="200025" cy="257176"/>
            </a:xfrm>
          </p:grpSpPr>
          <p:sp>
            <p:nvSpPr>
              <p:cNvPr id="33" name="Freeform 33"/>
              <p:cNvSpPr/>
              <p:nvPr/>
            </p:nvSpPr>
            <p:spPr>
              <a:xfrm>
                <a:off x="8148638" y="4129088"/>
                <a:ext cx="200025" cy="228600"/>
              </a:xfrm>
              <a:custGeom>
                <a:avLst/>
                <a:gdLst/>
                <a:ahLst/>
                <a:cxnLst/>
                <a:rect l="l" t="t" r="r" b="b"/>
                <a:pathLst>
                  <a:path w="200025" h="228600">
                    <a:moveTo>
                      <a:pt x="57150" y="0"/>
                    </a:moveTo>
                    <a:lnTo>
                      <a:pt x="28575" y="0"/>
                    </a:lnTo>
                    <a:cubicBezTo>
                      <a:pt x="12793" y="0"/>
                      <a:pt x="0" y="12793"/>
                      <a:pt x="0" y="28575"/>
                    </a:cubicBezTo>
                    <a:lnTo>
                      <a:pt x="0" y="200025"/>
                    </a:lnTo>
                    <a:cubicBezTo>
                      <a:pt x="0" y="215807"/>
                      <a:pt x="12793" y="228600"/>
                      <a:pt x="28575" y="228600"/>
                    </a:cubicBezTo>
                    <a:lnTo>
                      <a:pt x="171450" y="228600"/>
                    </a:lnTo>
                    <a:cubicBezTo>
                      <a:pt x="187232" y="228600"/>
                      <a:pt x="200025" y="215807"/>
                      <a:pt x="200025" y="200025"/>
                    </a:cubicBezTo>
                    <a:lnTo>
                      <a:pt x="200025" y="28575"/>
                    </a:lnTo>
                    <a:cubicBezTo>
                      <a:pt x="200025" y="12793"/>
                      <a:pt x="187232" y="0"/>
                      <a:pt x="171450" y="0"/>
                    </a:cubicBezTo>
                    <a:lnTo>
                      <a:pt x="142875" y="0"/>
                    </a:lnTo>
                  </a:path>
                </a:pathLst>
              </a:custGeom>
              <a:noFill/>
              <a:ln w="19050">
                <a:solidFill>
                  <a:srgbClr val="B7791F"/>
                </a:solidFill>
              </a:ln>
            </p:spPr>
          </p:sp>
          <p:sp>
            <p:nvSpPr>
              <p:cNvPr id="34" name="Freeform 34"/>
              <p:cNvSpPr/>
              <p:nvPr/>
            </p:nvSpPr>
            <p:spPr>
              <a:xfrm>
                <a:off x="8205788" y="4100512"/>
                <a:ext cx="85725" cy="57150"/>
              </a:xfrm>
              <a:custGeom>
                <a:avLst/>
                <a:gdLst/>
                <a:ahLst/>
                <a:cxnLst/>
                <a:rect l="l" t="t" r="r" b="b"/>
                <a:pathLst>
                  <a:path w="85725" h="57150">
                    <a:moveTo>
                      <a:pt x="0" y="28575"/>
                    </a:moveTo>
                    <a:cubicBezTo>
                      <a:pt x="0" y="12793"/>
                      <a:pt x="12793" y="0"/>
                      <a:pt x="28575" y="0"/>
                    </a:cubicBezTo>
                    <a:lnTo>
                      <a:pt x="57150" y="0"/>
                    </a:lnTo>
                    <a:cubicBezTo>
                      <a:pt x="72932" y="0"/>
                      <a:pt x="85725" y="12793"/>
                      <a:pt x="85725" y="28575"/>
                    </a:cubicBezTo>
                    <a:cubicBezTo>
                      <a:pt x="85725" y="44357"/>
                      <a:pt x="72932" y="57150"/>
                      <a:pt x="57150" y="57150"/>
                    </a:cubicBezTo>
                    <a:lnTo>
                      <a:pt x="28575" y="57150"/>
                    </a:lnTo>
                    <a:cubicBezTo>
                      <a:pt x="12793" y="57150"/>
                      <a:pt x="0" y="44357"/>
                      <a:pt x="0" y="28575"/>
                    </a:cubicBezTo>
                  </a:path>
                </a:pathLst>
              </a:custGeom>
              <a:noFill/>
              <a:ln w="19050">
                <a:solidFill>
                  <a:srgbClr val="B7791F"/>
                </a:solidFill>
              </a:ln>
            </p:spPr>
          </p:sp>
          <p:sp>
            <p:nvSpPr>
              <p:cNvPr id="35" name="Freeform 35"/>
              <p:cNvSpPr/>
              <p:nvPr/>
            </p:nvSpPr>
            <p:spPr>
              <a:xfrm>
                <a:off x="8205788" y="4229100"/>
                <a:ext cx="85725" cy="57150"/>
              </a:xfrm>
              <a:custGeom>
                <a:avLst/>
                <a:gdLst/>
                <a:ahLst/>
                <a:cxnLst/>
                <a:rect l="l" t="t" r="r" b="b"/>
                <a:pathLst>
                  <a:path w="85725" h="57150">
                    <a:moveTo>
                      <a:pt x="0" y="28575"/>
                    </a:moveTo>
                    <a:lnTo>
                      <a:pt x="28575" y="57150"/>
                    </a:lnTo>
                    <a:lnTo>
                      <a:pt x="85725" y="0"/>
                    </a:lnTo>
                  </a:path>
                </a:pathLst>
              </a:custGeom>
              <a:noFill/>
              <a:ln w="19050">
                <a:solidFill>
                  <a:srgbClr val="B7791F"/>
                </a:solidFill>
              </a:ln>
            </p:spPr>
          </p:sp>
        </p:grpSp>
        <p:sp>
          <p:nvSpPr>
            <p:cNvPr id="37" name="TextBox 37"/>
            <p:cNvSpPr txBox="1"/>
            <p:nvPr/>
          </p:nvSpPr>
          <p:spPr>
            <a:xfrm>
              <a:off x="8542020" y="4074795"/>
              <a:ext cx="430606" cy="4876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2400" b="1" dirty="0">
                  <a:solidFill>
                    <a:srgbClr val="B7791F"/>
                  </a:solidFill>
                  <a:latin typeface="Arial"/>
                  <a:ea typeface="Arial"/>
                  <a:cs typeface="Arial"/>
                </a:rPr>
                <a:t>03</a:t>
              </a:r>
            </a:p>
          </p:txBody>
        </p:sp>
        <p:sp>
          <p:nvSpPr>
            <p:cNvPr id="38" name="TextBox 38"/>
            <p:cNvSpPr txBox="1"/>
            <p:nvPr/>
          </p:nvSpPr>
          <p:spPr>
            <a:xfrm>
              <a:off x="8056245" y="4679632"/>
              <a:ext cx="1197054" cy="3352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b="1" dirty="0">
                  <a:solidFill>
                    <a:srgbClr val="1A2230"/>
                  </a:solidFill>
                  <a:latin typeface="Arial"/>
                  <a:ea typeface="SimHei"/>
                  <a:cs typeface="Arial"/>
                </a:rPr>
                <a:t>真机与验收</a:t>
              </a:r>
            </a:p>
          </p:txBody>
        </p:sp>
        <p:sp>
          <p:nvSpPr>
            <p:cNvPr id="39" name="TextBox 39"/>
            <p:cNvSpPr txBox="1"/>
            <p:nvPr/>
          </p:nvSpPr>
          <p:spPr>
            <a:xfrm>
              <a:off x="8061960" y="5090160"/>
              <a:ext cx="1470660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5A6675"/>
                  </a:solidFill>
                  <a:latin typeface="Arial"/>
                  <a:ea typeface="Microsoft YaHei"/>
                  <a:cs typeface="Arial"/>
                </a:rPr>
                <a:t>真机跑客户全流程、</a:t>
              </a:r>
            </a:p>
          </p:txBody>
        </p:sp>
        <p:sp>
          <p:nvSpPr>
            <p:cNvPr id="40" name="TextBox 40"/>
            <p:cNvSpPr txBox="1"/>
            <p:nvPr/>
          </p:nvSpPr>
          <p:spPr>
            <a:xfrm>
              <a:off x="8061960" y="5337810"/>
              <a:ext cx="1694688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5A6675"/>
                  </a:solidFill>
                  <a:latin typeface="Arial"/>
                  <a:ea typeface="Microsoft YaHei"/>
                  <a:cs typeface="Arial"/>
                </a:rPr>
                <a:t>PC 后台核心业务验收，</a:t>
              </a:r>
            </a:p>
          </p:txBody>
        </p:sp>
        <p:sp>
          <p:nvSpPr>
            <p:cNvPr id="41" name="TextBox 41"/>
            <p:cNvSpPr txBox="1"/>
            <p:nvPr/>
          </p:nvSpPr>
          <p:spPr>
            <a:xfrm>
              <a:off x="8061960" y="5585460"/>
              <a:ext cx="990600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5A6675"/>
                  </a:solidFill>
                  <a:latin typeface="Arial"/>
                  <a:ea typeface="Microsoft YaHei"/>
                  <a:cs typeface="Arial"/>
                </a:rPr>
                <a:t>均尚未开始。</a:t>
              </a:r>
            </a:p>
          </p:txBody>
        </p:sp>
      </p:grpSp>
      <p:grpSp>
        <p:nvGrpSpPr>
          <p:cNvPr id="45" name="Group 45"/>
          <p:cNvGrpSpPr/>
          <p:nvPr/>
        </p:nvGrpSpPr>
        <p:grpSpPr>
          <a:xfrm>
            <a:off x="675322" y="6597491"/>
            <a:ext cx="10841355" cy="167640"/>
            <a:chOff x="675322" y="6597491"/>
            <a:chExt cx="10841355" cy="167640"/>
          </a:xfrm>
        </p:grpSpPr>
        <p:sp>
          <p:nvSpPr>
            <p:cNvPr id="43" name="TextBox 43"/>
            <p:cNvSpPr txBox="1"/>
            <p:nvPr/>
          </p:nvSpPr>
          <p:spPr>
            <a:xfrm>
              <a:off x="675322" y="6597491"/>
              <a:ext cx="1797677" cy="1676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825" dirty="0">
                  <a:solidFill>
                    <a:srgbClr val="93A0B0"/>
                  </a:solidFill>
                  <a:latin typeface="Arial"/>
                  <a:ea typeface="Microsoft YaHei"/>
                  <a:cs typeface="Arial"/>
                </a:rPr>
                <a:t>牙医仪器检修小程序 · 项目进度汇报</a:t>
              </a:r>
            </a:p>
          </p:txBody>
        </p:sp>
        <p:sp>
          <p:nvSpPr>
            <p:cNvPr id="44" name="TextBox 44"/>
            <p:cNvSpPr txBox="1"/>
            <p:nvPr/>
          </p:nvSpPr>
          <p:spPr>
            <a:xfrm>
              <a:off x="10335077" y="6597491"/>
              <a:ext cx="1181600" cy="1676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en-US" sz="825" dirty="0">
                  <a:solidFill>
                    <a:srgbClr val="93A0B0"/>
                  </a:solidFill>
                  <a:latin typeface="Arial"/>
                  <a:ea typeface="Arial"/>
                  <a:cs typeface="Arial"/>
                </a:rPr>
                <a:t>2026-06-22 · P04 / 12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</p:sp>
      <p:grpSp>
        <p:nvGrpSpPr>
          <p:cNvPr id="8" name="Group 8"/>
          <p:cNvGrpSpPr/>
          <p:nvPr/>
        </p:nvGrpSpPr>
        <p:grpSpPr>
          <a:xfrm>
            <a:off x="685800" y="533400"/>
            <a:ext cx="10833735" cy="504825"/>
            <a:chOff x="685800" y="533400"/>
            <a:chExt cx="10833735" cy="504825"/>
          </a:xfrm>
        </p:grpSpPr>
        <p:sp>
          <p:nvSpPr>
            <p:cNvPr id="3" name="Rectangle 3"/>
            <p:cNvSpPr/>
            <p:nvPr/>
          </p:nvSpPr>
          <p:spPr>
            <a:xfrm>
              <a:off x="685800" y="533400"/>
              <a:ext cx="57150" cy="323850"/>
            </a:xfrm>
            <a:prstGeom prst="rect">
              <a:avLst/>
            </a:prstGeom>
            <a:solidFill>
              <a:srgbClr val="1565C0"/>
            </a:solidFill>
            <a:ln>
              <a:noFill/>
            </a:ln>
          </p:spPr>
        </p:sp>
        <p:sp>
          <p:nvSpPr>
            <p:cNvPr id="4" name="TextBox 4"/>
            <p:cNvSpPr txBox="1"/>
            <p:nvPr/>
          </p:nvSpPr>
          <p:spPr>
            <a:xfrm>
              <a:off x="847725" y="557212"/>
              <a:ext cx="2577465" cy="4572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250" b="1" dirty="0">
                  <a:solidFill>
                    <a:srgbClr val="1A2230"/>
                  </a:solidFill>
                  <a:latin typeface="Arial"/>
                  <a:ea typeface="SimHei"/>
                  <a:cs typeface="Arial"/>
                </a:rPr>
                <a:t>客户端功能完成度</a:t>
              </a:r>
            </a:p>
          </p:txBody>
        </p:sp>
        <p:sp>
          <p:nvSpPr>
            <p:cNvPr id="5" name="TextBox 5"/>
            <p:cNvSpPr txBox="1"/>
            <p:nvPr/>
          </p:nvSpPr>
          <p:spPr>
            <a:xfrm>
              <a:off x="3514725" y="557212"/>
              <a:ext cx="1112532" cy="4572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2250" b="1" dirty="0">
                  <a:solidFill>
                    <a:srgbClr val="2E7D32"/>
                  </a:solidFill>
                  <a:latin typeface="Arial"/>
                  <a:ea typeface="Arial"/>
                  <a:cs typeface="Arial"/>
                </a:rPr>
                <a:t>16 / 16</a:t>
              </a:r>
            </a:p>
          </p:txBody>
        </p:sp>
        <p:sp>
          <p:nvSpPr>
            <p:cNvPr id="6" name="TextBox 6"/>
            <p:cNvSpPr txBox="1"/>
            <p:nvPr/>
          </p:nvSpPr>
          <p:spPr>
            <a:xfrm>
              <a:off x="10092690" y="667702"/>
              <a:ext cx="1426845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1050" dirty="0">
                  <a:solidFill>
                    <a:srgbClr val="93A0B0"/>
                  </a:solidFill>
                  <a:latin typeface="Arial"/>
                  <a:ea typeface="Microsoft YaHei"/>
                  <a:cs typeface="Arial"/>
                </a:rPr>
                <a:t>主流程功能全部已实现</a:t>
              </a:r>
            </a:p>
          </p:txBody>
        </p:sp>
        <p:sp>
          <p:nvSpPr>
            <p:cNvPr id="7" name="Line 7"/>
            <p:cNvSpPr/>
            <p:nvPr/>
          </p:nvSpPr>
          <p:spPr>
            <a:xfrm>
              <a:off x="685800" y="1028700"/>
              <a:ext cx="10820400" cy="9525"/>
            </a:xfrm>
            <a:custGeom>
              <a:avLst/>
              <a:gdLst/>
              <a:ahLst/>
              <a:cxnLst/>
              <a:rect l="l" t="t" r="r" b="b"/>
              <a:pathLst>
                <a:path w="10820400" h="9525">
                  <a:moveTo>
                    <a:pt x="0" y="0"/>
                  </a:moveTo>
                  <a:lnTo>
                    <a:pt x="10820400" y="0"/>
                  </a:lnTo>
                </a:path>
              </a:pathLst>
            </a:custGeom>
            <a:noFill/>
            <a:ln w="9525">
              <a:solidFill>
                <a:srgbClr val="E5EAF0"/>
              </a:solidFill>
            </a:ln>
          </p:spPr>
        </p:sp>
      </p:grpSp>
      <p:grpSp>
        <p:nvGrpSpPr>
          <p:cNvPr id="33" name="Group 33"/>
          <p:cNvGrpSpPr/>
          <p:nvPr/>
        </p:nvGrpSpPr>
        <p:grpSpPr>
          <a:xfrm>
            <a:off x="685800" y="1428750"/>
            <a:ext cx="10820400" cy="1076325"/>
            <a:chOff x="685800" y="1428750"/>
            <a:chExt cx="10820400" cy="1076325"/>
          </a:xfrm>
        </p:grpSpPr>
        <p:sp>
          <p:nvSpPr>
            <p:cNvPr id="9" name="Rectangle 9"/>
            <p:cNvSpPr/>
            <p:nvPr/>
          </p:nvSpPr>
          <p:spPr>
            <a:xfrm>
              <a:off x="685800" y="1428750"/>
              <a:ext cx="2590800" cy="1076325"/>
            </a:xfrm>
            <a:prstGeom prst="rect">
              <a:avLst/>
            </a:prstGeom>
            <a:solidFill>
              <a:srgbClr val="F4F7FB"/>
            </a:solidFill>
            <a:ln>
              <a:noFill/>
            </a:ln>
          </p:spPr>
        </p:sp>
        <p:grpSp>
          <p:nvGrpSpPr>
            <p:cNvPr id="12" name="Group 12"/>
            <p:cNvGrpSpPr/>
            <p:nvPr/>
          </p:nvGrpSpPr>
          <p:grpSpPr>
            <a:xfrm>
              <a:off x="883444" y="1664494"/>
              <a:ext cx="157163" cy="157163"/>
              <a:chOff x="883444" y="1664494"/>
              <a:chExt cx="157163" cy="157163"/>
            </a:xfrm>
          </p:grpSpPr>
          <p:sp>
            <p:nvSpPr>
              <p:cNvPr id="10" name="Freeform 10"/>
              <p:cNvSpPr/>
              <p:nvPr/>
            </p:nvSpPr>
            <p:spPr>
              <a:xfrm>
                <a:off x="883444" y="1664494"/>
                <a:ext cx="157163" cy="157163"/>
              </a:xfrm>
              <a:custGeom>
                <a:avLst/>
                <a:gdLst/>
                <a:ahLst/>
                <a:cxnLst/>
                <a:rect l="l" t="t" r="r" b="b"/>
                <a:pathLst>
                  <a:path w="157163" h="157163">
                    <a:moveTo>
                      <a:pt x="0" y="78581"/>
                    </a:moveTo>
                    <a:cubicBezTo>
                      <a:pt x="0" y="121981"/>
                      <a:pt x="35182" y="157163"/>
                      <a:pt x="78581" y="157163"/>
                    </a:cubicBezTo>
                    <a:cubicBezTo>
                      <a:pt x="121981" y="157163"/>
                      <a:pt x="157163" y="121981"/>
                      <a:pt x="157163" y="78581"/>
                    </a:cubicBezTo>
                    <a:cubicBezTo>
                      <a:pt x="157163" y="35182"/>
                      <a:pt x="121981" y="0"/>
                      <a:pt x="78581" y="0"/>
                    </a:cubicBezTo>
                    <a:cubicBezTo>
                      <a:pt x="35182" y="0"/>
                      <a:pt x="0" y="35182"/>
                      <a:pt x="0" y="78581"/>
                    </a:cubicBezTo>
                  </a:path>
                </a:pathLst>
              </a:custGeom>
              <a:noFill/>
              <a:ln w="19050">
                <a:solidFill>
                  <a:srgbClr val="2E7D32"/>
                </a:solidFill>
              </a:ln>
            </p:spPr>
          </p:sp>
          <p:sp>
            <p:nvSpPr>
              <p:cNvPr id="11" name="Freeform 11"/>
              <p:cNvSpPr/>
              <p:nvPr/>
            </p:nvSpPr>
            <p:spPr>
              <a:xfrm>
                <a:off x="935831" y="1725613"/>
                <a:ext cx="52388" cy="34925"/>
              </a:xfrm>
              <a:custGeom>
                <a:avLst/>
                <a:gdLst/>
                <a:ahLst/>
                <a:cxnLst/>
                <a:rect l="l" t="t" r="r" b="b"/>
                <a:pathLst>
                  <a:path w="52388" h="34925">
                    <a:moveTo>
                      <a:pt x="0" y="17463"/>
                    </a:moveTo>
                    <a:lnTo>
                      <a:pt x="17463" y="34925"/>
                    </a:lnTo>
                    <a:lnTo>
                      <a:pt x="52388" y="0"/>
                    </a:lnTo>
                  </a:path>
                </a:pathLst>
              </a:custGeom>
              <a:noFill/>
              <a:ln w="19050">
                <a:solidFill>
                  <a:srgbClr val="2E7D32"/>
                </a:solidFill>
              </a:ln>
            </p:spPr>
          </p:sp>
        </p:grpSp>
        <p:sp>
          <p:nvSpPr>
            <p:cNvPr id="13" name="TextBox 13"/>
            <p:cNvSpPr txBox="1"/>
            <p:nvPr/>
          </p:nvSpPr>
          <p:spPr>
            <a:xfrm>
              <a:off x="1128712" y="1678781"/>
              <a:ext cx="201847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125" b="1" dirty="0">
                  <a:solidFill>
                    <a:srgbClr val="93A0B0"/>
                  </a:solidFill>
                  <a:latin typeface="Arial"/>
                  <a:ea typeface="Arial"/>
                  <a:cs typeface="Arial"/>
                </a:rPr>
                <a:t>01</a:t>
              </a:r>
            </a:p>
          </p:txBody>
        </p:sp>
        <p:sp>
          <p:nvSpPr>
            <p:cNvPr id="14" name="TextBox 14"/>
            <p:cNvSpPr txBox="1"/>
            <p:nvPr/>
          </p:nvSpPr>
          <p:spPr>
            <a:xfrm>
              <a:off x="841058" y="2072164"/>
              <a:ext cx="1222534" cy="2590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75" dirty="0">
                  <a:solidFill>
                    <a:srgbClr val="1A2230"/>
                  </a:solidFill>
                  <a:latin typeface="Arial"/>
                  <a:ea typeface="Microsoft YaHei"/>
                  <a:cs typeface="Arial"/>
                </a:rPr>
                <a:t>手机验证码登录</a:t>
              </a:r>
            </a:p>
          </p:txBody>
        </p:sp>
        <p:sp>
          <p:nvSpPr>
            <p:cNvPr id="15" name="Rectangle 15"/>
            <p:cNvSpPr/>
            <p:nvPr/>
          </p:nvSpPr>
          <p:spPr>
            <a:xfrm>
              <a:off x="3429000" y="1428750"/>
              <a:ext cx="2590800" cy="1076325"/>
            </a:xfrm>
            <a:prstGeom prst="rect">
              <a:avLst/>
            </a:prstGeom>
            <a:solidFill>
              <a:srgbClr val="F4F7FB"/>
            </a:solidFill>
            <a:ln>
              <a:noFill/>
            </a:ln>
          </p:spPr>
        </p:sp>
        <p:grpSp>
          <p:nvGrpSpPr>
            <p:cNvPr id="18" name="Group 18"/>
            <p:cNvGrpSpPr/>
            <p:nvPr/>
          </p:nvGrpSpPr>
          <p:grpSpPr>
            <a:xfrm>
              <a:off x="3626644" y="1664494"/>
              <a:ext cx="157163" cy="157163"/>
              <a:chOff x="3626644" y="1664494"/>
              <a:chExt cx="157163" cy="157163"/>
            </a:xfrm>
          </p:grpSpPr>
          <p:sp>
            <p:nvSpPr>
              <p:cNvPr id="16" name="Freeform 16"/>
              <p:cNvSpPr/>
              <p:nvPr/>
            </p:nvSpPr>
            <p:spPr>
              <a:xfrm>
                <a:off x="3626644" y="1664494"/>
                <a:ext cx="157163" cy="157163"/>
              </a:xfrm>
              <a:custGeom>
                <a:avLst/>
                <a:gdLst/>
                <a:ahLst/>
                <a:cxnLst/>
                <a:rect l="l" t="t" r="r" b="b"/>
                <a:pathLst>
                  <a:path w="157163" h="157163">
                    <a:moveTo>
                      <a:pt x="0" y="78581"/>
                    </a:moveTo>
                    <a:cubicBezTo>
                      <a:pt x="0" y="121981"/>
                      <a:pt x="35182" y="157163"/>
                      <a:pt x="78581" y="157163"/>
                    </a:cubicBezTo>
                    <a:cubicBezTo>
                      <a:pt x="121981" y="157163"/>
                      <a:pt x="157163" y="121981"/>
                      <a:pt x="157163" y="78581"/>
                    </a:cubicBezTo>
                    <a:cubicBezTo>
                      <a:pt x="157163" y="35182"/>
                      <a:pt x="121981" y="0"/>
                      <a:pt x="78581" y="0"/>
                    </a:cubicBezTo>
                    <a:cubicBezTo>
                      <a:pt x="35182" y="0"/>
                      <a:pt x="0" y="35182"/>
                      <a:pt x="0" y="78581"/>
                    </a:cubicBezTo>
                  </a:path>
                </a:pathLst>
              </a:custGeom>
              <a:noFill/>
              <a:ln w="19050">
                <a:solidFill>
                  <a:srgbClr val="2E7D32"/>
                </a:solidFill>
              </a:ln>
            </p:spPr>
          </p:sp>
          <p:sp>
            <p:nvSpPr>
              <p:cNvPr id="17" name="Freeform 17"/>
              <p:cNvSpPr/>
              <p:nvPr/>
            </p:nvSpPr>
            <p:spPr>
              <a:xfrm>
                <a:off x="3679031" y="1725613"/>
                <a:ext cx="52388" cy="34925"/>
              </a:xfrm>
              <a:custGeom>
                <a:avLst/>
                <a:gdLst/>
                <a:ahLst/>
                <a:cxnLst/>
                <a:rect l="l" t="t" r="r" b="b"/>
                <a:pathLst>
                  <a:path w="52388" h="34925">
                    <a:moveTo>
                      <a:pt x="0" y="17463"/>
                    </a:moveTo>
                    <a:lnTo>
                      <a:pt x="17463" y="34925"/>
                    </a:lnTo>
                    <a:lnTo>
                      <a:pt x="52388" y="0"/>
                    </a:lnTo>
                  </a:path>
                </a:pathLst>
              </a:custGeom>
              <a:noFill/>
              <a:ln w="19050">
                <a:solidFill>
                  <a:srgbClr val="2E7D32"/>
                </a:solidFill>
              </a:ln>
            </p:spPr>
          </p:sp>
        </p:grpSp>
        <p:sp>
          <p:nvSpPr>
            <p:cNvPr id="19" name="TextBox 19"/>
            <p:cNvSpPr txBox="1"/>
            <p:nvPr/>
          </p:nvSpPr>
          <p:spPr>
            <a:xfrm>
              <a:off x="3871912" y="1678781"/>
              <a:ext cx="201847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125" b="1" dirty="0">
                  <a:solidFill>
                    <a:srgbClr val="93A0B0"/>
                  </a:solidFill>
                  <a:latin typeface="Arial"/>
                  <a:ea typeface="Arial"/>
                  <a:cs typeface="Arial"/>
                </a:rPr>
                <a:t>02</a:t>
              </a:r>
            </a:p>
          </p:txBody>
        </p:sp>
        <p:sp>
          <p:nvSpPr>
            <p:cNvPr id="20" name="TextBox 20"/>
            <p:cNvSpPr txBox="1"/>
            <p:nvPr/>
          </p:nvSpPr>
          <p:spPr>
            <a:xfrm>
              <a:off x="3584258" y="2072164"/>
              <a:ext cx="1222534" cy="2590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75" dirty="0">
                  <a:solidFill>
                    <a:srgbClr val="1A2230"/>
                  </a:solidFill>
                  <a:latin typeface="Arial"/>
                  <a:ea typeface="Microsoft YaHei"/>
                  <a:cs typeface="Arial"/>
                </a:rPr>
                <a:t>拒绝授权可恢复</a:t>
              </a:r>
            </a:p>
          </p:txBody>
        </p:sp>
        <p:sp>
          <p:nvSpPr>
            <p:cNvPr id="21" name="Rectangle 21"/>
            <p:cNvSpPr/>
            <p:nvPr/>
          </p:nvSpPr>
          <p:spPr>
            <a:xfrm>
              <a:off x="6172200" y="1428750"/>
              <a:ext cx="2590800" cy="1076325"/>
            </a:xfrm>
            <a:prstGeom prst="rect">
              <a:avLst/>
            </a:prstGeom>
            <a:solidFill>
              <a:srgbClr val="F4F7FB"/>
            </a:solidFill>
            <a:ln>
              <a:noFill/>
            </a:ln>
          </p:spPr>
        </p:sp>
        <p:grpSp>
          <p:nvGrpSpPr>
            <p:cNvPr id="24" name="Group 24"/>
            <p:cNvGrpSpPr/>
            <p:nvPr/>
          </p:nvGrpSpPr>
          <p:grpSpPr>
            <a:xfrm>
              <a:off x="6369844" y="1664494"/>
              <a:ext cx="157163" cy="157163"/>
              <a:chOff x="6369844" y="1664494"/>
              <a:chExt cx="157163" cy="157163"/>
            </a:xfrm>
          </p:grpSpPr>
          <p:sp>
            <p:nvSpPr>
              <p:cNvPr id="22" name="Freeform 22"/>
              <p:cNvSpPr/>
              <p:nvPr/>
            </p:nvSpPr>
            <p:spPr>
              <a:xfrm>
                <a:off x="6369844" y="1664494"/>
                <a:ext cx="157163" cy="157163"/>
              </a:xfrm>
              <a:custGeom>
                <a:avLst/>
                <a:gdLst/>
                <a:ahLst/>
                <a:cxnLst/>
                <a:rect l="l" t="t" r="r" b="b"/>
                <a:pathLst>
                  <a:path w="157163" h="157163">
                    <a:moveTo>
                      <a:pt x="0" y="78581"/>
                    </a:moveTo>
                    <a:cubicBezTo>
                      <a:pt x="0" y="121981"/>
                      <a:pt x="35182" y="157163"/>
                      <a:pt x="78581" y="157163"/>
                    </a:cubicBezTo>
                    <a:cubicBezTo>
                      <a:pt x="121981" y="157163"/>
                      <a:pt x="157163" y="121981"/>
                      <a:pt x="157163" y="78581"/>
                    </a:cubicBezTo>
                    <a:cubicBezTo>
                      <a:pt x="157163" y="35182"/>
                      <a:pt x="121981" y="0"/>
                      <a:pt x="78581" y="0"/>
                    </a:cubicBezTo>
                    <a:cubicBezTo>
                      <a:pt x="35182" y="0"/>
                      <a:pt x="0" y="35182"/>
                      <a:pt x="0" y="78581"/>
                    </a:cubicBezTo>
                  </a:path>
                </a:pathLst>
              </a:custGeom>
              <a:noFill/>
              <a:ln w="19050">
                <a:solidFill>
                  <a:srgbClr val="2E7D32"/>
                </a:solidFill>
              </a:ln>
            </p:spPr>
          </p:sp>
          <p:sp>
            <p:nvSpPr>
              <p:cNvPr id="23" name="Freeform 23"/>
              <p:cNvSpPr/>
              <p:nvPr/>
            </p:nvSpPr>
            <p:spPr>
              <a:xfrm>
                <a:off x="6422231" y="1725613"/>
                <a:ext cx="52388" cy="34925"/>
              </a:xfrm>
              <a:custGeom>
                <a:avLst/>
                <a:gdLst/>
                <a:ahLst/>
                <a:cxnLst/>
                <a:rect l="l" t="t" r="r" b="b"/>
                <a:pathLst>
                  <a:path w="52388" h="34925">
                    <a:moveTo>
                      <a:pt x="0" y="17463"/>
                    </a:moveTo>
                    <a:lnTo>
                      <a:pt x="17463" y="34925"/>
                    </a:lnTo>
                    <a:lnTo>
                      <a:pt x="52388" y="0"/>
                    </a:lnTo>
                  </a:path>
                </a:pathLst>
              </a:custGeom>
              <a:noFill/>
              <a:ln w="19050">
                <a:solidFill>
                  <a:srgbClr val="2E7D32"/>
                </a:solidFill>
              </a:ln>
            </p:spPr>
          </p:sp>
        </p:grpSp>
        <p:sp>
          <p:nvSpPr>
            <p:cNvPr id="25" name="TextBox 25"/>
            <p:cNvSpPr txBox="1"/>
            <p:nvPr/>
          </p:nvSpPr>
          <p:spPr>
            <a:xfrm>
              <a:off x="6615112" y="1678781"/>
              <a:ext cx="201847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125" b="1" dirty="0">
                  <a:solidFill>
                    <a:srgbClr val="93A0B0"/>
                  </a:solidFill>
                  <a:latin typeface="Arial"/>
                  <a:ea typeface="Arial"/>
                  <a:cs typeface="Arial"/>
                </a:rPr>
                <a:t>03</a:t>
              </a:r>
            </a:p>
          </p:txBody>
        </p:sp>
        <p:sp>
          <p:nvSpPr>
            <p:cNvPr id="26" name="TextBox 26"/>
            <p:cNvSpPr txBox="1"/>
            <p:nvPr/>
          </p:nvSpPr>
          <p:spPr>
            <a:xfrm>
              <a:off x="6327458" y="2072164"/>
              <a:ext cx="1630585" cy="2590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75" dirty="0">
                  <a:solidFill>
                    <a:srgbClr val="1A2230"/>
                  </a:solidFill>
                  <a:latin typeface="Arial"/>
                  <a:ea typeface="Microsoft YaHei"/>
                  <a:cs typeface="Arial"/>
                </a:rPr>
                <a:t>报修建单 · SN / 地址</a:t>
              </a:r>
            </a:p>
          </p:txBody>
        </p:sp>
        <p:sp>
          <p:nvSpPr>
            <p:cNvPr id="27" name="Rectangle 27"/>
            <p:cNvSpPr/>
            <p:nvPr/>
          </p:nvSpPr>
          <p:spPr>
            <a:xfrm>
              <a:off x="8915400" y="1428750"/>
              <a:ext cx="2590800" cy="1076325"/>
            </a:xfrm>
            <a:prstGeom prst="rect">
              <a:avLst/>
            </a:prstGeom>
            <a:solidFill>
              <a:srgbClr val="F4F7FB"/>
            </a:solidFill>
            <a:ln>
              <a:noFill/>
            </a:ln>
          </p:spPr>
        </p:sp>
        <p:grpSp>
          <p:nvGrpSpPr>
            <p:cNvPr id="30" name="Group 30"/>
            <p:cNvGrpSpPr/>
            <p:nvPr/>
          </p:nvGrpSpPr>
          <p:grpSpPr>
            <a:xfrm>
              <a:off x="9113044" y="1664494"/>
              <a:ext cx="157163" cy="157163"/>
              <a:chOff x="9113044" y="1664494"/>
              <a:chExt cx="157163" cy="157163"/>
            </a:xfrm>
          </p:grpSpPr>
          <p:sp>
            <p:nvSpPr>
              <p:cNvPr id="28" name="Freeform 28"/>
              <p:cNvSpPr/>
              <p:nvPr/>
            </p:nvSpPr>
            <p:spPr>
              <a:xfrm>
                <a:off x="9113044" y="1664494"/>
                <a:ext cx="157163" cy="157163"/>
              </a:xfrm>
              <a:custGeom>
                <a:avLst/>
                <a:gdLst/>
                <a:ahLst/>
                <a:cxnLst/>
                <a:rect l="l" t="t" r="r" b="b"/>
                <a:pathLst>
                  <a:path w="157163" h="157163">
                    <a:moveTo>
                      <a:pt x="0" y="78581"/>
                    </a:moveTo>
                    <a:cubicBezTo>
                      <a:pt x="0" y="121981"/>
                      <a:pt x="35182" y="157163"/>
                      <a:pt x="78581" y="157163"/>
                    </a:cubicBezTo>
                    <a:cubicBezTo>
                      <a:pt x="121981" y="157163"/>
                      <a:pt x="157163" y="121981"/>
                      <a:pt x="157163" y="78581"/>
                    </a:cubicBezTo>
                    <a:cubicBezTo>
                      <a:pt x="157163" y="35182"/>
                      <a:pt x="121981" y="0"/>
                      <a:pt x="78581" y="0"/>
                    </a:cubicBezTo>
                    <a:cubicBezTo>
                      <a:pt x="35182" y="0"/>
                      <a:pt x="0" y="35182"/>
                      <a:pt x="0" y="78581"/>
                    </a:cubicBezTo>
                  </a:path>
                </a:pathLst>
              </a:custGeom>
              <a:noFill/>
              <a:ln w="19050">
                <a:solidFill>
                  <a:srgbClr val="2E7D32"/>
                </a:solidFill>
              </a:ln>
            </p:spPr>
          </p:sp>
          <p:sp>
            <p:nvSpPr>
              <p:cNvPr id="29" name="Freeform 29"/>
              <p:cNvSpPr/>
              <p:nvPr/>
            </p:nvSpPr>
            <p:spPr>
              <a:xfrm>
                <a:off x="9165431" y="1725613"/>
                <a:ext cx="52388" cy="34925"/>
              </a:xfrm>
              <a:custGeom>
                <a:avLst/>
                <a:gdLst/>
                <a:ahLst/>
                <a:cxnLst/>
                <a:rect l="l" t="t" r="r" b="b"/>
                <a:pathLst>
                  <a:path w="52388" h="34925">
                    <a:moveTo>
                      <a:pt x="0" y="17463"/>
                    </a:moveTo>
                    <a:lnTo>
                      <a:pt x="17463" y="34925"/>
                    </a:lnTo>
                    <a:lnTo>
                      <a:pt x="52388" y="0"/>
                    </a:lnTo>
                  </a:path>
                </a:pathLst>
              </a:custGeom>
              <a:noFill/>
              <a:ln w="19050">
                <a:solidFill>
                  <a:srgbClr val="2E7D32"/>
                </a:solidFill>
              </a:ln>
            </p:spPr>
          </p:sp>
        </p:grpSp>
        <p:sp>
          <p:nvSpPr>
            <p:cNvPr id="31" name="TextBox 31"/>
            <p:cNvSpPr txBox="1"/>
            <p:nvPr/>
          </p:nvSpPr>
          <p:spPr>
            <a:xfrm>
              <a:off x="9358312" y="1678781"/>
              <a:ext cx="201847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125" b="1" dirty="0">
                  <a:solidFill>
                    <a:srgbClr val="93A0B0"/>
                  </a:solidFill>
                  <a:latin typeface="Arial"/>
                  <a:ea typeface="Arial"/>
                  <a:cs typeface="Arial"/>
                </a:rPr>
                <a:t>04</a:t>
              </a:r>
            </a:p>
          </p:txBody>
        </p:sp>
        <p:sp>
          <p:nvSpPr>
            <p:cNvPr id="32" name="TextBox 32"/>
            <p:cNvSpPr txBox="1"/>
            <p:nvPr/>
          </p:nvSpPr>
          <p:spPr>
            <a:xfrm>
              <a:off x="9070658" y="2072164"/>
              <a:ext cx="1052513" cy="2590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75" dirty="0">
                  <a:solidFill>
                    <a:srgbClr val="1A2230"/>
                  </a:solidFill>
                  <a:latin typeface="Arial"/>
                  <a:ea typeface="Microsoft YaHei"/>
                  <a:cs typeface="Arial"/>
                </a:rPr>
                <a:t>报修上传图片</a:t>
              </a:r>
            </a:p>
          </p:txBody>
        </p:sp>
      </p:grpSp>
      <p:grpSp>
        <p:nvGrpSpPr>
          <p:cNvPr id="58" name="Group 58"/>
          <p:cNvGrpSpPr/>
          <p:nvPr/>
        </p:nvGrpSpPr>
        <p:grpSpPr>
          <a:xfrm>
            <a:off x="685800" y="2657475"/>
            <a:ext cx="10820400" cy="1076325"/>
            <a:chOff x="685800" y="2657475"/>
            <a:chExt cx="10820400" cy="1076325"/>
          </a:xfrm>
        </p:grpSpPr>
        <p:sp>
          <p:nvSpPr>
            <p:cNvPr id="34" name="Rectangle 34"/>
            <p:cNvSpPr/>
            <p:nvPr/>
          </p:nvSpPr>
          <p:spPr>
            <a:xfrm>
              <a:off x="685800" y="2657475"/>
              <a:ext cx="2590800" cy="1076325"/>
            </a:xfrm>
            <a:prstGeom prst="rect">
              <a:avLst/>
            </a:prstGeom>
            <a:solidFill>
              <a:srgbClr val="F4F7FB"/>
            </a:solidFill>
            <a:ln>
              <a:noFill/>
            </a:ln>
          </p:spPr>
        </p:sp>
        <p:grpSp>
          <p:nvGrpSpPr>
            <p:cNvPr id="37" name="Group 37"/>
            <p:cNvGrpSpPr/>
            <p:nvPr/>
          </p:nvGrpSpPr>
          <p:grpSpPr>
            <a:xfrm>
              <a:off x="883444" y="2893219"/>
              <a:ext cx="157163" cy="157163"/>
              <a:chOff x="883444" y="2893219"/>
              <a:chExt cx="157163" cy="157163"/>
            </a:xfrm>
          </p:grpSpPr>
          <p:sp>
            <p:nvSpPr>
              <p:cNvPr id="35" name="Freeform 35"/>
              <p:cNvSpPr/>
              <p:nvPr/>
            </p:nvSpPr>
            <p:spPr>
              <a:xfrm>
                <a:off x="883444" y="2893219"/>
                <a:ext cx="157163" cy="157163"/>
              </a:xfrm>
              <a:custGeom>
                <a:avLst/>
                <a:gdLst/>
                <a:ahLst/>
                <a:cxnLst/>
                <a:rect l="l" t="t" r="r" b="b"/>
                <a:pathLst>
                  <a:path w="157163" h="157163">
                    <a:moveTo>
                      <a:pt x="0" y="78581"/>
                    </a:moveTo>
                    <a:cubicBezTo>
                      <a:pt x="0" y="121981"/>
                      <a:pt x="35182" y="157163"/>
                      <a:pt x="78581" y="157163"/>
                    </a:cubicBezTo>
                    <a:cubicBezTo>
                      <a:pt x="121981" y="157163"/>
                      <a:pt x="157163" y="121981"/>
                      <a:pt x="157163" y="78581"/>
                    </a:cubicBezTo>
                    <a:cubicBezTo>
                      <a:pt x="157163" y="35182"/>
                      <a:pt x="121981" y="0"/>
                      <a:pt x="78581" y="0"/>
                    </a:cubicBezTo>
                    <a:cubicBezTo>
                      <a:pt x="35182" y="0"/>
                      <a:pt x="0" y="35182"/>
                      <a:pt x="0" y="78581"/>
                    </a:cubicBezTo>
                  </a:path>
                </a:pathLst>
              </a:custGeom>
              <a:noFill/>
              <a:ln w="19050">
                <a:solidFill>
                  <a:srgbClr val="2E7D32"/>
                </a:solidFill>
              </a:ln>
            </p:spPr>
          </p:sp>
          <p:sp>
            <p:nvSpPr>
              <p:cNvPr id="36" name="Freeform 36"/>
              <p:cNvSpPr/>
              <p:nvPr/>
            </p:nvSpPr>
            <p:spPr>
              <a:xfrm>
                <a:off x="935831" y="2954338"/>
                <a:ext cx="52388" cy="34925"/>
              </a:xfrm>
              <a:custGeom>
                <a:avLst/>
                <a:gdLst/>
                <a:ahLst/>
                <a:cxnLst/>
                <a:rect l="l" t="t" r="r" b="b"/>
                <a:pathLst>
                  <a:path w="52388" h="34925">
                    <a:moveTo>
                      <a:pt x="0" y="17463"/>
                    </a:moveTo>
                    <a:lnTo>
                      <a:pt x="17463" y="34925"/>
                    </a:lnTo>
                    <a:lnTo>
                      <a:pt x="52388" y="0"/>
                    </a:lnTo>
                  </a:path>
                </a:pathLst>
              </a:custGeom>
              <a:noFill/>
              <a:ln w="19050">
                <a:solidFill>
                  <a:srgbClr val="2E7D32"/>
                </a:solidFill>
              </a:ln>
            </p:spPr>
          </p:sp>
        </p:grpSp>
        <p:sp>
          <p:nvSpPr>
            <p:cNvPr id="38" name="TextBox 38"/>
            <p:cNvSpPr txBox="1"/>
            <p:nvPr/>
          </p:nvSpPr>
          <p:spPr>
            <a:xfrm>
              <a:off x="1128712" y="2907506"/>
              <a:ext cx="201847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125" b="1" dirty="0">
                  <a:solidFill>
                    <a:srgbClr val="93A0B0"/>
                  </a:solidFill>
                  <a:latin typeface="Arial"/>
                  <a:ea typeface="Arial"/>
                  <a:cs typeface="Arial"/>
                </a:rPr>
                <a:t>05</a:t>
              </a:r>
            </a:p>
          </p:txBody>
        </p:sp>
        <p:sp>
          <p:nvSpPr>
            <p:cNvPr id="39" name="TextBox 39"/>
            <p:cNvSpPr txBox="1"/>
            <p:nvPr/>
          </p:nvSpPr>
          <p:spPr>
            <a:xfrm>
              <a:off x="841058" y="3300889"/>
              <a:ext cx="1248037" cy="2590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75" dirty="0">
                  <a:solidFill>
                    <a:srgbClr val="1A2230"/>
                  </a:solidFill>
                  <a:latin typeface="Arial"/>
                  <a:ea typeface="Microsoft YaHei"/>
                  <a:cs typeface="Arial"/>
                </a:rPr>
                <a:t>订单进度 / 状态</a:t>
              </a:r>
            </a:p>
          </p:txBody>
        </p:sp>
        <p:sp>
          <p:nvSpPr>
            <p:cNvPr id="40" name="Rectangle 40"/>
            <p:cNvSpPr/>
            <p:nvPr/>
          </p:nvSpPr>
          <p:spPr>
            <a:xfrm>
              <a:off x="3429000" y="2657475"/>
              <a:ext cx="2590800" cy="1076325"/>
            </a:xfrm>
            <a:prstGeom prst="rect">
              <a:avLst/>
            </a:prstGeom>
            <a:solidFill>
              <a:srgbClr val="F4F7FB"/>
            </a:solidFill>
            <a:ln>
              <a:noFill/>
            </a:ln>
          </p:spPr>
        </p:sp>
        <p:grpSp>
          <p:nvGrpSpPr>
            <p:cNvPr id="43" name="Group 43"/>
            <p:cNvGrpSpPr/>
            <p:nvPr/>
          </p:nvGrpSpPr>
          <p:grpSpPr>
            <a:xfrm>
              <a:off x="3626644" y="2893219"/>
              <a:ext cx="157163" cy="157163"/>
              <a:chOff x="3626644" y="2893219"/>
              <a:chExt cx="157163" cy="157163"/>
            </a:xfrm>
          </p:grpSpPr>
          <p:sp>
            <p:nvSpPr>
              <p:cNvPr id="41" name="Freeform 41"/>
              <p:cNvSpPr/>
              <p:nvPr/>
            </p:nvSpPr>
            <p:spPr>
              <a:xfrm>
                <a:off x="3626644" y="2893219"/>
                <a:ext cx="157163" cy="157163"/>
              </a:xfrm>
              <a:custGeom>
                <a:avLst/>
                <a:gdLst/>
                <a:ahLst/>
                <a:cxnLst/>
                <a:rect l="l" t="t" r="r" b="b"/>
                <a:pathLst>
                  <a:path w="157163" h="157163">
                    <a:moveTo>
                      <a:pt x="0" y="78581"/>
                    </a:moveTo>
                    <a:cubicBezTo>
                      <a:pt x="0" y="121981"/>
                      <a:pt x="35182" y="157163"/>
                      <a:pt x="78581" y="157163"/>
                    </a:cubicBezTo>
                    <a:cubicBezTo>
                      <a:pt x="121981" y="157163"/>
                      <a:pt x="157163" y="121981"/>
                      <a:pt x="157163" y="78581"/>
                    </a:cubicBezTo>
                    <a:cubicBezTo>
                      <a:pt x="157163" y="35182"/>
                      <a:pt x="121981" y="0"/>
                      <a:pt x="78581" y="0"/>
                    </a:cubicBezTo>
                    <a:cubicBezTo>
                      <a:pt x="35182" y="0"/>
                      <a:pt x="0" y="35182"/>
                      <a:pt x="0" y="78581"/>
                    </a:cubicBezTo>
                  </a:path>
                </a:pathLst>
              </a:custGeom>
              <a:noFill/>
              <a:ln w="19050">
                <a:solidFill>
                  <a:srgbClr val="2E7D32"/>
                </a:solidFill>
              </a:ln>
            </p:spPr>
          </p:sp>
          <p:sp>
            <p:nvSpPr>
              <p:cNvPr id="42" name="Freeform 42"/>
              <p:cNvSpPr/>
              <p:nvPr/>
            </p:nvSpPr>
            <p:spPr>
              <a:xfrm>
                <a:off x="3679031" y="2954338"/>
                <a:ext cx="52388" cy="34925"/>
              </a:xfrm>
              <a:custGeom>
                <a:avLst/>
                <a:gdLst/>
                <a:ahLst/>
                <a:cxnLst/>
                <a:rect l="l" t="t" r="r" b="b"/>
                <a:pathLst>
                  <a:path w="52388" h="34925">
                    <a:moveTo>
                      <a:pt x="0" y="17463"/>
                    </a:moveTo>
                    <a:lnTo>
                      <a:pt x="17463" y="34925"/>
                    </a:lnTo>
                    <a:lnTo>
                      <a:pt x="52388" y="0"/>
                    </a:lnTo>
                  </a:path>
                </a:pathLst>
              </a:custGeom>
              <a:noFill/>
              <a:ln w="19050">
                <a:solidFill>
                  <a:srgbClr val="2E7D32"/>
                </a:solidFill>
              </a:ln>
            </p:spPr>
          </p:sp>
        </p:grpSp>
        <p:sp>
          <p:nvSpPr>
            <p:cNvPr id="44" name="TextBox 44"/>
            <p:cNvSpPr txBox="1"/>
            <p:nvPr/>
          </p:nvSpPr>
          <p:spPr>
            <a:xfrm>
              <a:off x="3871912" y="2907506"/>
              <a:ext cx="201847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125" b="1" dirty="0">
                  <a:solidFill>
                    <a:srgbClr val="93A0B0"/>
                  </a:solidFill>
                  <a:latin typeface="Arial"/>
                  <a:ea typeface="Arial"/>
                  <a:cs typeface="Arial"/>
                </a:rPr>
                <a:t>06</a:t>
              </a:r>
            </a:p>
          </p:txBody>
        </p:sp>
        <p:sp>
          <p:nvSpPr>
            <p:cNvPr id="45" name="TextBox 45"/>
            <p:cNvSpPr txBox="1"/>
            <p:nvPr/>
          </p:nvSpPr>
          <p:spPr>
            <a:xfrm>
              <a:off x="3584258" y="3300889"/>
              <a:ext cx="1248037" cy="2590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75" dirty="0">
                  <a:solidFill>
                    <a:srgbClr val="1A2230"/>
                  </a:solidFill>
                  <a:latin typeface="Arial"/>
                  <a:ea typeface="Microsoft YaHei"/>
                  <a:cs typeface="Arial"/>
                </a:rPr>
                <a:t>报价确认 / 拒绝</a:t>
              </a:r>
            </a:p>
          </p:txBody>
        </p:sp>
        <p:sp>
          <p:nvSpPr>
            <p:cNvPr id="46" name="Rectangle 46"/>
            <p:cNvSpPr/>
            <p:nvPr/>
          </p:nvSpPr>
          <p:spPr>
            <a:xfrm>
              <a:off x="6172200" y="2657475"/>
              <a:ext cx="2590800" cy="1076325"/>
            </a:xfrm>
            <a:prstGeom prst="rect">
              <a:avLst/>
            </a:prstGeom>
            <a:solidFill>
              <a:srgbClr val="F4F7FB"/>
            </a:solidFill>
            <a:ln>
              <a:noFill/>
            </a:ln>
          </p:spPr>
        </p:sp>
        <p:grpSp>
          <p:nvGrpSpPr>
            <p:cNvPr id="49" name="Group 49"/>
            <p:cNvGrpSpPr/>
            <p:nvPr/>
          </p:nvGrpSpPr>
          <p:grpSpPr>
            <a:xfrm>
              <a:off x="6369844" y="2893219"/>
              <a:ext cx="157163" cy="157163"/>
              <a:chOff x="6369844" y="2893219"/>
              <a:chExt cx="157163" cy="157163"/>
            </a:xfrm>
          </p:grpSpPr>
          <p:sp>
            <p:nvSpPr>
              <p:cNvPr id="47" name="Freeform 47"/>
              <p:cNvSpPr/>
              <p:nvPr/>
            </p:nvSpPr>
            <p:spPr>
              <a:xfrm>
                <a:off x="6369844" y="2893219"/>
                <a:ext cx="157163" cy="157163"/>
              </a:xfrm>
              <a:custGeom>
                <a:avLst/>
                <a:gdLst/>
                <a:ahLst/>
                <a:cxnLst/>
                <a:rect l="l" t="t" r="r" b="b"/>
                <a:pathLst>
                  <a:path w="157163" h="157163">
                    <a:moveTo>
                      <a:pt x="0" y="78581"/>
                    </a:moveTo>
                    <a:cubicBezTo>
                      <a:pt x="0" y="121981"/>
                      <a:pt x="35182" y="157163"/>
                      <a:pt x="78581" y="157163"/>
                    </a:cubicBezTo>
                    <a:cubicBezTo>
                      <a:pt x="121981" y="157163"/>
                      <a:pt x="157163" y="121981"/>
                      <a:pt x="157163" y="78581"/>
                    </a:cubicBezTo>
                    <a:cubicBezTo>
                      <a:pt x="157163" y="35182"/>
                      <a:pt x="121981" y="0"/>
                      <a:pt x="78581" y="0"/>
                    </a:cubicBezTo>
                    <a:cubicBezTo>
                      <a:pt x="35182" y="0"/>
                      <a:pt x="0" y="35182"/>
                      <a:pt x="0" y="78581"/>
                    </a:cubicBezTo>
                  </a:path>
                </a:pathLst>
              </a:custGeom>
              <a:noFill/>
              <a:ln w="19050">
                <a:solidFill>
                  <a:srgbClr val="2E7D32"/>
                </a:solidFill>
              </a:ln>
            </p:spPr>
          </p:sp>
          <p:sp>
            <p:nvSpPr>
              <p:cNvPr id="48" name="Freeform 48"/>
              <p:cNvSpPr/>
              <p:nvPr/>
            </p:nvSpPr>
            <p:spPr>
              <a:xfrm>
                <a:off x="6422231" y="2954338"/>
                <a:ext cx="52388" cy="34925"/>
              </a:xfrm>
              <a:custGeom>
                <a:avLst/>
                <a:gdLst/>
                <a:ahLst/>
                <a:cxnLst/>
                <a:rect l="l" t="t" r="r" b="b"/>
                <a:pathLst>
                  <a:path w="52388" h="34925">
                    <a:moveTo>
                      <a:pt x="0" y="17463"/>
                    </a:moveTo>
                    <a:lnTo>
                      <a:pt x="17463" y="34925"/>
                    </a:lnTo>
                    <a:lnTo>
                      <a:pt x="52388" y="0"/>
                    </a:lnTo>
                  </a:path>
                </a:pathLst>
              </a:custGeom>
              <a:noFill/>
              <a:ln w="19050">
                <a:solidFill>
                  <a:srgbClr val="2E7D32"/>
                </a:solidFill>
              </a:ln>
            </p:spPr>
          </p:sp>
        </p:grpSp>
        <p:sp>
          <p:nvSpPr>
            <p:cNvPr id="50" name="TextBox 50"/>
            <p:cNvSpPr txBox="1"/>
            <p:nvPr/>
          </p:nvSpPr>
          <p:spPr>
            <a:xfrm>
              <a:off x="6615112" y="2907506"/>
              <a:ext cx="201847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125" b="1" dirty="0">
                  <a:solidFill>
                    <a:srgbClr val="93A0B0"/>
                  </a:solidFill>
                  <a:latin typeface="Arial"/>
                  <a:ea typeface="Arial"/>
                  <a:cs typeface="Arial"/>
                </a:rPr>
                <a:t>07</a:t>
              </a:r>
            </a:p>
          </p:txBody>
        </p:sp>
        <p:sp>
          <p:nvSpPr>
            <p:cNvPr id="51" name="TextBox 51"/>
            <p:cNvSpPr txBox="1"/>
            <p:nvPr/>
          </p:nvSpPr>
          <p:spPr>
            <a:xfrm>
              <a:off x="6327458" y="3300889"/>
              <a:ext cx="712470" cy="2590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75" dirty="0">
                  <a:solidFill>
                    <a:srgbClr val="1A2230"/>
                  </a:solidFill>
                  <a:latin typeface="Arial"/>
                  <a:ea typeface="Microsoft YaHei"/>
                  <a:cs typeface="Arial"/>
                </a:rPr>
                <a:t>微信支付</a:t>
              </a:r>
            </a:p>
          </p:txBody>
        </p:sp>
        <p:sp>
          <p:nvSpPr>
            <p:cNvPr id="52" name="Rectangle 52"/>
            <p:cNvSpPr/>
            <p:nvPr/>
          </p:nvSpPr>
          <p:spPr>
            <a:xfrm>
              <a:off x="8915400" y="2657475"/>
              <a:ext cx="2590800" cy="1076325"/>
            </a:xfrm>
            <a:prstGeom prst="rect">
              <a:avLst/>
            </a:prstGeom>
            <a:solidFill>
              <a:srgbClr val="F4F7FB"/>
            </a:solidFill>
            <a:ln>
              <a:noFill/>
            </a:ln>
          </p:spPr>
        </p:sp>
        <p:grpSp>
          <p:nvGrpSpPr>
            <p:cNvPr id="55" name="Group 55"/>
            <p:cNvGrpSpPr/>
            <p:nvPr/>
          </p:nvGrpSpPr>
          <p:grpSpPr>
            <a:xfrm>
              <a:off x="9113044" y="2893219"/>
              <a:ext cx="157163" cy="157163"/>
              <a:chOff x="9113044" y="2893219"/>
              <a:chExt cx="157163" cy="157163"/>
            </a:xfrm>
          </p:grpSpPr>
          <p:sp>
            <p:nvSpPr>
              <p:cNvPr id="53" name="Freeform 53"/>
              <p:cNvSpPr/>
              <p:nvPr/>
            </p:nvSpPr>
            <p:spPr>
              <a:xfrm>
                <a:off x="9113044" y="2893219"/>
                <a:ext cx="157163" cy="157163"/>
              </a:xfrm>
              <a:custGeom>
                <a:avLst/>
                <a:gdLst/>
                <a:ahLst/>
                <a:cxnLst/>
                <a:rect l="l" t="t" r="r" b="b"/>
                <a:pathLst>
                  <a:path w="157163" h="157163">
                    <a:moveTo>
                      <a:pt x="0" y="78581"/>
                    </a:moveTo>
                    <a:cubicBezTo>
                      <a:pt x="0" y="121981"/>
                      <a:pt x="35182" y="157163"/>
                      <a:pt x="78581" y="157163"/>
                    </a:cubicBezTo>
                    <a:cubicBezTo>
                      <a:pt x="121981" y="157163"/>
                      <a:pt x="157163" y="121981"/>
                      <a:pt x="157163" y="78581"/>
                    </a:cubicBezTo>
                    <a:cubicBezTo>
                      <a:pt x="157163" y="35182"/>
                      <a:pt x="121981" y="0"/>
                      <a:pt x="78581" y="0"/>
                    </a:cubicBezTo>
                    <a:cubicBezTo>
                      <a:pt x="35182" y="0"/>
                      <a:pt x="0" y="35182"/>
                      <a:pt x="0" y="78581"/>
                    </a:cubicBezTo>
                  </a:path>
                </a:pathLst>
              </a:custGeom>
              <a:noFill/>
              <a:ln w="19050">
                <a:solidFill>
                  <a:srgbClr val="2E7D32"/>
                </a:solidFill>
              </a:ln>
            </p:spPr>
          </p:sp>
          <p:sp>
            <p:nvSpPr>
              <p:cNvPr id="54" name="Freeform 54"/>
              <p:cNvSpPr/>
              <p:nvPr/>
            </p:nvSpPr>
            <p:spPr>
              <a:xfrm>
                <a:off x="9165431" y="2954338"/>
                <a:ext cx="52388" cy="34925"/>
              </a:xfrm>
              <a:custGeom>
                <a:avLst/>
                <a:gdLst/>
                <a:ahLst/>
                <a:cxnLst/>
                <a:rect l="l" t="t" r="r" b="b"/>
                <a:pathLst>
                  <a:path w="52388" h="34925">
                    <a:moveTo>
                      <a:pt x="0" y="17463"/>
                    </a:moveTo>
                    <a:lnTo>
                      <a:pt x="17463" y="34925"/>
                    </a:lnTo>
                    <a:lnTo>
                      <a:pt x="52388" y="0"/>
                    </a:lnTo>
                  </a:path>
                </a:pathLst>
              </a:custGeom>
              <a:noFill/>
              <a:ln w="19050">
                <a:solidFill>
                  <a:srgbClr val="2E7D32"/>
                </a:solidFill>
              </a:ln>
            </p:spPr>
          </p:sp>
        </p:grpSp>
        <p:sp>
          <p:nvSpPr>
            <p:cNvPr id="56" name="TextBox 56"/>
            <p:cNvSpPr txBox="1"/>
            <p:nvPr/>
          </p:nvSpPr>
          <p:spPr>
            <a:xfrm>
              <a:off x="9358312" y="2907506"/>
              <a:ext cx="201847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125" b="1" dirty="0">
                  <a:solidFill>
                    <a:srgbClr val="93A0B0"/>
                  </a:solidFill>
                  <a:latin typeface="Arial"/>
                  <a:ea typeface="Arial"/>
                  <a:cs typeface="Arial"/>
                </a:rPr>
                <a:t>08</a:t>
              </a:r>
            </a:p>
          </p:txBody>
        </p:sp>
        <p:sp>
          <p:nvSpPr>
            <p:cNvPr id="57" name="TextBox 57"/>
            <p:cNvSpPr txBox="1"/>
            <p:nvPr/>
          </p:nvSpPr>
          <p:spPr>
            <a:xfrm>
              <a:off x="9070658" y="3300889"/>
              <a:ext cx="1052513" cy="2590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75" dirty="0">
                  <a:solidFill>
                    <a:srgbClr val="1A2230"/>
                  </a:solidFill>
                  <a:latin typeface="Arial"/>
                  <a:ea typeface="Microsoft YaHei"/>
                  <a:cs typeface="Arial"/>
                </a:rPr>
                <a:t>对公凭证上传</a:t>
              </a:r>
            </a:p>
          </p:txBody>
        </p:sp>
      </p:grpSp>
      <p:grpSp>
        <p:nvGrpSpPr>
          <p:cNvPr id="83" name="Group 83"/>
          <p:cNvGrpSpPr/>
          <p:nvPr/>
        </p:nvGrpSpPr>
        <p:grpSpPr>
          <a:xfrm>
            <a:off x="685800" y="3886200"/>
            <a:ext cx="10820400" cy="1076325"/>
            <a:chOff x="685800" y="3886200"/>
            <a:chExt cx="10820400" cy="1076325"/>
          </a:xfrm>
        </p:grpSpPr>
        <p:sp>
          <p:nvSpPr>
            <p:cNvPr id="59" name="Rectangle 59"/>
            <p:cNvSpPr/>
            <p:nvPr/>
          </p:nvSpPr>
          <p:spPr>
            <a:xfrm>
              <a:off x="685800" y="3886200"/>
              <a:ext cx="2590800" cy="1076325"/>
            </a:xfrm>
            <a:prstGeom prst="rect">
              <a:avLst/>
            </a:prstGeom>
            <a:solidFill>
              <a:srgbClr val="F4F7FB"/>
            </a:solidFill>
            <a:ln>
              <a:noFill/>
            </a:ln>
          </p:spPr>
        </p:sp>
        <p:grpSp>
          <p:nvGrpSpPr>
            <p:cNvPr id="62" name="Group 62"/>
            <p:cNvGrpSpPr/>
            <p:nvPr/>
          </p:nvGrpSpPr>
          <p:grpSpPr>
            <a:xfrm>
              <a:off x="883444" y="4121944"/>
              <a:ext cx="157163" cy="157163"/>
              <a:chOff x="883444" y="4121944"/>
              <a:chExt cx="157163" cy="157163"/>
            </a:xfrm>
          </p:grpSpPr>
          <p:sp>
            <p:nvSpPr>
              <p:cNvPr id="60" name="Freeform 60"/>
              <p:cNvSpPr/>
              <p:nvPr/>
            </p:nvSpPr>
            <p:spPr>
              <a:xfrm>
                <a:off x="883444" y="4121944"/>
                <a:ext cx="157163" cy="157163"/>
              </a:xfrm>
              <a:custGeom>
                <a:avLst/>
                <a:gdLst/>
                <a:ahLst/>
                <a:cxnLst/>
                <a:rect l="l" t="t" r="r" b="b"/>
                <a:pathLst>
                  <a:path w="157163" h="157163">
                    <a:moveTo>
                      <a:pt x="0" y="78581"/>
                    </a:moveTo>
                    <a:cubicBezTo>
                      <a:pt x="0" y="121981"/>
                      <a:pt x="35182" y="157163"/>
                      <a:pt x="78581" y="157163"/>
                    </a:cubicBezTo>
                    <a:cubicBezTo>
                      <a:pt x="121981" y="157163"/>
                      <a:pt x="157163" y="121981"/>
                      <a:pt x="157163" y="78581"/>
                    </a:cubicBezTo>
                    <a:cubicBezTo>
                      <a:pt x="157163" y="35182"/>
                      <a:pt x="121981" y="0"/>
                      <a:pt x="78581" y="0"/>
                    </a:cubicBezTo>
                    <a:cubicBezTo>
                      <a:pt x="35182" y="0"/>
                      <a:pt x="0" y="35182"/>
                      <a:pt x="0" y="78581"/>
                    </a:cubicBezTo>
                  </a:path>
                </a:pathLst>
              </a:custGeom>
              <a:noFill/>
              <a:ln w="19050">
                <a:solidFill>
                  <a:srgbClr val="2E7D32"/>
                </a:solidFill>
              </a:ln>
            </p:spPr>
          </p:sp>
          <p:sp>
            <p:nvSpPr>
              <p:cNvPr id="61" name="Freeform 61"/>
              <p:cNvSpPr/>
              <p:nvPr/>
            </p:nvSpPr>
            <p:spPr>
              <a:xfrm>
                <a:off x="935831" y="4183063"/>
                <a:ext cx="52388" cy="34925"/>
              </a:xfrm>
              <a:custGeom>
                <a:avLst/>
                <a:gdLst/>
                <a:ahLst/>
                <a:cxnLst/>
                <a:rect l="l" t="t" r="r" b="b"/>
                <a:pathLst>
                  <a:path w="52388" h="34925">
                    <a:moveTo>
                      <a:pt x="0" y="17463"/>
                    </a:moveTo>
                    <a:lnTo>
                      <a:pt x="17463" y="34925"/>
                    </a:lnTo>
                    <a:lnTo>
                      <a:pt x="52388" y="0"/>
                    </a:lnTo>
                  </a:path>
                </a:pathLst>
              </a:custGeom>
              <a:noFill/>
              <a:ln w="19050">
                <a:solidFill>
                  <a:srgbClr val="2E7D32"/>
                </a:solidFill>
              </a:ln>
            </p:spPr>
          </p:sp>
        </p:grpSp>
        <p:sp>
          <p:nvSpPr>
            <p:cNvPr id="63" name="TextBox 63"/>
            <p:cNvSpPr txBox="1"/>
            <p:nvPr/>
          </p:nvSpPr>
          <p:spPr>
            <a:xfrm>
              <a:off x="1128712" y="4136231"/>
              <a:ext cx="201847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125" b="1" dirty="0">
                  <a:solidFill>
                    <a:srgbClr val="93A0B0"/>
                  </a:solidFill>
                  <a:latin typeface="Arial"/>
                  <a:ea typeface="Arial"/>
                  <a:cs typeface="Arial"/>
                </a:rPr>
                <a:t>09</a:t>
              </a:r>
            </a:p>
          </p:txBody>
        </p:sp>
        <p:sp>
          <p:nvSpPr>
            <p:cNvPr id="64" name="TextBox 64"/>
            <p:cNvSpPr txBox="1"/>
            <p:nvPr/>
          </p:nvSpPr>
          <p:spPr>
            <a:xfrm>
              <a:off x="841058" y="4529614"/>
              <a:ext cx="712470" cy="2590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75" dirty="0">
                  <a:solidFill>
                    <a:srgbClr val="1A2230"/>
                  </a:solidFill>
                  <a:latin typeface="Arial"/>
                  <a:ea typeface="Microsoft YaHei"/>
                  <a:cs typeface="Arial"/>
                </a:rPr>
                <a:t>发票申请</a:t>
              </a:r>
            </a:p>
          </p:txBody>
        </p:sp>
        <p:sp>
          <p:nvSpPr>
            <p:cNvPr id="65" name="Rectangle 65"/>
            <p:cNvSpPr/>
            <p:nvPr/>
          </p:nvSpPr>
          <p:spPr>
            <a:xfrm>
              <a:off x="3429000" y="3886200"/>
              <a:ext cx="2590800" cy="1076325"/>
            </a:xfrm>
            <a:prstGeom prst="rect">
              <a:avLst/>
            </a:prstGeom>
            <a:solidFill>
              <a:srgbClr val="F4F7FB"/>
            </a:solidFill>
            <a:ln>
              <a:noFill/>
            </a:ln>
          </p:spPr>
        </p:sp>
        <p:grpSp>
          <p:nvGrpSpPr>
            <p:cNvPr id="68" name="Group 68"/>
            <p:cNvGrpSpPr/>
            <p:nvPr/>
          </p:nvGrpSpPr>
          <p:grpSpPr>
            <a:xfrm>
              <a:off x="3626644" y="4121944"/>
              <a:ext cx="157163" cy="157163"/>
              <a:chOff x="3626644" y="4121944"/>
              <a:chExt cx="157163" cy="157163"/>
            </a:xfrm>
          </p:grpSpPr>
          <p:sp>
            <p:nvSpPr>
              <p:cNvPr id="66" name="Freeform 66"/>
              <p:cNvSpPr/>
              <p:nvPr/>
            </p:nvSpPr>
            <p:spPr>
              <a:xfrm>
                <a:off x="3626644" y="4121944"/>
                <a:ext cx="157163" cy="157163"/>
              </a:xfrm>
              <a:custGeom>
                <a:avLst/>
                <a:gdLst/>
                <a:ahLst/>
                <a:cxnLst/>
                <a:rect l="l" t="t" r="r" b="b"/>
                <a:pathLst>
                  <a:path w="157163" h="157163">
                    <a:moveTo>
                      <a:pt x="0" y="78581"/>
                    </a:moveTo>
                    <a:cubicBezTo>
                      <a:pt x="0" y="121981"/>
                      <a:pt x="35182" y="157163"/>
                      <a:pt x="78581" y="157163"/>
                    </a:cubicBezTo>
                    <a:cubicBezTo>
                      <a:pt x="121981" y="157163"/>
                      <a:pt x="157163" y="121981"/>
                      <a:pt x="157163" y="78581"/>
                    </a:cubicBezTo>
                    <a:cubicBezTo>
                      <a:pt x="157163" y="35182"/>
                      <a:pt x="121981" y="0"/>
                      <a:pt x="78581" y="0"/>
                    </a:cubicBezTo>
                    <a:cubicBezTo>
                      <a:pt x="35182" y="0"/>
                      <a:pt x="0" y="35182"/>
                      <a:pt x="0" y="78581"/>
                    </a:cubicBezTo>
                  </a:path>
                </a:pathLst>
              </a:custGeom>
              <a:noFill/>
              <a:ln w="19050">
                <a:solidFill>
                  <a:srgbClr val="2E7D32"/>
                </a:solidFill>
              </a:ln>
            </p:spPr>
          </p:sp>
          <p:sp>
            <p:nvSpPr>
              <p:cNvPr id="67" name="Freeform 67"/>
              <p:cNvSpPr/>
              <p:nvPr/>
            </p:nvSpPr>
            <p:spPr>
              <a:xfrm>
                <a:off x="3679031" y="4183063"/>
                <a:ext cx="52388" cy="34925"/>
              </a:xfrm>
              <a:custGeom>
                <a:avLst/>
                <a:gdLst/>
                <a:ahLst/>
                <a:cxnLst/>
                <a:rect l="l" t="t" r="r" b="b"/>
                <a:pathLst>
                  <a:path w="52388" h="34925">
                    <a:moveTo>
                      <a:pt x="0" y="17463"/>
                    </a:moveTo>
                    <a:lnTo>
                      <a:pt x="17463" y="34925"/>
                    </a:lnTo>
                    <a:lnTo>
                      <a:pt x="52388" y="0"/>
                    </a:lnTo>
                  </a:path>
                </a:pathLst>
              </a:custGeom>
              <a:noFill/>
              <a:ln w="19050">
                <a:solidFill>
                  <a:srgbClr val="2E7D32"/>
                </a:solidFill>
              </a:ln>
            </p:spPr>
          </p:sp>
        </p:grpSp>
        <p:sp>
          <p:nvSpPr>
            <p:cNvPr id="69" name="TextBox 69"/>
            <p:cNvSpPr txBox="1"/>
            <p:nvPr/>
          </p:nvSpPr>
          <p:spPr>
            <a:xfrm>
              <a:off x="3871912" y="4136231"/>
              <a:ext cx="201847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125" b="1" dirty="0">
                  <a:solidFill>
                    <a:srgbClr val="93A0B0"/>
                  </a:solidFill>
                  <a:latin typeface="Arial"/>
                  <a:ea typeface="Arial"/>
                  <a:cs typeface="Arial"/>
                </a:rPr>
                <a:t>10</a:t>
              </a:r>
            </a:p>
          </p:txBody>
        </p:sp>
        <p:sp>
          <p:nvSpPr>
            <p:cNvPr id="70" name="TextBox 70"/>
            <p:cNvSpPr txBox="1"/>
            <p:nvPr/>
          </p:nvSpPr>
          <p:spPr>
            <a:xfrm>
              <a:off x="3584258" y="4529614"/>
              <a:ext cx="712470" cy="2590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75" dirty="0">
                  <a:solidFill>
                    <a:srgbClr val="1A2230"/>
                  </a:solidFill>
                  <a:latin typeface="Arial"/>
                  <a:ea typeface="Microsoft YaHei"/>
                  <a:cs typeface="Arial"/>
                </a:rPr>
                <a:t>确认收货</a:t>
              </a:r>
            </a:p>
          </p:txBody>
        </p:sp>
        <p:sp>
          <p:nvSpPr>
            <p:cNvPr id="71" name="Rectangle 71"/>
            <p:cNvSpPr/>
            <p:nvPr/>
          </p:nvSpPr>
          <p:spPr>
            <a:xfrm>
              <a:off x="6172200" y="3886200"/>
              <a:ext cx="2590800" cy="1076325"/>
            </a:xfrm>
            <a:prstGeom prst="rect">
              <a:avLst/>
            </a:prstGeom>
            <a:solidFill>
              <a:srgbClr val="F4F7FB"/>
            </a:solidFill>
            <a:ln>
              <a:noFill/>
            </a:ln>
          </p:spPr>
        </p:sp>
        <p:grpSp>
          <p:nvGrpSpPr>
            <p:cNvPr id="74" name="Group 74"/>
            <p:cNvGrpSpPr/>
            <p:nvPr/>
          </p:nvGrpSpPr>
          <p:grpSpPr>
            <a:xfrm>
              <a:off x="6369844" y="4121944"/>
              <a:ext cx="157163" cy="157163"/>
              <a:chOff x="6369844" y="4121944"/>
              <a:chExt cx="157163" cy="157163"/>
            </a:xfrm>
          </p:grpSpPr>
          <p:sp>
            <p:nvSpPr>
              <p:cNvPr id="72" name="Freeform 72"/>
              <p:cNvSpPr/>
              <p:nvPr/>
            </p:nvSpPr>
            <p:spPr>
              <a:xfrm>
                <a:off x="6369844" y="4121944"/>
                <a:ext cx="157163" cy="157163"/>
              </a:xfrm>
              <a:custGeom>
                <a:avLst/>
                <a:gdLst/>
                <a:ahLst/>
                <a:cxnLst/>
                <a:rect l="l" t="t" r="r" b="b"/>
                <a:pathLst>
                  <a:path w="157163" h="157163">
                    <a:moveTo>
                      <a:pt x="0" y="78581"/>
                    </a:moveTo>
                    <a:cubicBezTo>
                      <a:pt x="0" y="121981"/>
                      <a:pt x="35182" y="157163"/>
                      <a:pt x="78581" y="157163"/>
                    </a:cubicBezTo>
                    <a:cubicBezTo>
                      <a:pt x="121981" y="157163"/>
                      <a:pt x="157163" y="121981"/>
                      <a:pt x="157163" y="78581"/>
                    </a:cubicBezTo>
                    <a:cubicBezTo>
                      <a:pt x="157163" y="35182"/>
                      <a:pt x="121981" y="0"/>
                      <a:pt x="78581" y="0"/>
                    </a:cubicBezTo>
                    <a:cubicBezTo>
                      <a:pt x="35182" y="0"/>
                      <a:pt x="0" y="35182"/>
                      <a:pt x="0" y="78581"/>
                    </a:cubicBezTo>
                  </a:path>
                </a:pathLst>
              </a:custGeom>
              <a:noFill/>
              <a:ln w="19050">
                <a:solidFill>
                  <a:srgbClr val="2E7D32"/>
                </a:solidFill>
              </a:ln>
            </p:spPr>
          </p:sp>
          <p:sp>
            <p:nvSpPr>
              <p:cNvPr id="73" name="Freeform 73"/>
              <p:cNvSpPr/>
              <p:nvPr/>
            </p:nvSpPr>
            <p:spPr>
              <a:xfrm>
                <a:off x="6422231" y="4183063"/>
                <a:ext cx="52388" cy="34925"/>
              </a:xfrm>
              <a:custGeom>
                <a:avLst/>
                <a:gdLst/>
                <a:ahLst/>
                <a:cxnLst/>
                <a:rect l="l" t="t" r="r" b="b"/>
                <a:pathLst>
                  <a:path w="52388" h="34925">
                    <a:moveTo>
                      <a:pt x="0" y="17463"/>
                    </a:moveTo>
                    <a:lnTo>
                      <a:pt x="17463" y="34925"/>
                    </a:lnTo>
                    <a:lnTo>
                      <a:pt x="52388" y="0"/>
                    </a:lnTo>
                  </a:path>
                </a:pathLst>
              </a:custGeom>
              <a:noFill/>
              <a:ln w="19050">
                <a:solidFill>
                  <a:srgbClr val="2E7D32"/>
                </a:solidFill>
              </a:ln>
            </p:spPr>
          </p:sp>
        </p:grpSp>
        <p:sp>
          <p:nvSpPr>
            <p:cNvPr id="75" name="TextBox 75"/>
            <p:cNvSpPr txBox="1"/>
            <p:nvPr/>
          </p:nvSpPr>
          <p:spPr>
            <a:xfrm>
              <a:off x="6615112" y="4136231"/>
              <a:ext cx="201847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125" b="1" dirty="0">
                  <a:solidFill>
                    <a:srgbClr val="93A0B0"/>
                  </a:solidFill>
                  <a:latin typeface="Arial"/>
                  <a:ea typeface="Arial"/>
                  <a:cs typeface="Arial"/>
                </a:rPr>
                <a:t>11</a:t>
              </a:r>
            </a:p>
          </p:txBody>
        </p:sp>
        <p:sp>
          <p:nvSpPr>
            <p:cNvPr id="76" name="TextBox 76"/>
            <p:cNvSpPr txBox="1"/>
            <p:nvPr/>
          </p:nvSpPr>
          <p:spPr>
            <a:xfrm>
              <a:off x="6327458" y="4529614"/>
              <a:ext cx="907994" cy="2590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75" dirty="0">
                  <a:solidFill>
                    <a:srgbClr val="1A2230"/>
                  </a:solidFill>
                  <a:latin typeface="Arial"/>
                  <a:ea typeface="Microsoft YaHei"/>
                  <a:cs typeface="Arial"/>
                </a:rPr>
                <a:t>评价 / 回访</a:t>
              </a:r>
            </a:p>
          </p:txBody>
        </p:sp>
        <p:sp>
          <p:nvSpPr>
            <p:cNvPr id="77" name="Rectangle 77"/>
            <p:cNvSpPr/>
            <p:nvPr/>
          </p:nvSpPr>
          <p:spPr>
            <a:xfrm>
              <a:off x="8915400" y="3886200"/>
              <a:ext cx="2590800" cy="1076325"/>
            </a:xfrm>
            <a:prstGeom prst="rect">
              <a:avLst/>
            </a:prstGeom>
            <a:solidFill>
              <a:srgbClr val="F4F7FB"/>
            </a:solidFill>
            <a:ln>
              <a:noFill/>
            </a:ln>
          </p:spPr>
        </p:sp>
        <p:grpSp>
          <p:nvGrpSpPr>
            <p:cNvPr id="80" name="Group 80"/>
            <p:cNvGrpSpPr/>
            <p:nvPr/>
          </p:nvGrpSpPr>
          <p:grpSpPr>
            <a:xfrm>
              <a:off x="9113044" y="4121944"/>
              <a:ext cx="157163" cy="157163"/>
              <a:chOff x="9113044" y="4121944"/>
              <a:chExt cx="157163" cy="157163"/>
            </a:xfrm>
          </p:grpSpPr>
          <p:sp>
            <p:nvSpPr>
              <p:cNvPr id="78" name="Freeform 78"/>
              <p:cNvSpPr/>
              <p:nvPr/>
            </p:nvSpPr>
            <p:spPr>
              <a:xfrm>
                <a:off x="9113044" y="4121944"/>
                <a:ext cx="157163" cy="157163"/>
              </a:xfrm>
              <a:custGeom>
                <a:avLst/>
                <a:gdLst/>
                <a:ahLst/>
                <a:cxnLst/>
                <a:rect l="l" t="t" r="r" b="b"/>
                <a:pathLst>
                  <a:path w="157163" h="157163">
                    <a:moveTo>
                      <a:pt x="0" y="78581"/>
                    </a:moveTo>
                    <a:cubicBezTo>
                      <a:pt x="0" y="121981"/>
                      <a:pt x="35182" y="157163"/>
                      <a:pt x="78581" y="157163"/>
                    </a:cubicBezTo>
                    <a:cubicBezTo>
                      <a:pt x="121981" y="157163"/>
                      <a:pt x="157163" y="121981"/>
                      <a:pt x="157163" y="78581"/>
                    </a:cubicBezTo>
                    <a:cubicBezTo>
                      <a:pt x="157163" y="35182"/>
                      <a:pt x="121981" y="0"/>
                      <a:pt x="78581" y="0"/>
                    </a:cubicBezTo>
                    <a:cubicBezTo>
                      <a:pt x="35182" y="0"/>
                      <a:pt x="0" y="35182"/>
                      <a:pt x="0" y="78581"/>
                    </a:cubicBezTo>
                  </a:path>
                </a:pathLst>
              </a:custGeom>
              <a:noFill/>
              <a:ln w="19050">
                <a:solidFill>
                  <a:srgbClr val="2E7D32"/>
                </a:solidFill>
              </a:ln>
            </p:spPr>
          </p:sp>
          <p:sp>
            <p:nvSpPr>
              <p:cNvPr id="79" name="Freeform 79"/>
              <p:cNvSpPr/>
              <p:nvPr/>
            </p:nvSpPr>
            <p:spPr>
              <a:xfrm>
                <a:off x="9165431" y="4183063"/>
                <a:ext cx="52388" cy="34925"/>
              </a:xfrm>
              <a:custGeom>
                <a:avLst/>
                <a:gdLst/>
                <a:ahLst/>
                <a:cxnLst/>
                <a:rect l="l" t="t" r="r" b="b"/>
                <a:pathLst>
                  <a:path w="52388" h="34925">
                    <a:moveTo>
                      <a:pt x="0" y="17463"/>
                    </a:moveTo>
                    <a:lnTo>
                      <a:pt x="17463" y="34925"/>
                    </a:lnTo>
                    <a:lnTo>
                      <a:pt x="52388" y="0"/>
                    </a:lnTo>
                  </a:path>
                </a:pathLst>
              </a:custGeom>
              <a:noFill/>
              <a:ln w="19050">
                <a:solidFill>
                  <a:srgbClr val="2E7D32"/>
                </a:solidFill>
              </a:ln>
            </p:spPr>
          </p:sp>
        </p:grpSp>
        <p:sp>
          <p:nvSpPr>
            <p:cNvPr id="81" name="TextBox 81"/>
            <p:cNvSpPr txBox="1"/>
            <p:nvPr/>
          </p:nvSpPr>
          <p:spPr>
            <a:xfrm>
              <a:off x="9358312" y="4136231"/>
              <a:ext cx="201847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125" b="1" dirty="0">
                  <a:solidFill>
                    <a:srgbClr val="93A0B0"/>
                  </a:solidFill>
                  <a:latin typeface="Arial"/>
                  <a:ea typeface="Arial"/>
                  <a:cs typeface="Arial"/>
                </a:rPr>
                <a:t>12</a:t>
              </a:r>
            </a:p>
          </p:txBody>
        </p:sp>
        <p:sp>
          <p:nvSpPr>
            <p:cNvPr id="82" name="TextBox 82"/>
            <p:cNvSpPr txBox="1"/>
            <p:nvPr/>
          </p:nvSpPr>
          <p:spPr>
            <a:xfrm>
              <a:off x="9070658" y="4529614"/>
              <a:ext cx="907994" cy="2590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75" dirty="0">
                  <a:solidFill>
                    <a:srgbClr val="1A2230"/>
                  </a:solidFill>
                  <a:latin typeface="Arial"/>
                  <a:ea typeface="Microsoft YaHei"/>
                  <a:cs typeface="Arial"/>
                </a:rPr>
                <a:t>投诉 / 建议</a:t>
              </a:r>
            </a:p>
          </p:txBody>
        </p:sp>
      </p:grpSp>
      <p:grpSp>
        <p:nvGrpSpPr>
          <p:cNvPr id="108" name="Group 108"/>
          <p:cNvGrpSpPr/>
          <p:nvPr/>
        </p:nvGrpSpPr>
        <p:grpSpPr>
          <a:xfrm>
            <a:off x="685800" y="5114925"/>
            <a:ext cx="10820400" cy="1076325"/>
            <a:chOff x="685800" y="5114925"/>
            <a:chExt cx="10820400" cy="1076325"/>
          </a:xfrm>
        </p:grpSpPr>
        <p:sp>
          <p:nvSpPr>
            <p:cNvPr id="84" name="Rectangle 84"/>
            <p:cNvSpPr/>
            <p:nvPr/>
          </p:nvSpPr>
          <p:spPr>
            <a:xfrm>
              <a:off x="685800" y="5114925"/>
              <a:ext cx="2590800" cy="1076325"/>
            </a:xfrm>
            <a:prstGeom prst="rect">
              <a:avLst/>
            </a:prstGeom>
            <a:solidFill>
              <a:srgbClr val="F4F7FB"/>
            </a:solidFill>
            <a:ln>
              <a:noFill/>
            </a:ln>
          </p:spPr>
        </p:sp>
        <p:grpSp>
          <p:nvGrpSpPr>
            <p:cNvPr id="87" name="Group 87"/>
            <p:cNvGrpSpPr/>
            <p:nvPr/>
          </p:nvGrpSpPr>
          <p:grpSpPr>
            <a:xfrm>
              <a:off x="883444" y="5350669"/>
              <a:ext cx="157163" cy="157163"/>
              <a:chOff x="883444" y="5350669"/>
              <a:chExt cx="157163" cy="157163"/>
            </a:xfrm>
          </p:grpSpPr>
          <p:sp>
            <p:nvSpPr>
              <p:cNvPr id="85" name="Freeform 85"/>
              <p:cNvSpPr/>
              <p:nvPr/>
            </p:nvSpPr>
            <p:spPr>
              <a:xfrm>
                <a:off x="883444" y="5350669"/>
                <a:ext cx="157163" cy="157163"/>
              </a:xfrm>
              <a:custGeom>
                <a:avLst/>
                <a:gdLst/>
                <a:ahLst/>
                <a:cxnLst/>
                <a:rect l="l" t="t" r="r" b="b"/>
                <a:pathLst>
                  <a:path w="157163" h="157163">
                    <a:moveTo>
                      <a:pt x="0" y="78581"/>
                    </a:moveTo>
                    <a:cubicBezTo>
                      <a:pt x="0" y="121981"/>
                      <a:pt x="35182" y="157163"/>
                      <a:pt x="78581" y="157163"/>
                    </a:cubicBezTo>
                    <a:cubicBezTo>
                      <a:pt x="121981" y="157163"/>
                      <a:pt x="157163" y="121981"/>
                      <a:pt x="157163" y="78581"/>
                    </a:cubicBezTo>
                    <a:cubicBezTo>
                      <a:pt x="157163" y="35182"/>
                      <a:pt x="121981" y="0"/>
                      <a:pt x="78581" y="0"/>
                    </a:cubicBezTo>
                    <a:cubicBezTo>
                      <a:pt x="35182" y="0"/>
                      <a:pt x="0" y="35182"/>
                      <a:pt x="0" y="78581"/>
                    </a:cubicBezTo>
                  </a:path>
                </a:pathLst>
              </a:custGeom>
              <a:noFill/>
              <a:ln w="19050">
                <a:solidFill>
                  <a:srgbClr val="2E7D32"/>
                </a:solidFill>
              </a:ln>
            </p:spPr>
          </p:sp>
          <p:sp>
            <p:nvSpPr>
              <p:cNvPr id="86" name="Freeform 86"/>
              <p:cNvSpPr/>
              <p:nvPr/>
            </p:nvSpPr>
            <p:spPr>
              <a:xfrm>
                <a:off x="935831" y="5411788"/>
                <a:ext cx="52388" cy="34925"/>
              </a:xfrm>
              <a:custGeom>
                <a:avLst/>
                <a:gdLst/>
                <a:ahLst/>
                <a:cxnLst/>
                <a:rect l="l" t="t" r="r" b="b"/>
                <a:pathLst>
                  <a:path w="52388" h="34925">
                    <a:moveTo>
                      <a:pt x="0" y="17463"/>
                    </a:moveTo>
                    <a:lnTo>
                      <a:pt x="17463" y="34925"/>
                    </a:lnTo>
                    <a:lnTo>
                      <a:pt x="52388" y="0"/>
                    </a:lnTo>
                  </a:path>
                </a:pathLst>
              </a:custGeom>
              <a:noFill/>
              <a:ln w="19050">
                <a:solidFill>
                  <a:srgbClr val="2E7D32"/>
                </a:solidFill>
              </a:ln>
            </p:spPr>
          </p:sp>
        </p:grpSp>
        <p:sp>
          <p:nvSpPr>
            <p:cNvPr id="88" name="TextBox 88"/>
            <p:cNvSpPr txBox="1"/>
            <p:nvPr/>
          </p:nvSpPr>
          <p:spPr>
            <a:xfrm>
              <a:off x="1128712" y="5364956"/>
              <a:ext cx="201847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125" b="1" dirty="0">
                  <a:solidFill>
                    <a:srgbClr val="93A0B0"/>
                  </a:solidFill>
                  <a:latin typeface="Arial"/>
                  <a:ea typeface="Arial"/>
                  <a:cs typeface="Arial"/>
                </a:rPr>
                <a:t>13</a:t>
              </a:r>
            </a:p>
          </p:txBody>
        </p:sp>
        <p:sp>
          <p:nvSpPr>
            <p:cNvPr id="89" name="TextBox 89"/>
            <p:cNvSpPr txBox="1"/>
            <p:nvPr/>
          </p:nvSpPr>
          <p:spPr>
            <a:xfrm>
              <a:off x="841058" y="5758339"/>
              <a:ext cx="1052513" cy="2590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75" dirty="0">
                  <a:solidFill>
                    <a:srgbClr val="1A2230"/>
                  </a:solidFill>
                  <a:latin typeface="Arial"/>
                  <a:ea typeface="Microsoft YaHei"/>
                  <a:cs typeface="Arial"/>
                </a:rPr>
                <a:t>订阅消息授权</a:t>
              </a:r>
            </a:p>
          </p:txBody>
        </p:sp>
        <p:sp>
          <p:nvSpPr>
            <p:cNvPr id="90" name="Rectangle 90"/>
            <p:cNvSpPr/>
            <p:nvPr/>
          </p:nvSpPr>
          <p:spPr>
            <a:xfrm>
              <a:off x="3429000" y="5114925"/>
              <a:ext cx="2590800" cy="1076325"/>
            </a:xfrm>
            <a:prstGeom prst="rect">
              <a:avLst/>
            </a:prstGeom>
            <a:solidFill>
              <a:srgbClr val="F4F7FB"/>
            </a:solidFill>
            <a:ln>
              <a:noFill/>
            </a:ln>
          </p:spPr>
        </p:sp>
        <p:grpSp>
          <p:nvGrpSpPr>
            <p:cNvPr id="93" name="Group 93"/>
            <p:cNvGrpSpPr/>
            <p:nvPr/>
          </p:nvGrpSpPr>
          <p:grpSpPr>
            <a:xfrm>
              <a:off x="3626644" y="5350669"/>
              <a:ext cx="157163" cy="157163"/>
              <a:chOff x="3626644" y="5350669"/>
              <a:chExt cx="157163" cy="157163"/>
            </a:xfrm>
          </p:grpSpPr>
          <p:sp>
            <p:nvSpPr>
              <p:cNvPr id="91" name="Freeform 91"/>
              <p:cNvSpPr/>
              <p:nvPr/>
            </p:nvSpPr>
            <p:spPr>
              <a:xfrm>
                <a:off x="3626644" y="5350669"/>
                <a:ext cx="157163" cy="157163"/>
              </a:xfrm>
              <a:custGeom>
                <a:avLst/>
                <a:gdLst/>
                <a:ahLst/>
                <a:cxnLst/>
                <a:rect l="l" t="t" r="r" b="b"/>
                <a:pathLst>
                  <a:path w="157163" h="157163">
                    <a:moveTo>
                      <a:pt x="0" y="78581"/>
                    </a:moveTo>
                    <a:cubicBezTo>
                      <a:pt x="0" y="121981"/>
                      <a:pt x="35182" y="157163"/>
                      <a:pt x="78581" y="157163"/>
                    </a:cubicBezTo>
                    <a:cubicBezTo>
                      <a:pt x="121981" y="157163"/>
                      <a:pt x="157163" y="121981"/>
                      <a:pt x="157163" y="78581"/>
                    </a:cubicBezTo>
                    <a:cubicBezTo>
                      <a:pt x="157163" y="35182"/>
                      <a:pt x="121981" y="0"/>
                      <a:pt x="78581" y="0"/>
                    </a:cubicBezTo>
                    <a:cubicBezTo>
                      <a:pt x="35182" y="0"/>
                      <a:pt x="0" y="35182"/>
                      <a:pt x="0" y="78581"/>
                    </a:cubicBezTo>
                  </a:path>
                </a:pathLst>
              </a:custGeom>
              <a:noFill/>
              <a:ln w="19050">
                <a:solidFill>
                  <a:srgbClr val="2E7D32"/>
                </a:solidFill>
              </a:ln>
            </p:spPr>
          </p:sp>
          <p:sp>
            <p:nvSpPr>
              <p:cNvPr id="92" name="Freeform 92"/>
              <p:cNvSpPr/>
              <p:nvPr/>
            </p:nvSpPr>
            <p:spPr>
              <a:xfrm>
                <a:off x="3679031" y="5411788"/>
                <a:ext cx="52388" cy="34925"/>
              </a:xfrm>
              <a:custGeom>
                <a:avLst/>
                <a:gdLst/>
                <a:ahLst/>
                <a:cxnLst/>
                <a:rect l="l" t="t" r="r" b="b"/>
                <a:pathLst>
                  <a:path w="52388" h="34925">
                    <a:moveTo>
                      <a:pt x="0" y="17463"/>
                    </a:moveTo>
                    <a:lnTo>
                      <a:pt x="17463" y="34925"/>
                    </a:lnTo>
                    <a:lnTo>
                      <a:pt x="52388" y="0"/>
                    </a:lnTo>
                  </a:path>
                </a:pathLst>
              </a:custGeom>
              <a:noFill/>
              <a:ln w="19050">
                <a:solidFill>
                  <a:srgbClr val="2E7D32"/>
                </a:solidFill>
              </a:ln>
            </p:spPr>
          </p:sp>
        </p:grpSp>
        <p:sp>
          <p:nvSpPr>
            <p:cNvPr id="94" name="TextBox 94"/>
            <p:cNvSpPr txBox="1"/>
            <p:nvPr/>
          </p:nvSpPr>
          <p:spPr>
            <a:xfrm>
              <a:off x="3871912" y="5364956"/>
              <a:ext cx="201847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125" b="1" dirty="0">
                  <a:solidFill>
                    <a:srgbClr val="93A0B0"/>
                  </a:solidFill>
                  <a:latin typeface="Arial"/>
                  <a:ea typeface="Arial"/>
                  <a:cs typeface="Arial"/>
                </a:rPr>
                <a:t>14</a:t>
              </a:r>
            </a:p>
          </p:txBody>
        </p:sp>
        <p:sp>
          <p:nvSpPr>
            <p:cNvPr id="95" name="TextBox 95"/>
            <p:cNvSpPr txBox="1"/>
            <p:nvPr/>
          </p:nvSpPr>
          <p:spPr>
            <a:xfrm>
              <a:off x="3584258" y="5758339"/>
              <a:ext cx="882491" cy="2590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75" dirty="0">
                  <a:solidFill>
                    <a:srgbClr val="1A2230"/>
                  </a:solidFill>
                  <a:latin typeface="Arial"/>
                  <a:ea typeface="Microsoft YaHei"/>
                  <a:cs typeface="Arial"/>
                </a:rPr>
                <a:t>设备档案页</a:t>
              </a:r>
            </a:p>
          </p:txBody>
        </p:sp>
        <p:sp>
          <p:nvSpPr>
            <p:cNvPr id="96" name="Rectangle 96"/>
            <p:cNvSpPr/>
            <p:nvPr/>
          </p:nvSpPr>
          <p:spPr>
            <a:xfrm>
              <a:off x="6172200" y="5114925"/>
              <a:ext cx="2590800" cy="1076325"/>
            </a:xfrm>
            <a:prstGeom prst="rect">
              <a:avLst/>
            </a:prstGeom>
            <a:solidFill>
              <a:srgbClr val="F4F7FB"/>
            </a:solidFill>
            <a:ln>
              <a:noFill/>
            </a:ln>
          </p:spPr>
        </p:sp>
        <p:grpSp>
          <p:nvGrpSpPr>
            <p:cNvPr id="99" name="Group 99"/>
            <p:cNvGrpSpPr/>
            <p:nvPr/>
          </p:nvGrpSpPr>
          <p:grpSpPr>
            <a:xfrm>
              <a:off x="6369844" y="5350669"/>
              <a:ext cx="157163" cy="157163"/>
              <a:chOff x="6369844" y="5350669"/>
              <a:chExt cx="157163" cy="157163"/>
            </a:xfrm>
          </p:grpSpPr>
          <p:sp>
            <p:nvSpPr>
              <p:cNvPr id="97" name="Freeform 97"/>
              <p:cNvSpPr/>
              <p:nvPr/>
            </p:nvSpPr>
            <p:spPr>
              <a:xfrm>
                <a:off x="6369844" y="5350669"/>
                <a:ext cx="157163" cy="157163"/>
              </a:xfrm>
              <a:custGeom>
                <a:avLst/>
                <a:gdLst/>
                <a:ahLst/>
                <a:cxnLst/>
                <a:rect l="l" t="t" r="r" b="b"/>
                <a:pathLst>
                  <a:path w="157163" h="157163">
                    <a:moveTo>
                      <a:pt x="0" y="78581"/>
                    </a:moveTo>
                    <a:cubicBezTo>
                      <a:pt x="0" y="121981"/>
                      <a:pt x="35182" y="157163"/>
                      <a:pt x="78581" y="157163"/>
                    </a:cubicBezTo>
                    <a:cubicBezTo>
                      <a:pt x="121981" y="157163"/>
                      <a:pt x="157163" y="121981"/>
                      <a:pt x="157163" y="78581"/>
                    </a:cubicBezTo>
                    <a:cubicBezTo>
                      <a:pt x="157163" y="35182"/>
                      <a:pt x="121981" y="0"/>
                      <a:pt x="78581" y="0"/>
                    </a:cubicBezTo>
                    <a:cubicBezTo>
                      <a:pt x="35182" y="0"/>
                      <a:pt x="0" y="35182"/>
                      <a:pt x="0" y="78581"/>
                    </a:cubicBezTo>
                  </a:path>
                </a:pathLst>
              </a:custGeom>
              <a:noFill/>
              <a:ln w="19050">
                <a:solidFill>
                  <a:srgbClr val="2E7D32"/>
                </a:solidFill>
              </a:ln>
            </p:spPr>
          </p:sp>
          <p:sp>
            <p:nvSpPr>
              <p:cNvPr id="98" name="Freeform 98"/>
              <p:cNvSpPr/>
              <p:nvPr/>
            </p:nvSpPr>
            <p:spPr>
              <a:xfrm>
                <a:off x="6422231" y="5411788"/>
                <a:ext cx="52388" cy="34925"/>
              </a:xfrm>
              <a:custGeom>
                <a:avLst/>
                <a:gdLst/>
                <a:ahLst/>
                <a:cxnLst/>
                <a:rect l="l" t="t" r="r" b="b"/>
                <a:pathLst>
                  <a:path w="52388" h="34925">
                    <a:moveTo>
                      <a:pt x="0" y="17463"/>
                    </a:moveTo>
                    <a:lnTo>
                      <a:pt x="17463" y="34925"/>
                    </a:lnTo>
                    <a:lnTo>
                      <a:pt x="52388" y="0"/>
                    </a:lnTo>
                  </a:path>
                </a:pathLst>
              </a:custGeom>
              <a:noFill/>
              <a:ln w="19050">
                <a:solidFill>
                  <a:srgbClr val="2E7D32"/>
                </a:solidFill>
              </a:ln>
            </p:spPr>
          </p:sp>
        </p:grpSp>
        <p:sp>
          <p:nvSpPr>
            <p:cNvPr id="100" name="TextBox 100"/>
            <p:cNvSpPr txBox="1"/>
            <p:nvPr/>
          </p:nvSpPr>
          <p:spPr>
            <a:xfrm>
              <a:off x="6615112" y="5364956"/>
              <a:ext cx="201847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125" b="1" dirty="0">
                  <a:solidFill>
                    <a:srgbClr val="93A0B0"/>
                  </a:solidFill>
                  <a:latin typeface="Arial"/>
                  <a:ea typeface="Arial"/>
                  <a:cs typeface="Arial"/>
                </a:rPr>
                <a:t>15</a:t>
              </a:r>
            </a:p>
          </p:txBody>
        </p:sp>
        <p:sp>
          <p:nvSpPr>
            <p:cNvPr id="101" name="TextBox 101"/>
            <p:cNvSpPr txBox="1"/>
            <p:nvPr/>
          </p:nvSpPr>
          <p:spPr>
            <a:xfrm>
              <a:off x="6327458" y="5758339"/>
              <a:ext cx="1052513" cy="2590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75" dirty="0">
                  <a:solidFill>
                    <a:srgbClr val="1A2230"/>
                  </a:solidFill>
                  <a:latin typeface="Arial"/>
                  <a:ea typeface="Microsoft YaHei"/>
                  <a:cs typeface="Arial"/>
                </a:rPr>
                <a:t>隐私授权弹窗</a:t>
              </a:r>
            </a:p>
          </p:txBody>
        </p:sp>
        <p:sp>
          <p:nvSpPr>
            <p:cNvPr id="102" name="Rectangle 102"/>
            <p:cNvSpPr/>
            <p:nvPr/>
          </p:nvSpPr>
          <p:spPr>
            <a:xfrm>
              <a:off x="8915400" y="5114925"/>
              <a:ext cx="2590800" cy="1076325"/>
            </a:xfrm>
            <a:prstGeom prst="rect">
              <a:avLst/>
            </a:prstGeom>
            <a:solidFill>
              <a:srgbClr val="F4F7FB"/>
            </a:solidFill>
            <a:ln>
              <a:noFill/>
            </a:ln>
          </p:spPr>
        </p:sp>
        <p:grpSp>
          <p:nvGrpSpPr>
            <p:cNvPr id="105" name="Group 105"/>
            <p:cNvGrpSpPr/>
            <p:nvPr/>
          </p:nvGrpSpPr>
          <p:grpSpPr>
            <a:xfrm>
              <a:off x="9113044" y="5350669"/>
              <a:ext cx="157163" cy="157163"/>
              <a:chOff x="9113044" y="5350669"/>
              <a:chExt cx="157163" cy="157163"/>
            </a:xfrm>
          </p:grpSpPr>
          <p:sp>
            <p:nvSpPr>
              <p:cNvPr id="103" name="Freeform 103"/>
              <p:cNvSpPr/>
              <p:nvPr/>
            </p:nvSpPr>
            <p:spPr>
              <a:xfrm>
                <a:off x="9113044" y="5350669"/>
                <a:ext cx="157163" cy="157163"/>
              </a:xfrm>
              <a:custGeom>
                <a:avLst/>
                <a:gdLst/>
                <a:ahLst/>
                <a:cxnLst/>
                <a:rect l="l" t="t" r="r" b="b"/>
                <a:pathLst>
                  <a:path w="157163" h="157163">
                    <a:moveTo>
                      <a:pt x="0" y="78581"/>
                    </a:moveTo>
                    <a:cubicBezTo>
                      <a:pt x="0" y="121981"/>
                      <a:pt x="35182" y="157163"/>
                      <a:pt x="78581" y="157163"/>
                    </a:cubicBezTo>
                    <a:cubicBezTo>
                      <a:pt x="121981" y="157163"/>
                      <a:pt x="157163" y="121981"/>
                      <a:pt x="157163" y="78581"/>
                    </a:cubicBezTo>
                    <a:cubicBezTo>
                      <a:pt x="157163" y="35182"/>
                      <a:pt x="121981" y="0"/>
                      <a:pt x="78581" y="0"/>
                    </a:cubicBezTo>
                    <a:cubicBezTo>
                      <a:pt x="35182" y="0"/>
                      <a:pt x="0" y="35182"/>
                      <a:pt x="0" y="78581"/>
                    </a:cubicBezTo>
                  </a:path>
                </a:pathLst>
              </a:custGeom>
              <a:noFill/>
              <a:ln w="19050">
                <a:solidFill>
                  <a:srgbClr val="2E7D32"/>
                </a:solidFill>
              </a:ln>
            </p:spPr>
          </p:sp>
          <p:sp>
            <p:nvSpPr>
              <p:cNvPr id="104" name="Freeform 104"/>
              <p:cNvSpPr/>
              <p:nvPr/>
            </p:nvSpPr>
            <p:spPr>
              <a:xfrm>
                <a:off x="9165431" y="5411788"/>
                <a:ext cx="52388" cy="34925"/>
              </a:xfrm>
              <a:custGeom>
                <a:avLst/>
                <a:gdLst/>
                <a:ahLst/>
                <a:cxnLst/>
                <a:rect l="l" t="t" r="r" b="b"/>
                <a:pathLst>
                  <a:path w="52388" h="34925">
                    <a:moveTo>
                      <a:pt x="0" y="17463"/>
                    </a:moveTo>
                    <a:lnTo>
                      <a:pt x="17463" y="34925"/>
                    </a:lnTo>
                    <a:lnTo>
                      <a:pt x="52388" y="0"/>
                    </a:lnTo>
                  </a:path>
                </a:pathLst>
              </a:custGeom>
              <a:noFill/>
              <a:ln w="19050">
                <a:solidFill>
                  <a:srgbClr val="2E7D32"/>
                </a:solidFill>
              </a:ln>
            </p:spPr>
          </p:sp>
        </p:grpSp>
        <p:sp>
          <p:nvSpPr>
            <p:cNvPr id="106" name="TextBox 106"/>
            <p:cNvSpPr txBox="1"/>
            <p:nvPr/>
          </p:nvSpPr>
          <p:spPr>
            <a:xfrm>
              <a:off x="9358312" y="5364956"/>
              <a:ext cx="201847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125" b="1" dirty="0">
                  <a:solidFill>
                    <a:srgbClr val="93A0B0"/>
                  </a:solidFill>
                  <a:latin typeface="Arial"/>
                  <a:ea typeface="Arial"/>
                  <a:cs typeface="Arial"/>
                </a:rPr>
                <a:t>16</a:t>
              </a:r>
            </a:p>
          </p:txBody>
        </p:sp>
        <p:sp>
          <p:nvSpPr>
            <p:cNvPr id="107" name="TextBox 107"/>
            <p:cNvSpPr txBox="1"/>
            <p:nvPr/>
          </p:nvSpPr>
          <p:spPr>
            <a:xfrm>
              <a:off x="9070658" y="5758339"/>
              <a:ext cx="1248037" cy="2590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75" dirty="0">
                  <a:solidFill>
                    <a:srgbClr val="1A2230"/>
                  </a:solidFill>
                  <a:latin typeface="Arial"/>
                  <a:ea typeface="Microsoft YaHei"/>
                  <a:cs typeface="Arial"/>
                </a:rPr>
                <a:t>账号注销 · 脱敏</a:t>
              </a:r>
            </a:p>
          </p:txBody>
        </p:sp>
      </p:grpSp>
      <p:grpSp>
        <p:nvGrpSpPr>
          <p:cNvPr id="110" name="Group 110"/>
          <p:cNvGrpSpPr/>
          <p:nvPr/>
        </p:nvGrpSpPr>
        <p:grpSpPr>
          <a:xfrm>
            <a:off x="673418" y="6333649"/>
            <a:ext cx="5732478" cy="198120"/>
            <a:chOff x="673418" y="6333649"/>
            <a:chExt cx="5732478" cy="198120"/>
          </a:xfrm>
        </p:grpSpPr>
        <p:sp>
          <p:nvSpPr>
            <p:cNvPr id="109" name="TextBox 109"/>
            <p:cNvSpPr txBox="1"/>
            <p:nvPr/>
          </p:nvSpPr>
          <p:spPr>
            <a:xfrm>
              <a:off x="673418" y="6333649"/>
              <a:ext cx="5732478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dirty="0">
                  <a:solidFill>
                    <a:srgbClr val="93A0B0"/>
                  </a:solidFill>
                  <a:latin typeface="Arial"/>
                  <a:ea typeface="Microsoft YaHei"/>
                  <a:cs typeface="Arial"/>
                </a:rPr>
                <a:t>代码侧待确认（非编码缺口）：客服热线 0757-85775667 待确认、客户可见资质 / 资料正式版本。</a:t>
              </a:r>
            </a:p>
          </p:txBody>
        </p:sp>
      </p:grpSp>
      <p:grpSp>
        <p:nvGrpSpPr>
          <p:cNvPr id="113" name="Group 113"/>
          <p:cNvGrpSpPr/>
          <p:nvPr/>
        </p:nvGrpSpPr>
        <p:grpSpPr>
          <a:xfrm>
            <a:off x="675322" y="6597491"/>
            <a:ext cx="10841355" cy="167640"/>
            <a:chOff x="675322" y="6597491"/>
            <a:chExt cx="10841355" cy="167640"/>
          </a:xfrm>
        </p:grpSpPr>
        <p:sp>
          <p:nvSpPr>
            <p:cNvPr id="111" name="TextBox 111"/>
            <p:cNvSpPr txBox="1"/>
            <p:nvPr/>
          </p:nvSpPr>
          <p:spPr>
            <a:xfrm>
              <a:off x="675322" y="6597491"/>
              <a:ext cx="1797677" cy="1676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825" dirty="0">
                  <a:solidFill>
                    <a:srgbClr val="93A0B0"/>
                  </a:solidFill>
                  <a:latin typeface="Arial"/>
                  <a:ea typeface="Microsoft YaHei"/>
                  <a:cs typeface="Arial"/>
                </a:rPr>
                <a:t>牙医仪器检修小程序 · 项目进度汇报</a:t>
              </a:r>
            </a:p>
          </p:txBody>
        </p:sp>
        <p:sp>
          <p:nvSpPr>
            <p:cNvPr id="112" name="TextBox 112"/>
            <p:cNvSpPr txBox="1"/>
            <p:nvPr/>
          </p:nvSpPr>
          <p:spPr>
            <a:xfrm>
              <a:off x="10335077" y="6597491"/>
              <a:ext cx="1181600" cy="1676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en-US" sz="825" dirty="0">
                  <a:solidFill>
                    <a:srgbClr val="93A0B0"/>
                  </a:solidFill>
                  <a:latin typeface="Arial"/>
                  <a:ea typeface="Arial"/>
                  <a:cs typeface="Arial"/>
                </a:rPr>
                <a:t>2026-06-22 · P05 / 12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</p:sp>
      <p:grpSp>
        <p:nvGrpSpPr>
          <p:cNvPr id="8" name="Group 8"/>
          <p:cNvGrpSpPr/>
          <p:nvPr/>
        </p:nvGrpSpPr>
        <p:grpSpPr>
          <a:xfrm>
            <a:off x="685800" y="533400"/>
            <a:ext cx="10833735" cy="504825"/>
            <a:chOff x="685800" y="533400"/>
            <a:chExt cx="10833735" cy="504825"/>
          </a:xfrm>
        </p:grpSpPr>
        <p:sp>
          <p:nvSpPr>
            <p:cNvPr id="3" name="Rectangle 3"/>
            <p:cNvSpPr/>
            <p:nvPr/>
          </p:nvSpPr>
          <p:spPr>
            <a:xfrm>
              <a:off x="685800" y="533400"/>
              <a:ext cx="57150" cy="323850"/>
            </a:xfrm>
            <a:prstGeom prst="rect">
              <a:avLst/>
            </a:prstGeom>
            <a:solidFill>
              <a:srgbClr val="1565C0"/>
            </a:solidFill>
            <a:ln>
              <a:noFill/>
            </a:ln>
          </p:spPr>
        </p:sp>
        <p:sp>
          <p:nvSpPr>
            <p:cNvPr id="4" name="TextBox 4"/>
            <p:cNvSpPr txBox="1"/>
            <p:nvPr/>
          </p:nvSpPr>
          <p:spPr>
            <a:xfrm>
              <a:off x="847725" y="557212"/>
              <a:ext cx="2939760" cy="4572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250" b="1" dirty="0">
                  <a:solidFill>
                    <a:srgbClr val="1A2230"/>
                  </a:solidFill>
                  <a:latin typeface="Arial"/>
                  <a:ea typeface="SimHei"/>
                  <a:cs typeface="Arial"/>
                </a:rPr>
                <a:t>最低上线门槛 · 达成</a:t>
              </a:r>
            </a:p>
          </p:txBody>
        </p:sp>
        <p:sp>
          <p:nvSpPr>
            <p:cNvPr id="5" name="TextBox 5"/>
            <p:cNvSpPr txBox="1"/>
            <p:nvPr/>
          </p:nvSpPr>
          <p:spPr>
            <a:xfrm>
              <a:off x="4067175" y="557212"/>
              <a:ext cx="939260" cy="4572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2250" b="1" dirty="0">
                  <a:solidFill>
                    <a:srgbClr val="D32F2F"/>
                  </a:solidFill>
                  <a:latin typeface="Arial"/>
                  <a:ea typeface="Arial"/>
                  <a:cs typeface="Arial"/>
                </a:rPr>
                <a:t>0 / 12</a:t>
              </a:r>
            </a:p>
          </p:txBody>
        </p:sp>
        <p:sp>
          <p:nvSpPr>
            <p:cNvPr id="6" name="TextBox 6"/>
            <p:cNvSpPr txBox="1"/>
            <p:nvPr/>
          </p:nvSpPr>
          <p:spPr>
            <a:xfrm>
              <a:off x="9049560" y="667702"/>
              <a:ext cx="2469975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1050" dirty="0">
                  <a:solidFill>
                    <a:srgbClr val="93A0B0"/>
                  </a:solidFill>
                  <a:latin typeface="Arial"/>
                  <a:ea typeface="Microsoft YaHei"/>
                  <a:cs typeface="Arial"/>
                </a:rPr>
                <a:t>代码就绪 8 项，卡在部署 / 配置 / 验收</a:t>
              </a:r>
            </a:p>
          </p:txBody>
        </p:sp>
        <p:sp>
          <p:nvSpPr>
            <p:cNvPr id="7" name="Line 7"/>
            <p:cNvSpPr/>
            <p:nvPr/>
          </p:nvSpPr>
          <p:spPr>
            <a:xfrm>
              <a:off x="685800" y="1028700"/>
              <a:ext cx="10820400" cy="9525"/>
            </a:xfrm>
            <a:custGeom>
              <a:avLst/>
              <a:gdLst/>
              <a:ahLst/>
              <a:cxnLst/>
              <a:rect l="l" t="t" r="r" b="b"/>
              <a:pathLst>
                <a:path w="10820400" h="9525">
                  <a:moveTo>
                    <a:pt x="0" y="0"/>
                  </a:moveTo>
                  <a:lnTo>
                    <a:pt x="10820400" y="0"/>
                  </a:lnTo>
                </a:path>
              </a:pathLst>
            </a:custGeom>
            <a:noFill/>
            <a:ln w="9525">
              <a:solidFill>
                <a:srgbClr val="E5EAF0"/>
              </a:solidFill>
            </a:ln>
          </p:spPr>
        </p:sp>
      </p:grpSp>
      <p:grpSp>
        <p:nvGrpSpPr>
          <p:cNvPr id="15" name="Group 15"/>
          <p:cNvGrpSpPr/>
          <p:nvPr/>
        </p:nvGrpSpPr>
        <p:grpSpPr>
          <a:xfrm>
            <a:off x="685800" y="1428750"/>
            <a:ext cx="10820400" cy="342900"/>
            <a:chOff x="685800" y="1428750"/>
            <a:chExt cx="10820400" cy="342900"/>
          </a:xfrm>
        </p:grpSpPr>
        <p:sp>
          <p:nvSpPr>
            <p:cNvPr id="9" name="Rectangle 9"/>
            <p:cNvSpPr/>
            <p:nvPr/>
          </p:nvSpPr>
          <p:spPr>
            <a:xfrm>
              <a:off x="685800" y="1428750"/>
              <a:ext cx="10820400" cy="342900"/>
            </a:xfrm>
            <a:prstGeom prst="rect">
              <a:avLst/>
            </a:prstGeom>
            <a:solidFill>
              <a:srgbClr val="0D3B66"/>
            </a:solidFill>
            <a:ln>
              <a:noFill/>
            </a:ln>
          </p:spPr>
        </p:sp>
        <p:sp>
          <p:nvSpPr>
            <p:cNvPr id="10" name="TextBox 10"/>
            <p:cNvSpPr txBox="1"/>
            <p:nvPr/>
          </p:nvSpPr>
          <p:spPr>
            <a:xfrm>
              <a:off x="823912" y="1535906"/>
              <a:ext cx="115211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125" b="1" dirty="0">
                  <a:solidFill>
                    <a:srgbClr val="FFFFFF"/>
                  </a:solidFill>
                  <a:latin typeface="Arial"/>
                  <a:ea typeface="Arial"/>
                  <a:cs typeface="Arial"/>
                </a:rPr>
                <a:t>#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1185862" y="1535906"/>
              <a:ext cx="343614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5" b="1" dirty="0">
                  <a:solidFill>
                    <a:srgbClr val="FFFFFF"/>
                  </a:solidFill>
                  <a:latin typeface="Arial"/>
                  <a:ea typeface="SimHei"/>
                  <a:cs typeface="Arial"/>
                </a:rPr>
                <a:t>门槛</a:t>
              </a:r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5891212" y="1535906"/>
              <a:ext cx="343614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5" b="1" dirty="0">
                  <a:solidFill>
                    <a:srgbClr val="FFFFFF"/>
                  </a:solidFill>
                  <a:latin typeface="Arial"/>
                  <a:ea typeface="SimHei"/>
                  <a:cs typeface="Arial"/>
                </a:rPr>
                <a:t>代码</a:t>
              </a:r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7148512" y="1535906"/>
              <a:ext cx="1335988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5" b="1" dirty="0">
                  <a:solidFill>
                    <a:srgbClr val="FFFFFF"/>
                  </a:solidFill>
                  <a:latin typeface="Arial"/>
                  <a:ea typeface="SimHei"/>
                  <a:cs typeface="Arial"/>
                </a:rPr>
                <a:t>部署 / 配置 / 验收</a:t>
              </a:r>
            </a:p>
          </p:txBody>
        </p:sp>
        <p:sp>
          <p:nvSpPr>
            <p:cNvPr id="14" name="TextBox 14"/>
            <p:cNvSpPr txBox="1"/>
            <p:nvPr/>
          </p:nvSpPr>
          <p:spPr>
            <a:xfrm>
              <a:off x="11100673" y="1535906"/>
              <a:ext cx="343614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1125" b="1" dirty="0">
                  <a:solidFill>
                    <a:srgbClr val="FFFFFF"/>
                  </a:solidFill>
                  <a:latin typeface="Arial"/>
                  <a:ea typeface="SimHei"/>
                  <a:cs typeface="Arial"/>
                </a:rPr>
                <a:t>综合</a:t>
              </a:r>
            </a:p>
          </p:txBody>
        </p:sp>
      </p:grpSp>
      <p:grpSp>
        <p:nvGrpSpPr>
          <p:cNvPr id="49" name="Group 49"/>
          <p:cNvGrpSpPr/>
          <p:nvPr/>
        </p:nvGrpSpPr>
        <p:grpSpPr>
          <a:xfrm>
            <a:off x="685800" y="1771650"/>
            <a:ext cx="10820400" cy="2212181"/>
            <a:chOff x="685800" y="1771650"/>
            <a:chExt cx="10820400" cy="2212181"/>
          </a:xfrm>
        </p:grpSpPr>
        <p:sp>
          <p:nvSpPr>
            <p:cNvPr id="16" name="Rectangle 16"/>
            <p:cNvSpPr/>
            <p:nvPr/>
          </p:nvSpPr>
          <p:spPr>
            <a:xfrm>
              <a:off x="685800" y="1771650"/>
              <a:ext cx="10820400" cy="371475"/>
            </a:xfrm>
            <a:prstGeom prst="rect">
              <a:avLst/>
            </a:prstGeom>
            <a:solidFill>
              <a:srgbClr val="F4F7FB"/>
            </a:solidFill>
            <a:ln>
              <a:noFill/>
            </a:ln>
          </p:spPr>
        </p:sp>
        <p:sp>
          <p:nvSpPr>
            <p:cNvPr id="17" name="TextBox 17"/>
            <p:cNvSpPr txBox="1"/>
            <p:nvPr/>
          </p:nvSpPr>
          <p:spPr>
            <a:xfrm>
              <a:off x="823912" y="1897856"/>
              <a:ext cx="193596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125" dirty="0">
                  <a:solidFill>
                    <a:srgbClr val="93A0B0"/>
                  </a:solidFill>
                  <a:latin typeface="Arial"/>
                  <a:ea typeface="Arial"/>
                  <a:cs typeface="Arial"/>
                </a:rPr>
                <a:t>01</a:t>
              </a:r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1185862" y="1897856"/>
              <a:ext cx="1693783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5" dirty="0">
                  <a:solidFill>
                    <a:srgbClr val="1A2230"/>
                  </a:solidFill>
                  <a:latin typeface="Arial"/>
                  <a:ea typeface="Microsoft YaHei"/>
                  <a:cs typeface="Arial"/>
                </a:rPr>
                <a:t>正式 AppID 真机登录成功</a:t>
              </a:r>
            </a:p>
          </p:txBody>
        </p:sp>
        <p:sp>
          <p:nvSpPr>
            <p:cNvPr id="19" name="TextBox 19"/>
            <p:cNvSpPr txBox="1"/>
            <p:nvPr/>
          </p:nvSpPr>
          <p:spPr>
            <a:xfrm>
              <a:off x="5891212" y="1897856"/>
              <a:ext cx="328612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5" dirty="0">
                  <a:solidFill>
                    <a:srgbClr val="2E7D32"/>
                  </a:solidFill>
                  <a:latin typeface="Arial"/>
                  <a:ea typeface="Microsoft YaHei"/>
                  <a:cs typeface="Arial"/>
                </a:rPr>
                <a:t>就绪</a:t>
              </a:r>
            </a:p>
          </p:txBody>
        </p:sp>
        <p:sp>
          <p:nvSpPr>
            <p:cNvPr id="20" name="TextBox 20"/>
            <p:cNvSpPr txBox="1"/>
            <p:nvPr/>
          </p:nvSpPr>
          <p:spPr>
            <a:xfrm>
              <a:off x="7148512" y="1897856"/>
              <a:ext cx="778669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5" dirty="0">
                  <a:solidFill>
                    <a:srgbClr val="5A6675"/>
                  </a:solidFill>
                  <a:latin typeface="Arial"/>
                  <a:ea typeface="Microsoft YaHei"/>
                  <a:cs typeface="Arial"/>
                </a:rPr>
                <a:t>真机未验收</a:t>
              </a:r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11115675" y="1897856"/>
              <a:ext cx="328612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1125" dirty="0">
                  <a:solidFill>
                    <a:srgbClr val="D32F2F"/>
                  </a:solidFill>
                  <a:latin typeface="Arial"/>
                  <a:ea typeface="SimHei"/>
                  <a:cs typeface="Arial"/>
                </a:rPr>
                <a:t>未达</a:t>
              </a:r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823912" y="2269331"/>
              <a:ext cx="193596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125" dirty="0">
                  <a:solidFill>
                    <a:srgbClr val="93A0B0"/>
                  </a:solidFill>
                  <a:latin typeface="Arial"/>
                  <a:ea typeface="Arial"/>
                  <a:cs typeface="Arial"/>
                </a:rPr>
                <a:t>02</a:t>
              </a:r>
            </a:p>
          </p:txBody>
        </p:sp>
        <p:sp>
          <p:nvSpPr>
            <p:cNvPr id="23" name="TextBox 23"/>
            <p:cNvSpPr txBox="1"/>
            <p:nvPr/>
          </p:nvSpPr>
          <p:spPr>
            <a:xfrm>
              <a:off x="1185862" y="2269331"/>
              <a:ext cx="1828800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5" dirty="0">
                  <a:solidFill>
                    <a:srgbClr val="1A2230"/>
                  </a:solidFill>
                  <a:latin typeface="Arial"/>
                  <a:ea typeface="Microsoft YaHei"/>
                  <a:cs typeface="Arial"/>
                </a:rPr>
                <a:t>正式库可建工单，后台可见</a:t>
              </a:r>
            </a:p>
          </p:txBody>
        </p:sp>
        <p:sp>
          <p:nvSpPr>
            <p:cNvPr id="24" name="TextBox 24"/>
            <p:cNvSpPr txBox="1"/>
            <p:nvPr/>
          </p:nvSpPr>
          <p:spPr>
            <a:xfrm>
              <a:off x="5891212" y="2269331"/>
              <a:ext cx="328612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5" dirty="0">
                  <a:solidFill>
                    <a:srgbClr val="2E7D32"/>
                  </a:solidFill>
                  <a:latin typeface="Arial"/>
                  <a:ea typeface="Microsoft YaHei"/>
                  <a:cs typeface="Arial"/>
                </a:rPr>
                <a:t>就绪</a:t>
              </a:r>
            </a:p>
          </p:txBody>
        </p:sp>
        <p:sp>
          <p:nvSpPr>
            <p:cNvPr id="25" name="TextBox 25"/>
            <p:cNvSpPr txBox="1"/>
            <p:nvPr/>
          </p:nvSpPr>
          <p:spPr>
            <a:xfrm>
              <a:off x="7148512" y="2269331"/>
              <a:ext cx="928688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5" dirty="0">
                  <a:solidFill>
                    <a:srgbClr val="5A6675"/>
                  </a:solidFill>
                  <a:latin typeface="Arial"/>
                  <a:ea typeface="Microsoft YaHei"/>
                  <a:cs typeface="Arial"/>
                </a:rPr>
                <a:t>未连正式环境</a:t>
              </a:r>
            </a:p>
          </p:txBody>
        </p:sp>
        <p:sp>
          <p:nvSpPr>
            <p:cNvPr id="26" name="TextBox 26"/>
            <p:cNvSpPr txBox="1"/>
            <p:nvPr/>
          </p:nvSpPr>
          <p:spPr>
            <a:xfrm>
              <a:off x="11115675" y="2269331"/>
              <a:ext cx="328612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1125" dirty="0">
                  <a:solidFill>
                    <a:srgbClr val="D32F2F"/>
                  </a:solidFill>
                  <a:latin typeface="Arial"/>
                  <a:ea typeface="SimHei"/>
                  <a:cs typeface="Arial"/>
                </a:rPr>
                <a:t>未达</a:t>
              </a:r>
            </a:p>
          </p:txBody>
        </p:sp>
        <p:sp>
          <p:nvSpPr>
            <p:cNvPr id="27" name="Rectangle 27"/>
            <p:cNvSpPr/>
            <p:nvPr/>
          </p:nvSpPr>
          <p:spPr>
            <a:xfrm>
              <a:off x="685800" y="2514600"/>
              <a:ext cx="10820400" cy="371475"/>
            </a:xfrm>
            <a:prstGeom prst="rect">
              <a:avLst/>
            </a:prstGeom>
            <a:solidFill>
              <a:srgbClr val="F4F7FB"/>
            </a:solidFill>
            <a:ln>
              <a:noFill/>
            </a:ln>
          </p:spPr>
        </p:sp>
        <p:sp>
          <p:nvSpPr>
            <p:cNvPr id="28" name="TextBox 28"/>
            <p:cNvSpPr txBox="1"/>
            <p:nvPr/>
          </p:nvSpPr>
          <p:spPr>
            <a:xfrm>
              <a:off x="823912" y="2640806"/>
              <a:ext cx="193596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125" dirty="0">
                  <a:solidFill>
                    <a:srgbClr val="93A0B0"/>
                  </a:solidFill>
                  <a:latin typeface="Arial"/>
                  <a:ea typeface="Arial"/>
                  <a:cs typeface="Arial"/>
                </a:rPr>
                <a:t>03</a:t>
              </a:r>
            </a:p>
          </p:txBody>
        </p:sp>
        <p:sp>
          <p:nvSpPr>
            <p:cNvPr id="29" name="TextBox 29"/>
            <p:cNvSpPr txBox="1"/>
            <p:nvPr/>
          </p:nvSpPr>
          <p:spPr>
            <a:xfrm>
              <a:off x="1185862" y="2640806"/>
              <a:ext cx="1978819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5" dirty="0">
                  <a:solidFill>
                    <a:srgbClr val="1A2230"/>
                  </a:solidFill>
                  <a:latin typeface="Arial"/>
                  <a:ea typeface="Microsoft YaHei"/>
                  <a:cs typeface="Arial"/>
                </a:rPr>
                <a:t>后台改状态，小程序进度同步</a:t>
              </a:r>
            </a:p>
          </p:txBody>
        </p:sp>
        <p:sp>
          <p:nvSpPr>
            <p:cNvPr id="30" name="TextBox 30"/>
            <p:cNvSpPr txBox="1"/>
            <p:nvPr/>
          </p:nvSpPr>
          <p:spPr>
            <a:xfrm>
              <a:off x="5891212" y="2640806"/>
              <a:ext cx="328612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5" dirty="0">
                  <a:solidFill>
                    <a:srgbClr val="2E7D32"/>
                  </a:solidFill>
                  <a:latin typeface="Arial"/>
                  <a:ea typeface="Microsoft YaHei"/>
                  <a:cs typeface="Arial"/>
                </a:rPr>
                <a:t>就绪</a:t>
              </a:r>
            </a:p>
          </p:txBody>
        </p:sp>
        <p:sp>
          <p:nvSpPr>
            <p:cNvPr id="31" name="TextBox 31"/>
            <p:cNvSpPr txBox="1"/>
            <p:nvPr/>
          </p:nvSpPr>
          <p:spPr>
            <a:xfrm>
              <a:off x="7148512" y="2640806"/>
              <a:ext cx="478631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5" dirty="0">
                  <a:solidFill>
                    <a:srgbClr val="5A6675"/>
                  </a:solidFill>
                  <a:latin typeface="Arial"/>
                  <a:ea typeface="Microsoft YaHei"/>
                  <a:cs typeface="Arial"/>
                </a:rPr>
                <a:t>未验收</a:t>
              </a:r>
            </a:p>
          </p:txBody>
        </p:sp>
        <p:sp>
          <p:nvSpPr>
            <p:cNvPr id="32" name="TextBox 32"/>
            <p:cNvSpPr txBox="1"/>
            <p:nvPr/>
          </p:nvSpPr>
          <p:spPr>
            <a:xfrm>
              <a:off x="11115675" y="2640806"/>
              <a:ext cx="328612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1125" dirty="0">
                  <a:solidFill>
                    <a:srgbClr val="D32F2F"/>
                  </a:solidFill>
                  <a:latin typeface="Arial"/>
                  <a:ea typeface="SimHei"/>
                  <a:cs typeface="Arial"/>
                </a:rPr>
                <a:t>未达</a:t>
              </a:r>
            </a:p>
          </p:txBody>
        </p:sp>
        <p:sp>
          <p:nvSpPr>
            <p:cNvPr id="33" name="TextBox 33"/>
            <p:cNvSpPr txBox="1"/>
            <p:nvPr/>
          </p:nvSpPr>
          <p:spPr>
            <a:xfrm>
              <a:off x="823912" y="3012281"/>
              <a:ext cx="193596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125" dirty="0">
                  <a:solidFill>
                    <a:srgbClr val="93A0B0"/>
                  </a:solidFill>
                  <a:latin typeface="Arial"/>
                  <a:ea typeface="Arial"/>
                  <a:cs typeface="Arial"/>
                </a:rPr>
                <a:t>04</a:t>
              </a:r>
            </a:p>
          </p:txBody>
        </p:sp>
        <p:sp>
          <p:nvSpPr>
            <p:cNvPr id="34" name="TextBox 34"/>
            <p:cNvSpPr txBox="1"/>
            <p:nvPr/>
          </p:nvSpPr>
          <p:spPr>
            <a:xfrm>
              <a:off x="1185862" y="3012281"/>
              <a:ext cx="1828800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5" dirty="0">
                  <a:solidFill>
                    <a:srgbClr val="1A2230"/>
                  </a:solidFill>
                  <a:latin typeface="Arial"/>
                  <a:ea typeface="Microsoft YaHei"/>
                  <a:cs typeface="Arial"/>
                </a:rPr>
                <a:t>后台发报价，小程序可确认</a:t>
              </a:r>
            </a:p>
          </p:txBody>
        </p:sp>
        <p:sp>
          <p:nvSpPr>
            <p:cNvPr id="35" name="TextBox 35"/>
            <p:cNvSpPr txBox="1"/>
            <p:nvPr/>
          </p:nvSpPr>
          <p:spPr>
            <a:xfrm>
              <a:off x="5891212" y="3012281"/>
              <a:ext cx="328612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5" dirty="0">
                  <a:solidFill>
                    <a:srgbClr val="2E7D32"/>
                  </a:solidFill>
                  <a:latin typeface="Arial"/>
                  <a:ea typeface="Microsoft YaHei"/>
                  <a:cs typeface="Arial"/>
                </a:rPr>
                <a:t>就绪</a:t>
              </a:r>
            </a:p>
          </p:txBody>
        </p:sp>
        <p:sp>
          <p:nvSpPr>
            <p:cNvPr id="36" name="TextBox 36"/>
            <p:cNvSpPr txBox="1"/>
            <p:nvPr/>
          </p:nvSpPr>
          <p:spPr>
            <a:xfrm>
              <a:off x="7148512" y="3012281"/>
              <a:ext cx="478631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5" dirty="0">
                  <a:solidFill>
                    <a:srgbClr val="5A6675"/>
                  </a:solidFill>
                  <a:latin typeface="Arial"/>
                  <a:ea typeface="Microsoft YaHei"/>
                  <a:cs typeface="Arial"/>
                </a:rPr>
                <a:t>未验收</a:t>
              </a:r>
            </a:p>
          </p:txBody>
        </p:sp>
        <p:sp>
          <p:nvSpPr>
            <p:cNvPr id="37" name="TextBox 37"/>
            <p:cNvSpPr txBox="1"/>
            <p:nvPr/>
          </p:nvSpPr>
          <p:spPr>
            <a:xfrm>
              <a:off x="11115675" y="3012281"/>
              <a:ext cx="328612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1125" dirty="0">
                  <a:solidFill>
                    <a:srgbClr val="D32F2F"/>
                  </a:solidFill>
                  <a:latin typeface="Arial"/>
                  <a:ea typeface="SimHei"/>
                  <a:cs typeface="Arial"/>
                </a:rPr>
                <a:t>未达</a:t>
              </a:r>
            </a:p>
          </p:txBody>
        </p:sp>
        <p:sp>
          <p:nvSpPr>
            <p:cNvPr id="38" name="Rectangle 38"/>
            <p:cNvSpPr/>
            <p:nvPr/>
          </p:nvSpPr>
          <p:spPr>
            <a:xfrm>
              <a:off x="685800" y="3257550"/>
              <a:ext cx="10820400" cy="371475"/>
            </a:xfrm>
            <a:prstGeom prst="rect">
              <a:avLst/>
            </a:prstGeom>
            <a:solidFill>
              <a:srgbClr val="F4F7FB"/>
            </a:solidFill>
            <a:ln>
              <a:noFill/>
            </a:ln>
          </p:spPr>
        </p:sp>
        <p:sp>
          <p:nvSpPr>
            <p:cNvPr id="39" name="TextBox 39"/>
            <p:cNvSpPr txBox="1"/>
            <p:nvPr/>
          </p:nvSpPr>
          <p:spPr>
            <a:xfrm>
              <a:off x="823912" y="3383756"/>
              <a:ext cx="193596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125" dirty="0">
                  <a:solidFill>
                    <a:srgbClr val="93A0B0"/>
                  </a:solidFill>
                  <a:latin typeface="Arial"/>
                  <a:ea typeface="Arial"/>
                  <a:cs typeface="Arial"/>
                </a:rPr>
                <a:t>05</a:t>
              </a:r>
            </a:p>
          </p:txBody>
        </p:sp>
        <p:sp>
          <p:nvSpPr>
            <p:cNvPr id="40" name="TextBox 40"/>
            <p:cNvSpPr txBox="1"/>
            <p:nvPr/>
          </p:nvSpPr>
          <p:spPr>
            <a:xfrm>
              <a:off x="1185862" y="3383756"/>
              <a:ext cx="2278856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5" dirty="0">
                  <a:solidFill>
                    <a:srgbClr val="1A2230"/>
                  </a:solidFill>
                  <a:latin typeface="Arial"/>
                  <a:ea typeface="Microsoft YaHei"/>
                  <a:cs typeface="Arial"/>
                </a:rPr>
                <a:t>微信支付或对公凭证至少一条可用</a:t>
              </a:r>
            </a:p>
          </p:txBody>
        </p:sp>
        <p:sp>
          <p:nvSpPr>
            <p:cNvPr id="41" name="TextBox 41"/>
            <p:cNvSpPr txBox="1"/>
            <p:nvPr/>
          </p:nvSpPr>
          <p:spPr>
            <a:xfrm>
              <a:off x="5891212" y="3383756"/>
              <a:ext cx="328612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5" dirty="0">
                  <a:solidFill>
                    <a:srgbClr val="2E7D32"/>
                  </a:solidFill>
                  <a:latin typeface="Arial"/>
                  <a:ea typeface="Microsoft YaHei"/>
                  <a:cs typeface="Arial"/>
                </a:rPr>
                <a:t>就绪</a:t>
              </a:r>
            </a:p>
          </p:txBody>
        </p:sp>
        <p:sp>
          <p:nvSpPr>
            <p:cNvPr id="42" name="TextBox 42"/>
            <p:cNvSpPr txBox="1"/>
            <p:nvPr/>
          </p:nvSpPr>
          <p:spPr>
            <a:xfrm>
              <a:off x="7148512" y="3383756"/>
              <a:ext cx="1213723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5" dirty="0">
                  <a:solidFill>
                    <a:srgbClr val="5A6675"/>
                  </a:solidFill>
                  <a:latin typeface="Arial"/>
                  <a:ea typeface="Microsoft YaHei"/>
                  <a:cs typeface="Arial"/>
                </a:rPr>
                <a:t>WX_PAY_* 未配置</a:t>
              </a:r>
            </a:p>
          </p:txBody>
        </p:sp>
        <p:sp>
          <p:nvSpPr>
            <p:cNvPr id="43" name="TextBox 43"/>
            <p:cNvSpPr txBox="1"/>
            <p:nvPr/>
          </p:nvSpPr>
          <p:spPr>
            <a:xfrm>
              <a:off x="11115675" y="3383756"/>
              <a:ext cx="328612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1125" dirty="0">
                  <a:solidFill>
                    <a:srgbClr val="D32F2F"/>
                  </a:solidFill>
                  <a:latin typeface="Arial"/>
                  <a:ea typeface="SimHei"/>
                  <a:cs typeface="Arial"/>
                </a:rPr>
                <a:t>未达</a:t>
              </a:r>
            </a:p>
          </p:txBody>
        </p:sp>
        <p:sp>
          <p:nvSpPr>
            <p:cNvPr id="44" name="TextBox 44"/>
            <p:cNvSpPr txBox="1"/>
            <p:nvPr/>
          </p:nvSpPr>
          <p:spPr>
            <a:xfrm>
              <a:off x="823912" y="3755231"/>
              <a:ext cx="193596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125" dirty="0">
                  <a:solidFill>
                    <a:srgbClr val="93A0B0"/>
                  </a:solidFill>
                  <a:latin typeface="Arial"/>
                  <a:ea typeface="Arial"/>
                  <a:cs typeface="Arial"/>
                </a:rPr>
                <a:t>06</a:t>
              </a:r>
            </a:p>
          </p:txBody>
        </p:sp>
        <p:sp>
          <p:nvSpPr>
            <p:cNvPr id="45" name="TextBox 45"/>
            <p:cNvSpPr txBox="1"/>
            <p:nvPr/>
          </p:nvSpPr>
          <p:spPr>
            <a:xfrm>
              <a:off x="1185862" y="3755231"/>
              <a:ext cx="1978819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5" dirty="0">
                  <a:solidFill>
                    <a:srgbClr val="1A2230"/>
                  </a:solidFill>
                  <a:latin typeface="Arial"/>
                  <a:ea typeface="Microsoft YaHei"/>
                  <a:cs typeface="Arial"/>
                </a:rPr>
                <a:t>发票申请与后台开票状态同步</a:t>
              </a:r>
            </a:p>
          </p:txBody>
        </p:sp>
        <p:sp>
          <p:nvSpPr>
            <p:cNvPr id="46" name="TextBox 46"/>
            <p:cNvSpPr txBox="1"/>
            <p:nvPr/>
          </p:nvSpPr>
          <p:spPr>
            <a:xfrm>
              <a:off x="5891212" y="3755231"/>
              <a:ext cx="328612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5" dirty="0">
                  <a:solidFill>
                    <a:srgbClr val="2E7D32"/>
                  </a:solidFill>
                  <a:latin typeface="Arial"/>
                  <a:ea typeface="Microsoft YaHei"/>
                  <a:cs typeface="Arial"/>
                </a:rPr>
                <a:t>就绪</a:t>
              </a:r>
            </a:p>
          </p:txBody>
        </p:sp>
        <p:sp>
          <p:nvSpPr>
            <p:cNvPr id="47" name="TextBox 47"/>
            <p:cNvSpPr txBox="1"/>
            <p:nvPr/>
          </p:nvSpPr>
          <p:spPr>
            <a:xfrm>
              <a:off x="7148512" y="3755231"/>
              <a:ext cx="478631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5" dirty="0">
                  <a:solidFill>
                    <a:srgbClr val="5A6675"/>
                  </a:solidFill>
                  <a:latin typeface="Arial"/>
                  <a:ea typeface="Microsoft YaHei"/>
                  <a:cs typeface="Arial"/>
                </a:rPr>
                <a:t>未验收</a:t>
              </a:r>
            </a:p>
          </p:txBody>
        </p:sp>
        <p:sp>
          <p:nvSpPr>
            <p:cNvPr id="48" name="TextBox 48"/>
            <p:cNvSpPr txBox="1"/>
            <p:nvPr/>
          </p:nvSpPr>
          <p:spPr>
            <a:xfrm>
              <a:off x="11115675" y="3755231"/>
              <a:ext cx="328612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1125" dirty="0">
                  <a:solidFill>
                    <a:srgbClr val="D32F2F"/>
                  </a:solidFill>
                  <a:latin typeface="Arial"/>
                  <a:ea typeface="SimHei"/>
                  <a:cs typeface="Arial"/>
                </a:rPr>
                <a:t>未达</a:t>
              </a:r>
            </a:p>
          </p:txBody>
        </p:sp>
      </p:grpSp>
      <p:grpSp>
        <p:nvGrpSpPr>
          <p:cNvPr id="83" name="Group 83"/>
          <p:cNvGrpSpPr/>
          <p:nvPr/>
        </p:nvGrpSpPr>
        <p:grpSpPr>
          <a:xfrm>
            <a:off x="685800" y="4000500"/>
            <a:ext cx="10820400" cy="2212181"/>
            <a:chOff x="685800" y="4000500"/>
            <a:chExt cx="10820400" cy="2212181"/>
          </a:xfrm>
        </p:grpSpPr>
        <p:sp>
          <p:nvSpPr>
            <p:cNvPr id="50" name="Rectangle 50"/>
            <p:cNvSpPr/>
            <p:nvPr/>
          </p:nvSpPr>
          <p:spPr>
            <a:xfrm>
              <a:off x="685800" y="4000500"/>
              <a:ext cx="10820400" cy="371475"/>
            </a:xfrm>
            <a:prstGeom prst="rect">
              <a:avLst/>
            </a:prstGeom>
            <a:solidFill>
              <a:srgbClr val="F4F7FB"/>
            </a:solidFill>
            <a:ln>
              <a:noFill/>
            </a:ln>
          </p:spPr>
        </p:sp>
        <p:sp>
          <p:nvSpPr>
            <p:cNvPr id="51" name="TextBox 51"/>
            <p:cNvSpPr txBox="1"/>
            <p:nvPr/>
          </p:nvSpPr>
          <p:spPr>
            <a:xfrm>
              <a:off x="823912" y="4126706"/>
              <a:ext cx="193596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125" dirty="0">
                  <a:solidFill>
                    <a:srgbClr val="93A0B0"/>
                  </a:solidFill>
                  <a:latin typeface="Arial"/>
                  <a:ea typeface="Arial"/>
                  <a:cs typeface="Arial"/>
                </a:rPr>
                <a:t>07</a:t>
              </a:r>
            </a:p>
          </p:txBody>
        </p:sp>
        <p:sp>
          <p:nvSpPr>
            <p:cNvPr id="52" name="TextBox 52"/>
            <p:cNvSpPr txBox="1"/>
            <p:nvPr/>
          </p:nvSpPr>
          <p:spPr>
            <a:xfrm>
              <a:off x="1185862" y="4126706"/>
              <a:ext cx="1378744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5" dirty="0">
                  <a:solidFill>
                    <a:srgbClr val="1A2230"/>
                  </a:solidFill>
                  <a:latin typeface="Arial"/>
                  <a:ea typeface="Microsoft YaHei"/>
                  <a:cs typeface="Arial"/>
                </a:rPr>
                <a:t>回寄物流小程序可见</a:t>
              </a:r>
            </a:p>
          </p:txBody>
        </p:sp>
        <p:sp>
          <p:nvSpPr>
            <p:cNvPr id="53" name="TextBox 53"/>
            <p:cNvSpPr txBox="1"/>
            <p:nvPr/>
          </p:nvSpPr>
          <p:spPr>
            <a:xfrm>
              <a:off x="5891212" y="4126706"/>
              <a:ext cx="328612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5" dirty="0">
                  <a:solidFill>
                    <a:srgbClr val="2E7D32"/>
                  </a:solidFill>
                  <a:latin typeface="Arial"/>
                  <a:ea typeface="Microsoft YaHei"/>
                  <a:cs typeface="Arial"/>
                </a:rPr>
                <a:t>就绪</a:t>
              </a:r>
            </a:p>
          </p:txBody>
        </p:sp>
        <p:sp>
          <p:nvSpPr>
            <p:cNvPr id="54" name="TextBox 54"/>
            <p:cNvSpPr txBox="1"/>
            <p:nvPr/>
          </p:nvSpPr>
          <p:spPr>
            <a:xfrm>
              <a:off x="7148512" y="4126706"/>
              <a:ext cx="478631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5" dirty="0">
                  <a:solidFill>
                    <a:srgbClr val="5A6675"/>
                  </a:solidFill>
                  <a:latin typeface="Arial"/>
                  <a:ea typeface="Microsoft YaHei"/>
                  <a:cs typeface="Arial"/>
                </a:rPr>
                <a:t>未验收</a:t>
              </a:r>
            </a:p>
          </p:txBody>
        </p:sp>
        <p:sp>
          <p:nvSpPr>
            <p:cNvPr id="55" name="TextBox 55"/>
            <p:cNvSpPr txBox="1"/>
            <p:nvPr/>
          </p:nvSpPr>
          <p:spPr>
            <a:xfrm>
              <a:off x="11115675" y="4126706"/>
              <a:ext cx="328612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1125" dirty="0">
                  <a:solidFill>
                    <a:srgbClr val="D32F2F"/>
                  </a:solidFill>
                  <a:latin typeface="Arial"/>
                  <a:ea typeface="SimHei"/>
                  <a:cs typeface="Arial"/>
                </a:rPr>
                <a:t>未达</a:t>
              </a:r>
            </a:p>
          </p:txBody>
        </p:sp>
        <p:sp>
          <p:nvSpPr>
            <p:cNvPr id="56" name="TextBox 56"/>
            <p:cNvSpPr txBox="1"/>
            <p:nvPr/>
          </p:nvSpPr>
          <p:spPr>
            <a:xfrm>
              <a:off x="823912" y="4498181"/>
              <a:ext cx="193596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125" dirty="0">
                  <a:solidFill>
                    <a:srgbClr val="93A0B0"/>
                  </a:solidFill>
                  <a:latin typeface="Arial"/>
                  <a:ea typeface="Arial"/>
                  <a:cs typeface="Arial"/>
                </a:rPr>
                <a:t>08</a:t>
              </a:r>
            </a:p>
          </p:txBody>
        </p:sp>
        <p:sp>
          <p:nvSpPr>
            <p:cNvPr id="57" name="TextBox 57"/>
            <p:cNvSpPr txBox="1"/>
            <p:nvPr/>
          </p:nvSpPr>
          <p:spPr>
            <a:xfrm>
              <a:off x="1185862" y="4498181"/>
              <a:ext cx="2323862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5" dirty="0">
                  <a:solidFill>
                    <a:srgbClr val="1A2230"/>
                  </a:solidFill>
                  <a:latin typeface="Arial"/>
                  <a:ea typeface="Microsoft YaHei"/>
                  <a:cs typeface="Arial"/>
                </a:rPr>
                <a:t>订阅消息成功 / 失败 / 拒绝可追踪</a:t>
              </a:r>
            </a:p>
          </p:txBody>
        </p:sp>
        <p:sp>
          <p:nvSpPr>
            <p:cNvPr id="58" name="TextBox 58"/>
            <p:cNvSpPr txBox="1"/>
            <p:nvPr/>
          </p:nvSpPr>
          <p:spPr>
            <a:xfrm>
              <a:off x="5891212" y="4498181"/>
              <a:ext cx="328612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5" dirty="0">
                  <a:solidFill>
                    <a:srgbClr val="2E7D32"/>
                  </a:solidFill>
                  <a:latin typeface="Arial"/>
                  <a:ea typeface="Microsoft YaHei"/>
                  <a:cs typeface="Arial"/>
                </a:rPr>
                <a:t>就绪</a:t>
              </a:r>
            </a:p>
          </p:txBody>
        </p:sp>
        <p:sp>
          <p:nvSpPr>
            <p:cNvPr id="59" name="TextBox 59"/>
            <p:cNvSpPr txBox="1"/>
            <p:nvPr/>
          </p:nvSpPr>
          <p:spPr>
            <a:xfrm>
              <a:off x="7148512" y="4498181"/>
              <a:ext cx="846177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5" dirty="0">
                  <a:solidFill>
                    <a:srgbClr val="5A6675"/>
                  </a:solidFill>
                  <a:latin typeface="Arial"/>
                  <a:ea typeface="Microsoft YaHei"/>
                  <a:cs typeface="Arial"/>
                </a:rPr>
                <a:t>模板 ID 未配</a:t>
              </a:r>
            </a:p>
          </p:txBody>
        </p:sp>
        <p:sp>
          <p:nvSpPr>
            <p:cNvPr id="60" name="TextBox 60"/>
            <p:cNvSpPr txBox="1"/>
            <p:nvPr/>
          </p:nvSpPr>
          <p:spPr>
            <a:xfrm>
              <a:off x="11115675" y="4498181"/>
              <a:ext cx="328612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1125" dirty="0">
                  <a:solidFill>
                    <a:srgbClr val="D32F2F"/>
                  </a:solidFill>
                  <a:latin typeface="Arial"/>
                  <a:ea typeface="SimHei"/>
                  <a:cs typeface="Arial"/>
                </a:rPr>
                <a:t>未达</a:t>
              </a:r>
            </a:p>
          </p:txBody>
        </p:sp>
        <p:sp>
          <p:nvSpPr>
            <p:cNvPr id="61" name="Rectangle 61"/>
            <p:cNvSpPr/>
            <p:nvPr/>
          </p:nvSpPr>
          <p:spPr>
            <a:xfrm>
              <a:off x="685800" y="4743450"/>
              <a:ext cx="10820400" cy="371475"/>
            </a:xfrm>
            <a:prstGeom prst="rect">
              <a:avLst/>
            </a:prstGeom>
            <a:solidFill>
              <a:srgbClr val="F4F7FB"/>
            </a:solidFill>
            <a:ln>
              <a:noFill/>
            </a:ln>
          </p:spPr>
        </p:sp>
        <p:sp>
          <p:nvSpPr>
            <p:cNvPr id="62" name="TextBox 62"/>
            <p:cNvSpPr txBox="1"/>
            <p:nvPr/>
          </p:nvSpPr>
          <p:spPr>
            <a:xfrm>
              <a:off x="823912" y="4869656"/>
              <a:ext cx="193596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125" dirty="0">
                  <a:solidFill>
                    <a:srgbClr val="93A0B0"/>
                  </a:solidFill>
                  <a:latin typeface="Arial"/>
                  <a:ea typeface="Arial"/>
                  <a:cs typeface="Arial"/>
                </a:rPr>
                <a:t>09</a:t>
              </a:r>
            </a:p>
          </p:txBody>
        </p:sp>
        <p:sp>
          <p:nvSpPr>
            <p:cNvPr id="63" name="TextBox 63"/>
            <p:cNvSpPr txBox="1"/>
            <p:nvPr/>
          </p:nvSpPr>
          <p:spPr>
            <a:xfrm>
              <a:off x="1185862" y="4869656"/>
              <a:ext cx="2091333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5" dirty="0">
                  <a:solidFill>
                    <a:srgbClr val="1A2230"/>
                  </a:solidFill>
                  <a:latin typeface="Arial"/>
                  <a:ea typeface="Microsoft YaHei"/>
                  <a:cs typeface="Arial"/>
                </a:rPr>
                <a:t>PC 后台正式域名 HTTPS 可访问</a:t>
              </a:r>
            </a:p>
          </p:txBody>
        </p:sp>
        <p:sp>
          <p:nvSpPr>
            <p:cNvPr id="64" name="TextBox 64"/>
            <p:cNvSpPr txBox="1"/>
            <p:nvPr/>
          </p:nvSpPr>
          <p:spPr>
            <a:xfrm>
              <a:off x="5891212" y="4869656"/>
              <a:ext cx="111085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125" dirty="0">
                  <a:solidFill>
                    <a:srgbClr val="93A0B0"/>
                  </a:solidFill>
                  <a:latin typeface="Arial"/>
                  <a:ea typeface="Arial"/>
                  <a:cs typeface="Arial"/>
                </a:rPr>
                <a:t>—</a:t>
              </a:r>
            </a:p>
          </p:txBody>
        </p:sp>
        <p:sp>
          <p:nvSpPr>
            <p:cNvPr id="65" name="TextBox 65"/>
            <p:cNvSpPr txBox="1"/>
            <p:nvPr/>
          </p:nvSpPr>
          <p:spPr>
            <a:xfrm>
              <a:off x="7148512" y="4869656"/>
              <a:ext cx="478631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5" dirty="0">
                  <a:solidFill>
                    <a:srgbClr val="5A6675"/>
                  </a:solidFill>
                  <a:latin typeface="Arial"/>
                  <a:ea typeface="Microsoft YaHei"/>
                  <a:cs typeface="Arial"/>
                </a:rPr>
                <a:t>未部署</a:t>
              </a:r>
            </a:p>
          </p:txBody>
        </p:sp>
        <p:sp>
          <p:nvSpPr>
            <p:cNvPr id="66" name="TextBox 66"/>
            <p:cNvSpPr txBox="1"/>
            <p:nvPr/>
          </p:nvSpPr>
          <p:spPr>
            <a:xfrm>
              <a:off x="11115675" y="4869656"/>
              <a:ext cx="328612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1125" dirty="0">
                  <a:solidFill>
                    <a:srgbClr val="D32F2F"/>
                  </a:solidFill>
                  <a:latin typeface="Arial"/>
                  <a:ea typeface="SimHei"/>
                  <a:cs typeface="Arial"/>
                </a:rPr>
                <a:t>未达</a:t>
              </a:r>
            </a:p>
          </p:txBody>
        </p:sp>
        <p:sp>
          <p:nvSpPr>
            <p:cNvPr id="67" name="TextBox 67"/>
            <p:cNvSpPr txBox="1"/>
            <p:nvPr/>
          </p:nvSpPr>
          <p:spPr>
            <a:xfrm>
              <a:off x="823912" y="5241131"/>
              <a:ext cx="193596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125" dirty="0">
                  <a:solidFill>
                    <a:srgbClr val="93A0B0"/>
                  </a:solidFill>
                  <a:latin typeface="Arial"/>
                  <a:ea typeface="Arial"/>
                  <a:cs typeface="Arial"/>
                </a:rPr>
                <a:t>10</a:t>
              </a:r>
            </a:p>
          </p:txBody>
        </p:sp>
        <p:sp>
          <p:nvSpPr>
            <p:cNvPr id="68" name="TextBox 68"/>
            <p:cNvSpPr txBox="1"/>
            <p:nvPr/>
          </p:nvSpPr>
          <p:spPr>
            <a:xfrm>
              <a:off x="1185862" y="5241131"/>
              <a:ext cx="2646402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5" dirty="0">
                  <a:solidFill>
                    <a:srgbClr val="1A2230"/>
                  </a:solidFill>
                  <a:latin typeface="Arial"/>
                  <a:ea typeface="Microsoft YaHei"/>
                  <a:cs typeface="Arial"/>
                </a:rPr>
                <a:t>不依赖 localhost / mock / 开发云空间</a:t>
              </a:r>
            </a:p>
          </p:txBody>
        </p:sp>
        <p:sp>
          <p:nvSpPr>
            <p:cNvPr id="69" name="TextBox 69"/>
            <p:cNvSpPr txBox="1"/>
            <p:nvPr/>
          </p:nvSpPr>
          <p:spPr>
            <a:xfrm>
              <a:off x="5891212" y="5241131"/>
              <a:ext cx="111085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125" dirty="0">
                  <a:solidFill>
                    <a:srgbClr val="93A0B0"/>
                  </a:solidFill>
                  <a:latin typeface="Arial"/>
                  <a:ea typeface="Arial"/>
                  <a:cs typeface="Arial"/>
                </a:rPr>
                <a:t>—</a:t>
              </a:r>
            </a:p>
          </p:txBody>
        </p:sp>
        <p:sp>
          <p:nvSpPr>
            <p:cNvPr id="70" name="TextBox 70"/>
            <p:cNvSpPr txBox="1"/>
            <p:nvPr/>
          </p:nvSpPr>
          <p:spPr>
            <a:xfrm>
              <a:off x="7148512" y="5241131"/>
              <a:ext cx="1228725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5" dirty="0">
                  <a:solidFill>
                    <a:srgbClr val="5A6675"/>
                  </a:solidFill>
                  <a:latin typeface="Arial"/>
                  <a:ea typeface="Microsoft YaHei"/>
                  <a:cs typeface="Arial"/>
                </a:rPr>
                <a:t>当前连开发云空间</a:t>
              </a:r>
            </a:p>
          </p:txBody>
        </p:sp>
        <p:sp>
          <p:nvSpPr>
            <p:cNvPr id="71" name="TextBox 71"/>
            <p:cNvSpPr txBox="1"/>
            <p:nvPr/>
          </p:nvSpPr>
          <p:spPr>
            <a:xfrm>
              <a:off x="11115675" y="5241131"/>
              <a:ext cx="328612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1125" dirty="0">
                  <a:solidFill>
                    <a:srgbClr val="D32F2F"/>
                  </a:solidFill>
                  <a:latin typeface="Arial"/>
                  <a:ea typeface="SimHei"/>
                  <a:cs typeface="Arial"/>
                </a:rPr>
                <a:t>未达</a:t>
              </a:r>
            </a:p>
          </p:txBody>
        </p:sp>
        <p:sp>
          <p:nvSpPr>
            <p:cNvPr id="72" name="Rectangle 72"/>
            <p:cNvSpPr/>
            <p:nvPr/>
          </p:nvSpPr>
          <p:spPr>
            <a:xfrm>
              <a:off x="685800" y="5486400"/>
              <a:ext cx="10820400" cy="371475"/>
            </a:xfrm>
            <a:prstGeom prst="rect">
              <a:avLst/>
            </a:prstGeom>
            <a:solidFill>
              <a:srgbClr val="F4F7FB"/>
            </a:solidFill>
            <a:ln>
              <a:noFill/>
            </a:ln>
          </p:spPr>
        </p:sp>
        <p:sp>
          <p:nvSpPr>
            <p:cNvPr id="73" name="TextBox 73"/>
            <p:cNvSpPr txBox="1"/>
            <p:nvPr/>
          </p:nvSpPr>
          <p:spPr>
            <a:xfrm>
              <a:off x="823912" y="5612606"/>
              <a:ext cx="193596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125" dirty="0">
                  <a:solidFill>
                    <a:srgbClr val="93A0B0"/>
                  </a:solidFill>
                  <a:latin typeface="Arial"/>
                  <a:ea typeface="Arial"/>
                  <a:cs typeface="Arial"/>
                </a:rPr>
                <a:t>11</a:t>
              </a:r>
            </a:p>
          </p:txBody>
        </p:sp>
        <p:sp>
          <p:nvSpPr>
            <p:cNvPr id="74" name="TextBox 74"/>
            <p:cNvSpPr txBox="1"/>
            <p:nvPr/>
          </p:nvSpPr>
          <p:spPr>
            <a:xfrm>
              <a:off x="1185862" y="5612606"/>
              <a:ext cx="2301359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5" dirty="0">
                  <a:solidFill>
                    <a:srgbClr val="1A2230"/>
                  </a:solidFill>
                  <a:latin typeface="Arial"/>
                  <a:ea typeface="Microsoft YaHei"/>
                  <a:cs typeface="Arial"/>
                </a:rPr>
                <a:t>数据库唯一 + 关键复合索引已创建</a:t>
              </a:r>
            </a:p>
          </p:txBody>
        </p:sp>
        <p:sp>
          <p:nvSpPr>
            <p:cNvPr id="75" name="TextBox 75"/>
            <p:cNvSpPr txBox="1"/>
            <p:nvPr/>
          </p:nvSpPr>
          <p:spPr>
            <a:xfrm>
              <a:off x="5891212" y="5612606"/>
              <a:ext cx="328612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5" dirty="0">
                  <a:solidFill>
                    <a:srgbClr val="2E7D32"/>
                  </a:solidFill>
                  <a:latin typeface="Arial"/>
                  <a:ea typeface="Microsoft YaHei"/>
                  <a:cs typeface="Arial"/>
                </a:rPr>
                <a:t>清单</a:t>
              </a:r>
            </a:p>
          </p:txBody>
        </p:sp>
        <p:sp>
          <p:nvSpPr>
            <p:cNvPr id="76" name="TextBox 76"/>
            <p:cNvSpPr txBox="1"/>
            <p:nvPr/>
          </p:nvSpPr>
          <p:spPr>
            <a:xfrm>
              <a:off x="7148512" y="5612606"/>
              <a:ext cx="928688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5" dirty="0">
                  <a:solidFill>
                    <a:srgbClr val="5A6675"/>
                  </a:solidFill>
                  <a:latin typeface="Arial"/>
                  <a:ea typeface="Microsoft YaHei"/>
                  <a:cs typeface="Arial"/>
                </a:rPr>
                <a:t>控制台未创建</a:t>
              </a:r>
            </a:p>
          </p:txBody>
        </p:sp>
        <p:sp>
          <p:nvSpPr>
            <p:cNvPr id="77" name="TextBox 77"/>
            <p:cNvSpPr txBox="1"/>
            <p:nvPr/>
          </p:nvSpPr>
          <p:spPr>
            <a:xfrm>
              <a:off x="11115675" y="5612606"/>
              <a:ext cx="328612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1125" dirty="0">
                  <a:solidFill>
                    <a:srgbClr val="D32F2F"/>
                  </a:solidFill>
                  <a:latin typeface="Arial"/>
                  <a:ea typeface="SimHei"/>
                  <a:cs typeface="Arial"/>
                </a:rPr>
                <a:t>未达</a:t>
              </a:r>
            </a:p>
          </p:txBody>
        </p:sp>
        <p:sp>
          <p:nvSpPr>
            <p:cNvPr id="78" name="TextBox 78"/>
            <p:cNvSpPr txBox="1"/>
            <p:nvPr/>
          </p:nvSpPr>
          <p:spPr>
            <a:xfrm>
              <a:off x="823912" y="5984081"/>
              <a:ext cx="193596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125" dirty="0">
                  <a:solidFill>
                    <a:srgbClr val="93A0B0"/>
                  </a:solidFill>
                  <a:latin typeface="Arial"/>
                  <a:ea typeface="Arial"/>
                  <a:cs typeface="Arial"/>
                </a:rPr>
                <a:t>12</a:t>
              </a:r>
            </a:p>
          </p:txBody>
        </p:sp>
        <p:sp>
          <p:nvSpPr>
            <p:cNvPr id="79" name="TextBox 79"/>
            <p:cNvSpPr txBox="1"/>
            <p:nvPr/>
          </p:nvSpPr>
          <p:spPr>
            <a:xfrm>
              <a:off x="1185862" y="5984081"/>
              <a:ext cx="1828800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5" dirty="0">
                  <a:solidFill>
                    <a:srgbClr val="1A2230"/>
                  </a:solidFill>
                  <a:latin typeface="Arial"/>
                  <a:ea typeface="Microsoft YaHei"/>
                  <a:cs typeface="Arial"/>
                </a:rPr>
                <a:t>客户可见资料全部正式版本</a:t>
              </a:r>
            </a:p>
          </p:txBody>
        </p:sp>
        <p:sp>
          <p:nvSpPr>
            <p:cNvPr id="80" name="TextBox 80"/>
            <p:cNvSpPr txBox="1"/>
            <p:nvPr/>
          </p:nvSpPr>
          <p:spPr>
            <a:xfrm>
              <a:off x="5891212" y="5984081"/>
              <a:ext cx="111085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125" dirty="0">
                  <a:solidFill>
                    <a:srgbClr val="93A0B0"/>
                  </a:solidFill>
                  <a:latin typeface="Arial"/>
                  <a:ea typeface="Arial"/>
                  <a:cs typeface="Arial"/>
                </a:rPr>
                <a:t>—</a:t>
              </a:r>
            </a:p>
          </p:txBody>
        </p:sp>
        <p:sp>
          <p:nvSpPr>
            <p:cNvPr id="81" name="TextBox 81"/>
            <p:cNvSpPr txBox="1"/>
            <p:nvPr/>
          </p:nvSpPr>
          <p:spPr>
            <a:xfrm>
              <a:off x="7148512" y="5984081"/>
              <a:ext cx="1251228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5" dirty="0">
                  <a:solidFill>
                    <a:srgbClr val="5A6675"/>
                  </a:solidFill>
                  <a:latin typeface="Arial"/>
                  <a:ea typeface="Microsoft YaHei"/>
                  <a:cs typeface="Arial"/>
                </a:rPr>
                <a:t>热线 / 资质待确认</a:t>
              </a:r>
            </a:p>
          </p:txBody>
        </p:sp>
        <p:sp>
          <p:nvSpPr>
            <p:cNvPr id="82" name="TextBox 82"/>
            <p:cNvSpPr txBox="1"/>
            <p:nvPr/>
          </p:nvSpPr>
          <p:spPr>
            <a:xfrm>
              <a:off x="10965656" y="5984081"/>
              <a:ext cx="478631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1125" dirty="0">
                  <a:solidFill>
                    <a:srgbClr val="B7791F"/>
                  </a:solidFill>
                  <a:latin typeface="Arial"/>
                  <a:ea typeface="SimHei"/>
                  <a:cs typeface="Arial"/>
                </a:rPr>
                <a:t>待确认</a:t>
              </a:r>
            </a:p>
          </p:txBody>
        </p:sp>
      </p:grpSp>
      <p:grpSp>
        <p:nvGrpSpPr>
          <p:cNvPr id="86" name="Group 86"/>
          <p:cNvGrpSpPr/>
          <p:nvPr/>
        </p:nvGrpSpPr>
        <p:grpSpPr>
          <a:xfrm>
            <a:off x="673418" y="6352699"/>
            <a:ext cx="10843259" cy="412432"/>
            <a:chOff x="673418" y="6352699"/>
            <a:chExt cx="10843259" cy="412432"/>
          </a:xfrm>
        </p:grpSpPr>
        <p:sp>
          <p:nvSpPr>
            <p:cNvPr id="84" name="TextBox 84"/>
            <p:cNvSpPr txBox="1"/>
            <p:nvPr/>
          </p:nvSpPr>
          <p:spPr>
            <a:xfrm>
              <a:off x="673418" y="6352699"/>
              <a:ext cx="5686973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dirty="0">
                  <a:solidFill>
                    <a:srgbClr val="93A0B0"/>
                  </a:solidFill>
                  <a:latin typeface="Arial"/>
                  <a:ea typeface="Microsoft YaHei"/>
                  <a:cs typeface="Arial"/>
                </a:rPr>
                <a:t>门槛达成 0 / 12：代码侧已就绪 8 项，但全部卡在部署 / 配置 / 验收，任一未过原则上不得提审。</a:t>
              </a:r>
            </a:p>
          </p:txBody>
        </p:sp>
        <p:sp>
          <p:nvSpPr>
            <p:cNvPr id="85" name="TextBox 85"/>
            <p:cNvSpPr txBox="1"/>
            <p:nvPr/>
          </p:nvSpPr>
          <p:spPr>
            <a:xfrm>
              <a:off x="10335077" y="6597491"/>
              <a:ext cx="1181600" cy="1676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en-US" sz="825" dirty="0">
                  <a:solidFill>
                    <a:srgbClr val="93A0B0"/>
                  </a:solidFill>
                  <a:latin typeface="Arial"/>
                  <a:ea typeface="Arial"/>
                  <a:cs typeface="Arial"/>
                </a:rPr>
                <a:t>2026-06-22 · P06 / 12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</p:sp>
      <p:grpSp>
        <p:nvGrpSpPr>
          <p:cNvPr id="7" name="Group 7"/>
          <p:cNvGrpSpPr/>
          <p:nvPr/>
        </p:nvGrpSpPr>
        <p:grpSpPr>
          <a:xfrm>
            <a:off x="685800" y="533400"/>
            <a:ext cx="10833735" cy="504825"/>
            <a:chOff x="685800" y="533400"/>
            <a:chExt cx="10833735" cy="504825"/>
          </a:xfrm>
        </p:grpSpPr>
        <p:sp>
          <p:nvSpPr>
            <p:cNvPr id="3" name="Rectangle 3"/>
            <p:cNvSpPr/>
            <p:nvPr/>
          </p:nvSpPr>
          <p:spPr>
            <a:xfrm>
              <a:off x="685800" y="533400"/>
              <a:ext cx="57150" cy="323850"/>
            </a:xfrm>
            <a:prstGeom prst="rect">
              <a:avLst/>
            </a:prstGeom>
            <a:solidFill>
              <a:srgbClr val="1565C0"/>
            </a:solidFill>
            <a:ln>
              <a:noFill/>
            </a:ln>
          </p:spPr>
        </p:sp>
        <p:sp>
          <p:nvSpPr>
            <p:cNvPr id="4" name="TextBox 4"/>
            <p:cNvSpPr txBox="1"/>
            <p:nvPr/>
          </p:nvSpPr>
          <p:spPr>
            <a:xfrm>
              <a:off x="847725" y="557212"/>
              <a:ext cx="1632347" cy="4572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250" b="1" dirty="0">
                  <a:solidFill>
                    <a:srgbClr val="1A2230"/>
                  </a:solidFill>
                  <a:latin typeface="Arial"/>
                  <a:ea typeface="SimHei"/>
                  <a:cs typeface="Arial"/>
                </a:rPr>
                <a:t>上线里程碑</a:t>
              </a:r>
            </a:p>
          </p:txBody>
        </p:sp>
        <p:sp>
          <p:nvSpPr>
            <p:cNvPr id="5" name="TextBox 5"/>
            <p:cNvSpPr txBox="1"/>
            <p:nvPr/>
          </p:nvSpPr>
          <p:spPr>
            <a:xfrm>
              <a:off x="9994678" y="667702"/>
              <a:ext cx="1524857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1050" dirty="0">
                  <a:solidFill>
                    <a:srgbClr val="93A0B0"/>
                  </a:solidFill>
                  <a:latin typeface="Arial"/>
                  <a:ea typeface="Microsoft YaHei"/>
                  <a:cs typeface="Arial"/>
                </a:rPr>
                <a:t>2026-06-22 → 07-04 起</a:t>
              </a:r>
            </a:p>
          </p:txBody>
        </p:sp>
        <p:sp>
          <p:nvSpPr>
            <p:cNvPr id="6" name="Line 6"/>
            <p:cNvSpPr/>
            <p:nvPr/>
          </p:nvSpPr>
          <p:spPr>
            <a:xfrm>
              <a:off x="685800" y="1028700"/>
              <a:ext cx="10820400" cy="9525"/>
            </a:xfrm>
            <a:custGeom>
              <a:avLst/>
              <a:gdLst/>
              <a:ahLst/>
              <a:cxnLst/>
              <a:rect l="l" t="t" r="r" b="b"/>
              <a:pathLst>
                <a:path w="10820400" h="9525">
                  <a:moveTo>
                    <a:pt x="0" y="0"/>
                  </a:moveTo>
                  <a:lnTo>
                    <a:pt x="10820400" y="0"/>
                  </a:lnTo>
                </a:path>
              </a:pathLst>
            </a:custGeom>
            <a:noFill/>
            <a:ln w="9525">
              <a:solidFill>
                <a:srgbClr val="E5EAF0"/>
              </a:solidFill>
            </a:ln>
          </p:spPr>
        </p:sp>
      </p:grpSp>
      <p:grpSp>
        <p:nvGrpSpPr>
          <p:cNvPr id="10" name="Group 10"/>
          <p:cNvGrpSpPr/>
          <p:nvPr/>
        </p:nvGrpSpPr>
        <p:grpSpPr>
          <a:xfrm>
            <a:off x="1524000" y="3695700"/>
            <a:ext cx="8686800" cy="9525"/>
            <a:chOff x="1524000" y="3695700"/>
            <a:chExt cx="8686800" cy="9525"/>
          </a:xfrm>
        </p:grpSpPr>
        <p:sp>
          <p:nvSpPr>
            <p:cNvPr id="8" name="Line 8"/>
            <p:cNvSpPr/>
            <p:nvPr/>
          </p:nvSpPr>
          <p:spPr>
            <a:xfrm>
              <a:off x="1524000" y="3695700"/>
              <a:ext cx="8686800" cy="9525"/>
            </a:xfrm>
            <a:custGeom>
              <a:avLst/>
              <a:gdLst/>
              <a:ahLst/>
              <a:cxnLst/>
              <a:rect l="l" t="t" r="r" b="b"/>
              <a:pathLst>
                <a:path w="8686800" h="9525">
                  <a:moveTo>
                    <a:pt x="0" y="0"/>
                  </a:moveTo>
                  <a:lnTo>
                    <a:pt x="8686800" y="0"/>
                  </a:lnTo>
                </a:path>
              </a:pathLst>
            </a:custGeom>
            <a:noFill/>
            <a:ln w="19050">
              <a:solidFill>
                <a:srgbClr val="D7DEE7"/>
              </a:solidFill>
            </a:ln>
          </p:spPr>
        </p:sp>
        <p:sp>
          <p:nvSpPr>
            <p:cNvPr id="9" name="Line 9"/>
            <p:cNvSpPr/>
            <p:nvPr/>
          </p:nvSpPr>
          <p:spPr>
            <a:xfrm>
              <a:off x="1524000" y="3695700"/>
              <a:ext cx="1085850" cy="9525"/>
            </a:xfrm>
            <a:custGeom>
              <a:avLst/>
              <a:gdLst/>
              <a:ahLst/>
              <a:cxnLst/>
              <a:rect l="l" t="t" r="r" b="b"/>
              <a:pathLst>
                <a:path w="1085850" h="9525">
                  <a:moveTo>
                    <a:pt x="0" y="0"/>
                  </a:moveTo>
                  <a:lnTo>
                    <a:pt x="1085850" y="0"/>
                  </a:lnTo>
                </a:path>
              </a:pathLst>
            </a:custGeom>
            <a:noFill/>
            <a:ln w="28575">
              <a:solidFill>
                <a:srgbClr val="1565C0"/>
              </a:solidFill>
            </a:ln>
          </p:spPr>
        </p:sp>
      </p:grpSp>
      <p:grpSp>
        <p:nvGrpSpPr>
          <p:cNvPr id="16" name="Group 16"/>
          <p:cNvGrpSpPr/>
          <p:nvPr/>
        </p:nvGrpSpPr>
        <p:grpSpPr>
          <a:xfrm>
            <a:off x="868680" y="2719864"/>
            <a:ext cx="1310640" cy="1642586"/>
            <a:chOff x="868680" y="2719864"/>
            <a:chExt cx="1310640" cy="1642586"/>
          </a:xfrm>
        </p:grpSpPr>
        <p:sp>
          <p:nvSpPr>
            <p:cNvPr id="11" name="TextBox 11"/>
            <p:cNvSpPr txBox="1"/>
            <p:nvPr/>
          </p:nvSpPr>
          <p:spPr>
            <a:xfrm>
              <a:off x="1061502" y="2719864"/>
              <a:ext cx="924997" cy="2590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275" b="1" dirty="0">
                  <a:solidFill>
                    <a:srgbClr val="1565C0"/>
                  </a:solidFill>
                  <a:latin typeface="Arial"/>
                  <a:ea typeface="Arial"/>
                  <a:cs typeface="Arial"/>
                </a:rPr>
                <a:t>06-22 ~ 24</a:t>
              </a:r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907328" y="3065621"/>
              <a:ext cx="1233345" cy="2895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425" b="1" dirty="0">
                  <a:solidFill>
                    <a:srgbClr val="1A2230"/>
                  </a:solidFill>
                  <a:latin typeface="Arial"/>
                  <a:ea typeface="SimHei"/>
                  <a:cs typeface="Arial"/>
                </a:rPr>
                <a:t>正式资料锁定</a:t>
              </a:r>
            </a:p>
          </p:txBody>
        </p:sp>
        <p:sp>
          <p:nvSpPr>
            <p:cNvPr id="13" name="Ellipse 13"/>
            <p:cNvSpPr/>
            <p:nvPr/>
          </p:nvSpPr>
          <p:spPr>
            <a:xfrm>
              <a:off x="1371600" y="3543300"/>
              <a:ext cx="304800" cy="304800"/>
            </a:xfrm>
            <a:prstGeom prst="ellipse">
              <a:avLst/>
            </a:prstGeom>
            <a:solidFill>
              <a:srgbClr val="1565C0"/>
            </a:solidFill>
            <a:ln>
              <a:noFill/>
            </a:ln>
          </p:spPr>
        </p:sp>
        <p:sp>
          <p:nvSpPr>
            <p:cNvPr id="14" name="TextBox 14"/>
            <p:cNvSpPr txBox="1"/>
            <p:nvPr/>
          </p:nvSpPr>
          <p:spPr>
            <a:xfrm>
              <a:off x="1466395" y="3631406"/>
              <a:ext cx="115211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125" b="1" dirty="0">
                  <a:solidFill>
                    <a:srgbClr val="FFFFFF"/>
                  </a:solidFill>
                  <a:latin typeface="Arial"/>
                  <a:ea typeface="Arial"/>
                  <a:cs typeface="Arial"/>
                </a:rPr>
                <a:t>1</a:t>
              </a:r>
            </a:p>
          </p:txBody>
        </p:sp>
        <p:sp>
          <p:nvSpPr>
            <p:cNvPr id="15" name="TextBox 15"/>
            <p:cNvSpPr txBox="1"/>
            <p:nvPr/>
          </p:nvSpPr>
          <p:spPr>
            <a:xfrm>
              <a:off x="868680" y="4118610"/>
              <a:ext cx="1310640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dirty="0">
                  <a:solidFill>
                    <a:srgbClr val="B7791F"/>
                  </a:solidFill>
                  <a:latin typeface="Arial"/>
                  <a:ea typeface="Microsoft YaHei"/>
                  <a:cs typeface="Arial"/>
                </a:rPr>
                <a:t>进行中（今日起）</a:t>
              </a:r>
            </a:p>
          </p:txBody>
        </p:sp>
      </p:grpSp>
      <p:grpSp>
        <p:nvGrpSpPr>
          <p:cNvPr id="22" name="Group 22"/>
          <p:cNvGrpSpPr/>
          <p:nvPr/>
        </p:nvGrpSpPr>
        <p:grpSpPr>
          <a:xfrm>
            <a:off x="3079028" y="2719864"/>
            <a:ext cx="1233345" cy="1642586"/>
            <a:chOff x="3079028" y="2719864"/>
            <a:chExt cx="1233345" cy="1642586"/>
          </a:xfrm>
        </p:grpSpPr>
        <p:sp>
          <p:nvSpPr>
            <p:cNvPr id="17" name="TextBox 17"/>
            <p:cNvSpPr txBox="1"/>
            <p:nvPr/>
          </p:nvSpPr>
          <p:spPr>
            <a:xfrm>
              <a:off x="3233202" y="2719864"/>
              <a:ext cx="924997" cy="2590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275" b="1" dirty="0">
                  <a:solidFill>
                    <a:srgbClr val="5A6675"/>
                  </a:solidFill>
                  <a:latin typeface="Arial"/>
                  <a:ea typeface="Arial"/>
                  <a:cs typeface="Arial"/>
                </a:rPr>
                <a:t>06-25 ~ 27</a:t>
              </a:r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3079028" y="3065621"/>
              <a:ext cx="1233345" cy="2895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425" b="1" dirty="0">
                  <a:solidFill>
                    <a:srgbClr val="1A2230"/>
                  </a:solidFill>
                  <a:latin typeface="Arial"/>
                  <a:ea typeface="SimHei"/>
                  <a:cs typeface="Arial"/>
                </a:rPr>
                <a:t>正式环境部署</a:t>
              </a:r>
            </a:p>
          </p:txBody>
        </p:sp>
        <p:sp>
          <p:nvSpPr>
            <p:cNvPr id="19" name="Ellipse 19"/>
            <p:cNvSpPr/>
            <p:nvPr/>
          </p:nvSpPr>
          <p:spPr>
            <a:xfrm>
              <a:off x="3543300" y="3543300"/>
              <a:ext cx="304800" cy="304800"/>
            </a:xfrm>
            <a:prstGeom prst="ellipse">
              <a:avLst/>
            </a:prstGeom>
            <a:solidFill>
              <a:srgbClr val="FFFFFF"/>
            </a:solidFill>
            <a:ln w="19050">
              <a:solidFill>
                <a:srgbClr val="93A0B0"/>
              </a:solidFill>
            </a:ln>
          </p:spPr>
        </p:sp>
        <p:sp>
          <p:nvSpPr>
            <p:cNvPr id="20" name="TextBox 20"/>
            <p:cNvSpPr txBox="1"/>
            <p:nvPr/>
          </p:nvSpPr>
          <p:spPr>
            <a:xfrm>
              <a:off x="3638095" y="3631406"/>
              <a:ext cx="115211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125" b="1" dirty="0">
                  <a:solidFill>
                    <a:srgbClr val="93A0B0"/>
                  </a:solidFill>
                  <a:latin typeface="Arial"/>
                  <a:ea typeface="Arial"/>
                  <a:cs typeface="Arial"/>
                </a:rPr>
                <a:t>2</a:t>
              </a:r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3440430" y="4118610"/>
              <a:ext cx="510540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dirty="0">
                  <a:solidFill>
                    <a:srgbClr val="93A0B0"/>
                  </a:solidFill>
                  <a:latin typeface="Arial"/>
                  <a:ea typeface="Microsoft YaHei"/>
                  <a:cs typeface="Arial"/>
                </a:rPr>
                <a:t>未开始</a:t>
              </a:r>
            </a:p>
          </p:txBody>
        </p:sp>
      </p:grpSp>
      <p:grpSp>
        <p:nvGrpSpPr>
          <p:cNvPr id="28" name="Group 28"/>
          <p:cNvGrpSpPr/>
          <p:nvPr/>
        </p:nvGrpSpPr>
        <p:grpSpPr>
          <a:xfrm>
            <a:off x="5051203" y="2719864"/>
            <a:ext cx="1632395" cy="1642586"/>
            <a:chOff x="5051203" y="2719864"/>
            <a:chExt cx="1632395" cy="1642586"/>
          </a:xfrm>
        </p:grpSpPr>
        <p:sp>
          <p:nvSpPr>
            <p:cNvPr id="23" name="TextBox 23"/>
            <p:cNvSpPr txBox="1"/>
            <p:nvPr/>
          </p:nvSpPr>
          <p:spPr>
            <a:xfrm>
              <a:off x="5404902" y="2719864"/>
              <a:ext cx="924997" cy="2590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275" b="1" dirty="0">
                  <a:solidFill>
                    <a:srgbClr val="5A6675"/>
                  </a:solidFill>
                  <a:latin typeface="Arial"/>
                  <a:ea typeface="Arial"/>
                  <a:cs typeface="Arial"/>
                </a:rPr>
                <a:t>06-28 ~ 30</a:t>
              </a:r>
            </a:p>
          </p:txBody>
        </p:sp>
        <p:sp>
          <p:nvSpPr>
            <p:cNvPr id="24" name="TextBox 24"/>
            <p:cNvSpPr txBox="1"/>
            <p:nvPr/>
          </p:nvSpPr>
          <p:spPr>
            <a:xfrm>
              <a:off x="5051203" y="3065621"/>
              <a:ext cx="1632395" cy="2895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425" b="1" dirty="0">
                  <a:solidFill>
                    <a:srgbClr val="1A2230"/>
                  </a:solidFill>
                  <a:latin typeface="Arial"/>
                  <a:ea typeface="SimHei"/>
                  <a:cs typeface="Arial"/>
                </a:rPr>
                <a:t>第一轮全流程验收</a:t>
              </a:r>
            </a:p>
          </p:txBody>
        </p:sp>
        <p:sp>
          <p:nvSpPr>
            <p:cNvPr id="25" name="Ellipse 25"/>
            <p:cNvSpPr/>
            <p:nvPr/>
          </p:nvSpPr>
          <p:spPr>
            <a:xfrm>
              <a:off x="5715000" y="3543300"/>
              <a:ext cx="304800" cy="304800"/>
            </a:xfrm>
            <a:prstGeom prst="ellipse">
              <a:avLst/>
            </a:prstGeom>
            <a:solidFill>
              <a:srgbClr val="FFFFFF"/>
            </a:solidFill>
            <a:ln w="19050">
              <a:solidFill>
                <a:srgbClr val="93A0B0"/>
              </a:solidFill>
            </a:ln>
          </p:spPr>
        </p:sp>
        <p:sp>
          <p:nvSpPr>
            <p:cNvPr id="26" name="TextBox 26"/>
            <p:cNvSpPr txBox="1"/>
            <p:nvPr/>
          </p:nvSpPr>
          <p:spPr>
            <a:xfrm>
              <a:off x="5809795" y="3631406"/>
              <a:ext cx="115211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125" b="1" dirty="0">
                  <a:solidFill>
                    <a:srgbClr val="93A0B0"/>
                  </a:solidFill>
                  <a:latin typeface="Arial"/>
                  <a:ea typeface="Arial"/>
                  <a:cs typeface="Arial"/>
                </a:rPr>
                <a:t>3</a:t>
              </a:r>
            </a:p>
          </p:txBody>
        </p:sp>
        <p:sp>
          <p:nvSpPr>
            <p:cNvPr id="27" name="TextBox 27"/>
            <p:cNvSpPr txBox="1"/>
            <p:nvPr/>
          </p:nvSpPr>
          <p:spPr>
            <a:xfrm>
              <a:off x="5612130" y="4118610"/>
              <a:ext cx="510540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dirty="0">
                  <a:solidFill>
                    <a:srgbClr val="93A0B0"/>
                  </a:solidFill>
                  <a:latin typeface="Arial"/>
                  <a:ea typeface="Microsoft YaHei"/>
                  <a:cs typeface="Arial"/>
                </a:rPr>
                <a:t>未开始</a:t>
              </a:r>
            </a:p>
          </p:txBody>
        </p:sp>
      </p:grpSp>
      <p:grpSp>
        <p:nvGrpSpPr>
          <p:cNvPr id="34" name="Group 34"/>
          <p:cNvGrpSpPr/>
          <p:nvPr/>
        </p:nvGrpSpPr>
        <p:grpSpPr>
          <a:xfrm>
            <a:off x="7108176" y="2719864"/>
            <a:ext cx="1861848" cy="1642586"/>
            <a:chOff x="7108176" y="2719864"/>
            <a:chExt cx="1861848" cy="1642586"/>
          </a:xfrm>
        </p:grpSpPr>
        <p:sp>
          <p:nvSpPr>
            <p:cNvPr id="29" name="TextBox 29"/>
            <p:cNvSpPr txBox="1"/>
            <p:nvPr/>
          </p:nvSpPr>
          <p:spPr>
            <a:xfrm>
              <a:off x="7576602" y="2719864"/>
              <a:ext cx="924997" cy="2590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275" b="1" dirty="0">
                  <a:solidFill>
                    <a:srgbClr val="5A6675"/>
                  </a:solidFill>
                  <a:latin typeface="Arial"/>
                  <a:ea typeface="Arial"/>
                  <a:cs typeface="Arial"/>
                </a:rPr>
                <a:t>07-01 ~ 03</a:t>
              </a:r>
            </a:p>
          </p:txBody>
        </p:sp>
        <p:sp>
          <p:nvSpPr>
            <p:cNvPr id="30" name="TextBox 30"/>
            <p:cNvSpPr txBox="1"/>
            <p:nvPr/>
          </p:nvSpPr>
          <p:spPr>
            <a:xfrm>
              <a:off x="7108176" y="3065621"/>
              <a:ext cx="1861848" cy="2895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425" b="1" dirty="0">
                  <a:solidFill>
                    <a:srgbClr val="1A2230"/>
                  </a:solidFill>
                  <a:latin typeface="Arial"/>
                  <a:ea typeface="SimHei"/>
                  <a:cs typeface="Arial"/>
                </a:rPr>
                <a:t>最终回归 / 提审准备</a:t>
              </a:r>
            </a:p>
          </p:txBody>
        </p:sp>
        <p:sp>
          <p:nvSpPr>
            <p:cNvPr id="31" name="Ellipse 31"/>
            <p:cNvSpPr/>
            <p:nvPr/>
          </p:nvSpPr>
          <p:spPr>
            <a:xfrm>
              <a:off x="7886700" y="3543300"/>
              <a:ext cx="304800" cy="304800"/>
            </a:xfrm>
            <a:prstGeom prst="ellipse">
              <a:avLst/>
            </a:prstGeom>
            <a:solidFill>
              <a:srgbClr val="FFFFFF"/>
            </a:solidFill>
            <a:ln w="19050">
              <a:solidFill>
                <a:srgbClr val="93A0B0"/>
              </a:solidFill>
            </a:ln>
          </p:spPr>
        </p:sp>
        <p:sp>
          <p:nvSpPr>
            <p:cNvPr id="32" name="TextBox 32"/>
            <p:cNvSpPr txBox="1"/>
            <p:nvPr/>
          </p:nvSpPr>
          <p:spPr>
            <a:xfrm>
              <a:off x="7981495" y="3631406"/>
              <a:ext cx="115211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125" b="1" dirty="0">
                  <a:solidFill>
                    <a:srgbClr val="93A0B0"/>
                  </a:solidFill>
                  <a:latin typeface="Arial"/>
                  <a:ea typeface="Arial"/>
                  <a:cs typeface="Arial"/>
                </a:rPr>
                <a:t>4</a:t>
              </a:r>
            </a:p>
          </p:txBody>
        </p:sp>
        <p:sp>
          <p:nvSpPr>
            <p:cNvPr id="33" name="TextBox 33"/>
            <p:cNvSpPr txBox="1"/>
            <p:nvPr/>
          </p:nvSpPr>
          <p:spPr>
            <a:xfrm>
              <a:off x="7783830" y="4118610"/>
              <a:ext cx="510540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dirty="0">
                  <a:solidFill>
                    <a:srgbClr val="93A0B0"/>
                  </a:solidFill>
                  <a:latin typeface="Arial"/>
                  <a:ea typeface="Microsoft YaHei"/>
                  <a:cs typeface="Arial"/>
                </a:rPr>
                <a:t>未开始</a:t>
              </a:r>
            </a:p>
          </p:txBody>
        </p:sp>
      </p:grpSp>
      <p:grpSp>
        <p:nvGrpSpPr>
          <p:cNvPr id="40" name="Group 40"/>
          <p:cNvGrpSpPr/>
          <p:nvPr/>
        </p:nvGrpSpPr>
        <p:grpSpPr>
          <a:xfrm>
            <a:off x="9494365" y="2719864"/>
            <a:ext cx="1432870" cy="1642586"/>
            <a:chOff x="9494365" y="2719864"/>
            <a:chExt cx="1432870" cy="1642586"/>
          </a:xfrm>
        </p:grpSpPr>
        <p:sp>
          <p:nvSpPr>
            <p:cNvPr id="35" name="TextBox 35"/>
            <p:cNvSpPr txBox="1"/>
            <p:nvPr/>
          </p:nvSpPr>
          <p:spPr>
            <a:xfrm>
              <a:off x="9833100" y="2719864"/>
              <a:ext cx="755400" cy="2590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75" b="1" dirty="0">
                  <a:solidFill>
                    <a:srgbClr val="5A6675"/>
                  </a:solidFill>
                  <a:latin typeface="Arial"/>
                  <a:ea typeface="SimHei"/>
                  <a:cs typeface="Arial"/>
                </a:rPr>
                <a:t>07-04 起</a:t>
              </a:r>
            </a:p>
          </p:txBody>
        </p:sp>
        <p:sp>
          <p:nvSpPr>
            <p:cNvPr id="36" name="TextBox 36"/>
            <p:cNvSpPr txBox="1"/>
            <p:nvPr/>
          </p:nvSpPr>
          <p:spPr>
            <a:xfrm>
              <a:off x="9494365" y="3065621"/>
              <a:ext cx="1432870" cy="2895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425" b="1" dirty="0">
                  <a:solidFill>
                    <a:srgbClr val="1A2230"/>
                  </a:solidFill>
                  <a:latin typeface="Arial"/>
                  <a:ea typeface="SimHei"/>
                  <a:cs typeface="Arial"/>
                </a:rPr>
                <a:t>微信审核与发布</a:t>
              </a:r>
            </a:p>
          </p:txBody>
        </p:sp>
        <p:sp>
          <p:nvSpPr>
            <p:cNvPr id="37" name="Ellipse 37"/>
            <p:cNvSpPr/>
            <p:nvPr/>
          </p:nvSpPr>
          <p:spPr>
            <a:xfrm>
              <a:off x="10058400" y="3543300"/>
              <a:ext cx="304800" cy="304800"/>
            </a:xfrm>
            <a:prstGeom prst="ellipse">
              <a:avLst/>
            </a:prstGeom>
            <a:solidFill>
              <a:srgbClr val="FFFFFF"/>
            </a:solidFill>
            <a:ln w="19050">
              <a:solidFill>
                <a:srgbClr val="93A0B0"/>
              </a:solidFill>
            </a:ln>
          </p:spPr>
        </p:sp>
        <p:sp>
          <p:nvSpPr>
            <p:cNvPr id="38" name="TextBox 38"/>
            <p:cNvSpPr txBox="1"/>
            <p:nvPr/>
          </p:nvSpPr>
          <p:spPr>
            <a:xfrm>
              <a:off x="10153195" y="3631406"/>
              <a:ext cx="115211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125" b="1" dirty="0">
                  <a:solidFill>
                    <a:srgbClr val="93A0B0"/>
                  </a:solidFill>
                  <a:latin typeface="Arial"/>
                  <a:ea typeface="Arial"/>
                  <a:cs typeface="Arial"/>
                </a:rPr>
                <a:t>5</a:t>
              </a:r>
            </a:p>
          </p:txBody>
        </p:sp>
        <p:sp>
          <p:nvSpPr>
            <p:cNvPr id="39" name="TextBox 39"/>
            <p:cNvSpPr txBox="1"/>
            <p:nvPr/>
          </p:nvSpPr>
          <p:spPr>
            <a:xfrm>
              <a:off x="9955530" y="4118610"/>
              <a:ext cx="510540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dirty="0">
                  <a:solidFill>
                    <a:srgbClr val="93A0B0"/>
                  </a:solidFill>
                  <a:latin typeface="Arial"/>
                  <a:ea typeface="Microsoft YaHei"/>
                  <a:cs typeface="Arial"/>
                </a:rPr>
                <a:t>未开始</a:t>
              </a:r>
            </a:p>
          </p:txBody>
        </p:sp>
      </p:grpSp>
      <p:grpSp>
        <p:nvGrpSpPr>
          <p:cNvPr id="43" name="Group 43"/>
          <p:cNvGrpSpPr/>
          <p:nvPr/>
        </p:nvGrpSpPr>
        <p:grpSpPr>
          <a:xfrm>
            <a:off x="670560" y="5295900"/>
            <a:ext cx="10835640" cy="495300"/>
            <a:chOff x="670560" y="5295900"/>
            <a:chExt cx="10835640" cy="495300"/>
          </a:xfrm>
        </p:grpSpPr>
        <p:sp>
          <p:nvSpPr>
            <p:cNvPr id="41" name="Line 41"/>
            <p:cNvSpPr/>
            <p:nvPr/>
          </p:nvSpPr>
          <p:spPr>
            <a:xfrm>
              <a:off x="685800" y="5295900"/>
              <a:ext cx="10820400" cy="9525"/>
            </a:xfrm>
            <a:custGeom>
              <a:avLst/>
              <a:gdLst/>
              <a:ahLst/>
              <a:cxnLst/>
              <a:rect l="l" t="t" r="r" b="b"/>
              <a:pathLst>
                <a:path w="10820400" h="9525">
                  <a:moveTo>
                    <a:pt x="0" y="0"/>
                  </a:moveTo>
                  <a:lnTo>
                    <a:pt x="10820400" y="0"/>
                  </a:lnTo>
                </a:path>
              </a:pathLst>
            </a:custGeom>
            <a:noFill/>
            <a:ln w="9525">
              <a:solidFill>
                <a:srgbClr val="E5EAF0"/>
              </a:solidFill>
            </a:ln>
          </p:spPr>
        </p:sp>
        <p:sp>
          <p:nvSpPr>
            <p:cNvPr id="42" name="TextBox 42"/>
            <p:cNvSpPr txBox="1"/>
            <p:nvPr/>
          </p:nvSpPr>
          <p:spPr>
            <a:xfrm>
              <a:off x="670560" y="5547360"/>
              <a:ext cx="7327392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5A6675"/>
                  </a:solidFill>
                  <a:latin typeface="Arial"/>
                  <a:ea typeface="Microsoft YaHei"/>
                  <a:cs typeface="Arial"/>
                </a:rPr>
                <a:t>关键路径：资料锁定 → 部署 → 验收 → 提审准备 → 发布；类目审核资质需</a:t>
              </a:r>
              <a:r>
                <a:rPr lang="zh-CN" sz="1200" b="1" dirty="0">
                  <a:solidFill>
                    <a:srgbClr val="D32F2F"/>
                  </a:solidFill>
                  <a:latin typeface="Arial"/>
                  <a:ea typeface="Microsoft YaHei"/>
                  <a:cs typeface="Arial"/>
                </a:rPr>
                <a:t>并行补齐</a:t>
              </a:r>
              <a:r>
                <a:rPr lang="zh-CN" sz="1200" dirty="0">
                  <a:solidFill>
                    <a:srgbClr val="5A6675"/>
                  </a:solidFill>
                  <a:latin typeface="Arial"/>
                  <a:ea typeface="Microsoft YaHei"/>
                  <a:cs typeface="Arial"/>
                </a:rPr>
                <a:t>，否则卡在最后一步。</a:t>
              </a:r>
            </a:p>
          </p:txBody>
        </p:sp>
      </p:grpSp>
      <p:grpSp>
        <p:nvGrpSpPr>
          <p:cNvPr id="46" name="Group 46"/>
          <p:cNvGrpSpPr/>
          <p:nvPr/>
        </p:nvGrpSpPr>
        <p:grpSpPr>
          <a:xfrm>
            <a:off x="675322" y="6597491"/>
            <a:ext cx="10841355" cy="167640"/>
            <a:chOff x="675322" y="6597491"/>
            <a:chExt cx="10841355" cy="167640"/>
          </a:xfrm>
        </p:grpSpPr>
        <p:sp>
          <p:nvSpPr>
            <p:cNvPr id="44" name="TextBox 44"/>
            <p:cNvSpPr txBox="1"/>
            <p:nvPr/>
          </p:nvSpPr>
          <p:spPr>
            <a:xfrm>
              <a:off x="675322" y="6597491"/>
              <a:ext cx="1797677" cy="1676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825" dirty="0">
                  <a:solidFill>
                    <a:srgbClr val="93A0B0"/>
                  </a:solidFill>
                  <a:latin typeface="Arial"/>
                  <a:ea typeface="Microsoft YaHei"/>
                  <a:cs typeface="Arial"/>
                </a:rPr>
                <a:t>牙医仪器检修小程序 · 项目进度汇报</a:t>
              </a:r>
            </a:p>
          </p:txBody>
        </p:sp>
        <p:sp>
          <p:nvSpPr>
            <p:cNvPr id="45" name="TextBox 45"/>
            <p:cNvSpPr txBox="1"/>
            <p:nvPr/>
          </p:nvSpPr>
          <p:spPr>
            <a:xfrm>
              <a:off x="10335077" y="6597491"/>
              <a:ext cx="1181600" cy="1676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en-US" sz="825" dirty="0">
                  <a:solidFill>
                    <a:srgbClr val="93A0B0"/>
                  </a:solidFill>
                  <a:latin typeface="Arial"/>
                  <a:ea typeface="Arial"/>
                  <a:cs typeface="Arial"/>
                </a:rPr>
                <a:t>2026-06-22 · P07 / 12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oup 4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2" name="Rectangle 2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</p:spPr>
        </p:sp>
        <p:sp>
          <p:nvSpPr>
            <p:cNvPr id="3" name="Rectangle 3"/>
            <p:cNvSpPr/>
            <p:nvPr/>
          </p:nvSpPr>
          <p:spPr>
            <a:xfrm>
              <a:off x="0" y="0"/>
              <a:ext cx="95250" cy="6858000"/>
            </a:xfrm>
            <a:prstGeom prst="rect">
              <a:avLst/>
            </a:prstGeom>
            <a:solidFill>
              <a:srgbClr val="D32F2F"/>
            </a:solidFill>
            <a:ln>
              <a:noFill/>
            </a:ln>
          </p:spPr>
        </p:sp>
      </p:grpSp>
      <p:grpSp>
        <p:nvGrpSpPr>
          <p:cNvPr id="11" name="Group 11"/>
          <p:cNvGrpSpPr/>
          <p:nvPr/>
        </p:nvGrpSpPr>
        <p:grpSpPr>
          <a:xfrm>
            <a:off x="740518" y="1333532"/>
            <a:ext cx="5499310" cy="990568"/>
            <a:chOff x="740518" y="1333532"/>
            <a:chExt cx="5499310" cy="990568"/>
          </a:xfrm>
        </p:grpSpPr>
        <p:grpSp>
          <p:nvGrpSpPr>
            <p:cNvPr id="8" name="Group 8"/>
            <p:cNvGrpSpPr/>
            <p:nvPr/>
          </p:nvGrpSpPr>
          <p:grpSpPr>
            <a:xfrm>
              <a:off x="740518" y="1333532"/>
              <a:ext cx="576342" cy="495154"/>
              <a:chOff x="740518" y="1333532"/>
              <a:chExt cx="576342" cy="495154"/>
            </a:xfrm>
          </p:grpSpPr>
          <p:sp>
            <p:nvSpPr>
              <p:cNvPr id="5" name="Freeform 5"/>
              <p:cNvSpPr/>
              <p:nvPr/>
            </p:nvSpPr>
            <p:spPr>
              <a:xfrm>
                <a:off x="1028700" y="1514475"/>
                <a:ext cx="9525" cy="114300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114300">
                    <a:moveTo>
                      <a:pt x="0" y="0"/>
                    </a:moveTo>
                    <a:lnTo>
                      <a:pt x="0" y="114300"/>
                    </a:lnTo>
                  </a:path>
                </a:pathLst>
              </a:custGeom>
              <a:noFill/>
              <a:ln w="19050">
                <a:solidFill>
                  <a:srgbClr val="D32F2F"/>
                </a:solidFill>
              </a:ln>
            </p:spPr>
          </p:sp>
          <p:sp>
            <p:nvSpPr>
              <p:cNvPr id="6" name="Freeform 6"/>
              <p:cNvSpPr/>
              <p:nvPr/>
            </p:nvSpPr>
            <p:spPr>
              <a:xfrm>
                <a:off x="740518" y="1333532"/>
                <a:ext cx="576342" cy="495154"/>
              </a:xfrm>
              <a:custGeom>
                <a:avLst/>
                <a:gdLst/>
                <a:ahLst/>
                <a:cxnLst/>
                <a:rect l="l" t="t" r="r" b="b"/>
                <a:pathLst>
                  <a:path w="576342" h="495154">
                    <a:moveTo>
                      <a:pt x="241405" y="26381"/>
                    </a:moveTo>
                    <a:lnTo>
                      <a:pt x="9776" y="413115"/>
                    </a:lnTo>
                    <a:cubicBezTo>
                      <a:pt x="59" y="429942"/>
                      <a:pt x="0" y="450661"/>
                      <a:pt x="9620" y="467543"/>
                    </a:cubicBezTo>
                    <a:cubicBezTo>
                      <a:pt x="19240" y="484425"/>
                      <a:pt x="37095" y="494936"/>
                      <a:pt x="56525" y="495154"/>
                    </a:cubicBezTo>
                    <a:lnTo>
                      <a:pt x="519840" y="495154"/>
                    </a:lnTo>
                    <a:cubicBezTo>
                      <a:pt x="539260" y="494930"/>
                      <a:pt x="557106" y="484423"/>
                      <a:pt x="566724" y="467550"/>
                    </a:cubicBezTo>
                    <a:cubicBezTo>
                      <a:pt x="576342" y="450677"/>
                      <a:pt x="576291" y="429969"/>
                      <a:pt x="566588" y="413144"/>
                    </a:cubicBezTo>
                    <a:lnTo>
                      <a:pt x="334959" y="26352"/>
                    </a:lnTo>
                    <a:cubicBezTo>
                      <a:pt x="325048" y="9993"/>
                      <a:pt x="307310" y="0"/>
                      <a:pt x="288182" y="0"/>
                    </a:cubicBezTo>
                    <a:cubicBezTo>
                      <a:pt x="269054" y="0"/>
                      <a:pt x="251316" y="9993"/>
                      <a:pt x="241405" y="26352"/>
                    </a:cubicBezTo>
                  </a:path>
                </a:pathLst>
              </a:custGeom>
              <a:noFill/>
              <a:ln w="19050">
                <a:solidFill>
                  <a:srgbClr val="D32F2F"/>
                </a:solidFill>
              </a:ln>
            </p:spPr>
          </p:sp>
          <p:sp>
            <p:nvSpPr>
              <p:cNvPr id="7" name="Freeform 7"/>
              <p:cNvSpPr/>
              <p:nvPr/>
            </p:nvSpPr>
            <p:spPr>
              <a:xfrm>
                <a:off x="1028700" y="1714500"/>
                <a:ext cx="9525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9525">
                    <a:moveTo>
                      <a:pt x="0" y="0"/>
                    </a:moveTo>
                    <a:lnTo>
                      <a:pt x="286" y="0"/>
                    </a:lnTo>
                  </a:path>
                </a:pathLst>
              </a:custGeom>
              <a:noFill/>
              <a:ln w="19050">
                <a:solidFill>
                  <a:srgbClr val="D32F2F"/>
                </a:solidFill>
              </a:ln>
            </p:spPr>
          </p:sp>
        </p:grpSp>
        <p:sp>
          <p:nvSpPr>
            <p:cNvPr id="9" name="TextBox 9"/>
            <p:cNvSpPr txBox="1"/>
            <p:nvPr/>
          </p:nvSpPr>
          <p:spPr>
            <a:xfrm>
              <a:off x="1583055" y="1378268"/>
              <a:ext cx="3733752" cy="2743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D32F2F"/>
                  </a:solidFill>
                  <a:latin typeface="Arial"/>
                  <a:ea typeface="SimHei"/>
                  <a:cs typeface="Arial"/>
                </a:rPr>
                <a:t>阻断项 B1 · 发布前置阻断（未关闭不得提审）</a:t>
              </a:r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1543050" y="1714500"/>
              <a:ext cx="4696778" cy="609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3000" b="1" dirty="0">
                  <a:solidFill>
                    <a:srgbClr val="1A2230"/>
                  </a:solidFill>
                  <a:latin typeface="Arial"/>
                  <a:ea typeface="SimHei"/>
                  <a:cs typeface="Arial"/>
                </a:rPr>
                <a:t>医疗器械类目审核未通过</a:t>
              </a:r>
            </a:p>
          </p:txBody>
        </p:sp>
      </p:grpSp>
      <p:grpSp>
        <p:nvGrpSpPr>
          <p:cNvPr id="26" name="Group 26"/>
          <p:cNvGrpSpPr/>
          <p:nvPr/>
        </p:nvGrpSpPr>
        <p:grpSpPr>
          <a:xfrm>
            <a:off x="685800" y="2762250"/>
            <a:ext cx="10820400" cy="3219450"/>
            <a:chOff x="685800" y="2762250"/>
            <a:chExt cx="10820400" cy="3219450"/>
          </a:xfrm>
        </p:grpSpPr>
        <p:sp>
          <p:nvSpPr>
            <p:cNvPr id="12" name="Rectangle 12"/>
            <p:cNvSpPr/>
            <p:nvPr/>
          </p:nvSpPr>
          <p:spPr>
            <a:xfrm>
              <a:off x="685800" y="2762250"/>
              <a:ext cx="10820400" cy="3219450"/>
            </a:xfrm>
            <a:prstGeom prst="rect">
              <a:avLst/>
            </a:prstGeom>
            <a:solidFill>
              <a:srgbClr val="F4F7FB"/>
            </a:solidFill>
            <a:ln>
              <a:noFill/>
            </a:ln>
          </p:spPr>
        </p:sp>
        <p:sp>
          <p:nvSpPr>
            <p:cNvPr id="13" name="Rectangle 13"/>
            <p:cNvSpPr/>
            <p:nvPr/>
          </p:nvSpPr>
          <p:spPr>
            <a:xfrm>
              <a:off x="685800" y="2762250"/>
              <a:ext cx="57150" cy="3219450"/>
            </a:xfrm>
            <a:prstGeom prst="rect">
              <a:avLst/>
            </a:prstGeom>
            <a:solidFill>
              <a:srgbClr val="D32F2F"/>
            </a:solidFill>
            <a:ln>
              <a:noFill/>
            </a:ln>
          </p:spPr>
        </p:sp>
        <p:sp>
          <p:nvSpPr>
            <p:cNvPr id="14" name="TextBox 14"/>
            <p:cNvSpPr txBox="1"/>
            <p:nvPr/>
          </p:nvSpPr>
          <p:spPr>
            <a:xfrm>
              <a:off x="1127760" y="3166110"/>
              <a:ext cx="702564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b="1" dirty="0">
                  <a:solidFill>
                    <a:srgbClr val="93A0B0"/>
                  </a:solidFill>
                  <a:latin typeface="Arial"/>
                  <a:ea typeface="SimHei"/>
                  <a:cs typeface="Arial"/>
                </a:rPr>
                <a:t>阻塞原因</a:t>
              </a:r>
            </a:p>
          </p:txBody>
        </p:sp>
        <p:sp>
          <p:nvSpPr>
            <p:cNvPr id="15" name="TextBox 15"/>
            <p:cNvSpPr txBox="1"/>
            <p:nvPr/>
          </p:nvSpPr>
          <p:spPr>
            <a:xfrm>
              <a:off x="3220402" y="3141821"/>
              <a:ext cx="5356860" cy="2895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5" dirty="0">
                  <a:solidFill>
                    <a:srgbClr val="1A2230"/>
                  </a:solidFill>
                  <a:latin typeface="Arial"/>
                  <a:ea typeface="Microsoft YaHei"/>
                  <a:cs typeface="Arial"/>
                </a:rPr>
                <a:t>微信公众平台「类目管理」中，医疗器械类目资质审核未通过。</a:t>
              </a:r>
            </a:p>
          </p:txBody>
        </p:sp>
        <p:sp>
          <p:nvSpPr>
            <p:cNvPr id="16" name="Line 16"/>
            <p:cNvSpPr/>
            <p:nvPr/>
          </p:nvSpPr>
          <p:spPr>
            <a:xfrm>
              <a:off x="1143000" y="3543300"/>
              <a:ext cx="9906000" cy="9525"/>
            </a:xfrm>
            <a:custGeom>
              <a:avLst/>
              <a:gdLst/>
              <a:ahLst/>
              <a:cxnLst/>
              <a:rect l="l" t="t" r="r" b="b"/>
              <a:pathLst>
                <a:path w="9906000" h="9525">
                  <a:moveTo>
                    <a:pt x="0" y="0"/>
                  </a:moveTo>
                  <a:lnTo>
                    <a:pt x="9906000" y="0"/>
                  </a:lnTo>
                </a:path>
              </a:pathLst>
            </a:custGeom>
            <a:noFill/>
            <a:ln w="9525">
              <a:solidFill>
                <a:srgbClr val="E5EAF0"/>
              </a:solidFill>
            </a:ln>
          </p:spPr>
        </p:sp>
        <p:sp>
          <p:nvSpPr>
            <p:cNvPr id="17" name="TextBox 17"/>
            <p:cNvSpPr txBox="1"/>
            <p:nvPr/>
          </p:nvSpPr>
          <p:spPr>
            <a:xfrm>
              <a:off x="1127760" y="3851910"/>
              <a:ext cx="870585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b="1" dirty="0">
                  <a:solidFill>
                    <a:srgbClr val="93A0B0"/>
                  </a:solidFill>
                  <a:latin typeface="Arial"/>
                  <a:ea typeface="SimHei"/>
                  <a:cs typeface="Arial"/>
                </a:rPr>
                <a:t>下一步动作</a:t>
              </a:r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3220402" y="3827621"/>
              <a:ext cx="5736908" cy="2895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5" dirty="0">
                  <a:solidFill>
                    <a:srgbClr val="1A2230"/>
                  </a:solidFill>
                  <a:latin typeface="Arial"/>
                  <a:ea typeface="Microsoft YaHei"/>
                  <a:cs typeface="Arial"/>
                </a:rPr>
                <a:t>补齐《医疗器械生产许可证》《互联网信息服务备案凭证》等资质，</a:t>
              </a:r>
            </a:p>
          </p:txBody>
        </p:sp>
        <p:sp>
          <p:nvSpPr>
            <p:cNvPr id="19" name="TextBox 19"/>
            <p:cNvSpPr txBox="1"/>
            <p:nvPr/>
          </p:nvSpPr>
          <p:spPr>
            <a:xfrm>
              <a:off x="3220402" y="4113371"/>
              <a:ext cx="2696528" cy="2895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5" dirty="0">
                  <a:solidFill>
                    <a:srgbClr val="1A2230"/>
                  </a:solidFill>
                  <a:latin typeface="Arial"/>
                  <a:ea typeface="Microsoft YaHei"/>
                  <a:cs typeface="Arial"/>
                </a:rPr>
                <a:t>在「类目管理」重新提交审核。</a:t>
              </a:r>
            </a:p>
          </p:txBody>
        </p:sp>
        <p:sp>
          <p:nvSpPr>
            <p:cNvPr id="20" name="Line 20"/>
            <p:cNvSpPr/>
            <p:nvPr/>
          </p:nvSpPr>
          <p:spPr>
            <a:xfrm>
              <a:off x="1143000" y="4629150"/>
              <a:ext cx="9906000" cy="9525"/>
            </a:xfrm>
            <a:custGeom>
              <a:avLst/>
              <a:gdLst/>
              <a:ahLst/>
              <a:cxnLst/>
              <a:rect l="l" t="t" r="r" b="b"/>
              <a:pathLst>
                <a:path w="9906000" h="9525">
                  <a:moveTo>
                    <a:pt x="0" y="0"/>
                  </a:moveTo>
                  <a:lnTo>
                    <a:pt x="9906000" y="0"/>
                  </a:lnTo>
                </a:path>
              </a:pathLst>
            </a:custGeom>
            <a:noFill/>
            <a:ln w="9525">
              <a:solidFill>
                <a:srgbClr val="E5EAF0"/>
              </a:solidFill>
            </a:ln>
          </p:spPr>
        </p:sp>
        <p:sp>
          <p:nvSpPr>
            <p:cNvPr id="21" name="TextBox 21"/>
            <p:cNvSpPr txBox="1"/>
            <p:nvPr/>
          </p:nvSpPr>
          <p:spPr>
            <a:xfrm>
              <a:off x="1127760" y="4937760"/>
              <a:ext cx="534543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b="1" dirty="0">
                  <a:solidFill>
                    <a:srgbClr val="93A0B0"/>
                  </a:solidFill>
                  <a:latin typeface="Arial"/>
                  <a:ea typeface="SimHei"/>
                  <a:cs typeface="Arial"/>
                </a:rPr>
                <a:t>负责人</a:t>
              </a:r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3220402" y="4913471"/>
              <a:ext cx="2886551" cy="2895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5" dirty="0">
                  <a:solidFill>
                    <a:srgbClr val="1A2230"/>
                  </a:solidFill>
                  <a:latin typeface="Arial"/>
                  <a:ea typeface="Microsoft YaHei"/>
                  <a:cs typeface="Arial"/>
                </a:rPr>
                <a:t>吴彤彤（依赖客户提供资质证照）</a:t>
              </a:r>
            </a:p>
          </p:txBody>
        </p:sp>
        <p:sp>
          <p:nvSpPr>
            <p:cNvPr id="23" name="Line 23"/>
            <p:cNvSpPr/>
            <p:nvPr/>
          </p:nvSpPr>
          <p:spPr>
            <a:xfrm>
              <a:off x="1143000" y="5314950"/>
              <a:ext cx="9906000" cy="9525"/>
            </a:xfrm>
            <a:custGeom>
              <a:avLst/>
              <a:gdLst/>
              <a:ahLst/>
              <a:cxnLst/>
              <a:rect l="l" t="t" r="r" b="b"/>
              <a:pathLst>
                <a:path w="9906000" h="9525">
                  <a:moveTo>
                    <a:pt x="0" y="0"/>
                  </a:moveTo>
                  <a:lnTo>
                    <a:pt x="9906000" y="0"/>
                  </a:lnTo>
                </a:path>
              </a:pathLst>
            </a:custGeom>
            <a:noFill/>
            <a:ln w="9525">
              <a:solidFill>
                <a:srgbClr val="E5EAF0"/>
              </a:solidFill>
            </a:ln>
          </p:spPr>
        </p:sp>
        <p:sp>
          <p:nvSpPr>
            <p:cNvPr id="24" name="TextBox 24"/>
            <p:cNvSpPr txBox="1"/>
            <p:nvPr/>
          </p:nvSpPr>
          <p:spPr>
            <a:xfrm>
              <a:off x="1127760" y="5623560"/>
              <a:ext cx="702564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b="1" dirty="0">
                  <a:solidFill>
                    <a:srgbClr val="93A0B0"/>
                  </a:solidFill>
                  <a:latin typeface="Arial"/>
                  <a:ea typeface="SimHei"/>
                  <a:cs typeface="Arial"/>
                </a:rPr>
                <a:t>预计完成</a:t>
              </a:r>
            </a:p>
          </p:txBody>
        </p:sp>
        <p:sp>
          <p:nvSpPr>
            <p:cNvPr id="25" name="TextBox 25"/>
            <p:cNvSpPr txBox="1"/>
            <p:nvPr/>
          </p:nvSpPr>
          <p:spPr>
            <a:xfrm>
              <a:off x="3220402" y="5599271"/>
              <a:ext cx="1432870" cy="2895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5" b="1" dirty="0">
                  <a:solidFill>
                    <a:srgbClr val="D32F2F"/>
                  </a:solidFill>
                  <a:latin typeface="Arial"/>
                  <a:ea typeface="SimHei"/>
                  <a:cs typeface="Arial"/>
                </a:rPr>
                <a:t>待定（卡发布）</a:t>
              </a:r>
            </a:p>
          </p:txBody>
        </p:sp>
      </p:grpSp>
      <p:grpSp>
        <p:nvGrpSpPr>
          <p:cNvPr id="29" name="Group 29"/>
          <p:cNvGrpSpPr/>
          <p:nvPr/>
        </p:nvGrpSpPr>
        <p:grpSpPr>
          <a:xfrm>
            <a:off x="675322" y="6597491"/>
            <a:ext cx="10841355" cy="167640"/>
            <a:chOff x="675322" y="6597491"/>
            <a:chExt cx="10841355" cy="167640"/>
          </a:xfrm>
        </p:grpSpPr>
        <p:sp>
          <p:nvSpPr>
            <p:cNvPr id="27" name="TextBox 27"/>
            <p:cNvSpPr txBox="1"/>
            <p:nvPr/>
          </p:nvSpPr>
          <p:spPr>
            <a:xfrm>
              <a:off x="675322" y="6597491"/>
              <a:ext cx="1797677" cy="1676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825" dirty="0">
                  <a:solidFill>
                    <a:srgbClr val="93A0B0"/>
                  </a:solidFill>
                  <a:latin typeface="Arial"/>
                  <a:ea typeface="Microsoft YaHei"/>
                  <a:cs typeface="Arial"/>
                </a:rPr>
                <a:t>牙医仪器检修小程序 · 项目进度汇报</a:t>
              </a:r>
            </a:p>
          </p:txBody>
        </p:sp>
        <p:sp>
          <p:nvSpPr>
            <p:cNvPr id="28" name="TextBox 28"/>
            <p:cNvSpPr txBox="1"/>
            <p:nvPr/>
          </p:nvSpPr>
          <p:spPr>
            <a:xfrm>
              <a:off x="10335077" y="6597491"/>
              <a:ext cx="1181600" cy="1676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en-US" sz="825" dirty="0">
                  <a:solidFill>
                    <a:srgbClr val="93A0B0"/>
                  </a:solidFill>
                  <a:latin typeface="Arial"/>
                  <a:ea typeface="Arial"/>
                  <a:cs typeface="Arial"/>
                </a:rPr>
                <a:t>2026-06-22 · P08 / 12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</p:sp>
      <p:grpSp>
        <p:nvGrpSpPr>
          <p:cNvPr id="7" name="Group 7"/>
          <p:cNvGrpSpPr/>
          <p:nvPr/>
        </p:nvGrpSpPr>
        <p:grpSpPr>
          <a:xfrm>
            <a:off x="685800" y="533400"/>
            <a:ext cx="10833735" cy="504825"/>
            <a:chOff x="685800" y="533400"/>
            <a:chExt cx="10833735" cy="504825"/>
          </a:xfrm>
        </p:grpSpPr>
        <p:sp>
          <p:nvSpPr>
            <p:cNvPr id="3" name="Rectangle 3"/>
            <p:cNvSpPr/>
            <p:nvPr/>
          </p:nvSpPr>
          <p:spPr>
            <a:xfrm>
              <a:off x="685800" y="533400"/>
              <a:ext cx="57150" cy="323850"/>
            </a:xfrm>
            <a:prstGeom prst="rect">
              <a:avLst/>
            </a:prstGeom>
            <a:solidFill>
              <a:srgbClr val="1565C0"/>
            </a:solidFill>
            <a:ln>
              <a:noFill/>
            </a:ln>
          </p:spPr>
        </p:sp>
        <p:sp>
          <p:nvSpPr>
            <p:cNvPr id="4" name="TextBox 4"/>
            <p:cNvSpPr txBox="1"/>
            <p:nvPr/>
          </p:nvSpPr>
          <p:spPr>
            <a:xfrm>
              <a:off x="847725" y="557212"/>
              <a:ext cx="3254800" cy="4572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250" b="1" dirty="0">
                  <a:solidFill>
                    <a:srgbClr val="1A2230"/>
                  </a:solidFill>
                  <a:latin typeface="Arial"/>
                  <a:ea typeface="SimHei"/>
                  <a:cs typeface="Arial"/>
                </a:rPr>
                <a:t>按人分工 · 卡点（上）</a:t>
              </a:r>
            </a:p>
          </p:txBody>
        </p:sp>
        <p:sp>
          <p:nvSpPr>
            <p:cNvPr id="5" name="TextBox 5"/>
            <p:cNvSpPr txBox="1"/>
            <p:nvPr/>
          </p:nvSpPr>
          <p:spPr>
            <a:xfrm>
              <a:off x="10050685" y="667702"/>
              <a:ext cx="1468850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1050" dirty="0">
                  <a:solidFill>
                    <a:srgbClr val="93A0B0"/>
                  </a:solidFill>
                  <a:latin typeface="Arial"/>
                  <a:ea typeface="Microsoft YaHei"/>
                  <a:cs typeface="Arial"/>
                </a:rPr>
                <a:t>资料 / 平台配置 / 云端</a:t>
              </a:r>
            </a:p>
          </p:txBody>
        </p:sp>
        <p:sp>
          <p:nvSpPr>
            <p:cNvPr id="6" name="Line 6"/>
            <p:cNvSpPr/>
            <p:nvPr/>
          </p:nvSpPr>
          <p:spPr>
            <a:xfrm>
              <a:off x="685800" y="1028700"/>
              <a:ext cx="10820400" cy="9525"/>
            </a:xfrm>
            <a:custGeom>
              <a:avLst/>
              <a:gdLst/>
              <a:ahLst/>
              <a:cxnLst/>
              <a:rect l="l" t="t" r="r" b="b"/>
              <a:pathLst>
                <a:path w="10820400" h="9525">
                  <a:moveTo>
                    <a:pt x="0" y="0"/>
                  </a:moveTo>
                  <a:lnTo>
                    <a:pt x="10820400" y="0"/>
                  </a:lnTo>
                </a:path>
              </a:pathLst>
            </a:custGeom>
            <a:noFill/>
            <a:ln w="9525">
              <a:solidFill>
                <a:srgbClr val="E5EAF0"/>
              </a:solidFill>
            </a:ln>
          </p:spPr>
        </p:sp>
      </p:grpSp>
      <p:grpSp>
        <p:nvGrpSpPr>
          <p:cNvPr id="28" name="Group 28"/>
          <p:cNvGrpSpPr/>
          <p:nvPr/>
        </p:nvGrpSpPr>
        <p:grpSpPr>
          <a:xfrm>
            <a:off x="685800" y="1428750"/>
            <a:ext cx="3448050" cy="4762500"/>
            <a:chOff x="685800" y="1428750"/>
            <a:chExt cx="3448050" cy="4762500"/>
          </a:xfrm>
        </p:grpSpPr>
        <p:sp>
          <p:nvSpPr>
            <p:cNvPr id="8" name="Rectangle 8"/>
            <p:cNvSpPr/>
            <p:nvPr/>
          </p:nvSpPr>
          <p:spPr>
            <a:xfrm>
              <a:off x="685800" y="1428750"/>
              <a:ext cx="3448050" cy="4762500"/>
            </a:xfrm>
            <a:prstGeom prst="rect">
              <a:avLst/>
            </a:prstGeom>
            <a:solidFill>
              <a:srgbClr val="F4F7FB"/>
            </a:solidFill>
            <a:ln>
              <a:noFill/>
            </a:ln>
          </p:spPr>
        </p:sp>
        <p:sp>
          <p:nvSpPr>
            <p:cNvPr id="9" name="Rectangle 9"/>
            <p:cNvSpPr/>
            <p:nvPr/>
          </p:nvSpPr>
          <p:spPr>
            <a:xfrm>
              <a:off x="685800" y="1428750"/>
              <a:ext cx="3448050" cy="38100"/>
            </a:xfrm>
            <a:prstGeom prst="rect">
              <a:avLst/>
            </a:prstGeom>
            <a:solidFill>
              <a:srgbClr val="1565C0"/>
            </a:solidFill>
            <a:ln>
              <a:noFill/>
            </a:ln>
          </p:spPr>
        </p:sp>
        <p:grpSp>
          <p:nvGrpSpPr>
            <p:cNvPr id="14" name="Group 14"/>
            <p:cNvGrpSpPr/>
            <p:nvPr/>
          </p:nvGrpSpPr>
          <p:grpSpPr>
            <a:xfrm>
              <a:off x="995362" y="1738312"/>
              <a:ext cx="257175" cy="257176"/>
              <a:chOff x="995362" y="1738312"/>
              <a:chExt cx="257175" cy="257176"/>
            </a:xfrm>
          </p:grpSpPr>
          <p:sp>
            <p:nvSpPr>
              <p:cNvPr id="10" name="Freeform 10"/>
              <p:cNvSpPr/>
              <p:nvPr/>
            </p:nvSpPr>
            <p:spPr>
              <a:xfrm>
                <a:off x="1023938" y="1738312"/>
                <a:ext cx="114300" cy="114300"/>
              </a:xfrm>
              <a:custGeom>
                <a:avLst/>
                <a:gdLst/>
                <a:ahLst/>
                <a:cxnLst/>
                <a:rect l="l" t="t" r="r" b="b"/>
                <a:pathLst>
                  <a:path w="114300" h="114300">
                    <a:moveTo>
                      <a:pt x="0" y="57150"/>
                    </a:moveTo>
                    <a:cubicBezTo>
                      <a:pt x="0" y="88713"/>
                      <a:pt x="25587" y="114300"/>
                      <a:pt x="57150" y="114300"/>
                    </a:cubicBezTo>
                    <a:cubicBezTo>
                      <a:pt x="88713" y="114300"/>
                      <a:pt x="114300" y="88713"/>
                      <a:pt x="114300" y="57150"/>
                    </a:cubicBezTo>
                    <a:cubicBezTo>
                      <a:pt x="114300" y="25587"/>
                      <a:pt x="88713" y="0"/>
                      <a:pt x="57150" y="0"/>
                    </a:cubicBezTo>
                    <a:cubicBezTo>
                      <a:pt x="25587" y="0"/>
                      <a:pt x="0" y="25587"/>
                      <a:pt x="0" y="57150"/>
                    </a:cubicBezTo>
                  </a:path>
                </a:pathLst>
              </a:custGeom>
              <a:noFill/>
              <a:ln w="19050">
                <a:solidFill>
                  <a:srgbClr val="1565C0"/>
                </a:solidFill>
              </a:ln>
            </p:spPr>
          </p:sp>
          <p:sp>
            <p:nvSpPr>
              <p:cNvPr id="11" name="Freeform 11"/>
              <p:cNvSpPr/>
              <p:nvPr/>
            </p:nvSpPr>
            <p:spPr>
              <a:xfrm>
                <a:off x="995362" y="1909762"/>
                <a:ext cx="171450" cy="85725"/>
              </a:xfrm>
              <a:custGeom>
                <a:avLst/>
                <a:gdLst/>
                <a:ahLst/>
                <a:cxnLst/>
                <a:rect l="l" t="t" r="r" b="b"/>
                <a:pathLst>
                  <a:path w="171450" h="85725">
                    <a:moveTo>
                      <a:pt x="0" y="85725"/>
                    </a:moveTo>
                    <a:lnTo>
                      <a:pt x="0" y="57150"/>
                    </a:lnTo>
                    <a:cubicBezTo>
                      <a:pt x="0" y="25587"/>
                      <a:pt x="25587" y="0"/>
                      <a:pt x="57150" y="0"/>
                    </a:cubicBezTo>
                    <a:lnTo>
                      <a:pt x="114300" y="0"/>
                    </a:lnTo>
                    <a:cubicBezTo>
                      <a:pt x="145863" y="0"/>
                      <a:pt x="171450" y="25587"/>
                      <a:pt x="171450" y="57150"/>
                    </a:cubicBezTo>
                    <a:lnTo>
                      <a:pt x="171450" y="85725"/>
                    </a:lnTo>
                  </a:path>
                </a:pathLst>
              </a:custGeom>
              <a:noFill/>
              <a:ln w="19050">
                <a:solidFill>
                  <a:srgbClr val="1565C0"/>
                </a:solidFill>
              </a:ln>
            </p:spPr>
          </p:sp>
          <p:sp>
            <p:nvSpPr>
              <p:cNvPr id="12" name="Freeform 12"/>
              <p:cNvSpPr/>
              <p:nvPr/>
            </p:nvSpPr>
            <p:spPr>
              <a:xfrm>
                <a:off x="1181100" y="1740170"/>
                <a:ext cx="42975" cy="110728"/>
              </a:xfrm>
              <a:custGeom>
                <a:avLst/>
                <a:gdLst/>
                <a:ahLst/>
                <a:cxnLst/>
                <a:rect l="l" t="t" r="r" b="b"/>
                <a:pathLst>
                  <a:path w="42975" h="110728">
                    <a:moveTo>
                      <a:pt x="0" y="0"/>
                    </a:moveTo>
                    <a:cubicBezTo>
                      <a:pt x="25288" y="6475"/>
                      <a:pt x="42975" y="29261"/>
                      <a:pt x="42975" y="55364"/>
                    </a:cubicBezTo>
                    <a:cubicBezTo>
                      <a:pt x="42975" y="81467"/>
                      <a:pt x="25288" y="104253"/>
                      <a:pt x="0" y="110728"/>
                    </a:cubicBezTo>
                  </a:path>
                </a:pathLst>
              </a:custGeom>
              <a:noFill/>
              <a:ln w="19050">
                <a:solidFill>
                  <a:srgbClr val="1565C0"/>
                </a:solidFill>
              </a:ln>
            </p:spPr>
          </p:sp>
          <p:sp>
            <p:nvSpPr>
              <p:cNvPr id="13" name="Freeform 13"/>
              <p:cNvSpPr/>
              <p:nvPr/>
            </p:nvSpPr>
            <p:spPr>
              <a:xfrm>
                <a:off x="1209675" y="1911906"/>
                <a:ext cx="42862" cy="83582"/>
              </a:xfrm>
              <a:custGeom>
                <a:avLst/>
                <a:gdLst/>
                <a:ahLst/>
                <a:cxnLst/>
                <a:rect l="l" t="t" r="r" b="b"/>
                <a:pathLst>
                  <a:path w="42862" h="83582">
                    <a:moveTo>
                      <a:pt x="42862" y="83582"/>
                    </a:moveTo>
                    <a:lnTo>
                      <a:pt x="42862" y="55007"/>
                    </a:lnTo>
                    <a:cubicBezTo>
                      <a:pt x="42713" y="29069"/>
                      <a:pt x="25115" y="6484"/>
                      <a:pt x="0" y="0"/>
                    </a:cubicBezTo>
                  </a:path>
                </a:pathLst>
              </a:custGeom>
              <a:noFill/>
              <a:ln w="19050">
                <a:solidFill>
                  <a:srgbClr val="1565C0"/>
                </a:solidFill>
              </a:ln>
            </p:spPr>
          </p:sp>
        </p:grpSp>
        <p:sp>
          <p:nvSpPr>
            <p:cNvPr id="15" name="TextBox 15"/>
            <p:cNvSpPr txBox="1"/>
            <p:nvPr/>
          </p:nvSpPr>
          <p:spPr>
            <a:xfrm>
              <a:off x="1386840" y="1767840"/>
              <a:ext cx="801815" cy="3657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b="1" dirty="0">
                  <a:solidFill>
                    <a:srgbClr val="1A2230"/>
                  </a:solidFill>
                  <a:latin typeface="Arial"/>
                  <a:ea typeface="SimHei"/>
                  <a:cs typeface="Arial"/>
                </a:rPr>
                <a:t>吴彤彤</a:t>
              </a:r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937260" y="2194560"/>
              <a:ext cx="1494663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1565C0"/>
                  </a:solidFill>
                  <a:latin typeface="Arial"/>
                  <a:ea typeface="SimHei"/>
                  <a:cs typeface="Arial"/>
                </a:rPr>
                <a:t>客户资料 + 上线总控</a:t>
              </a:r>
            </a:p>
          </p:txBody>
        </p:sp>
        <p:sp>
          <p:nvSpPr>
            <p:cNvPr id="17" name="Line 17"/>
            <p:cNvSpPr/>
            <p:nvPr/>
          </p:nvSpPr>
          <p:spPr>
            <a:xfrm>
              <a:off x="952500" y="2533650"/>
              <a:ext cx="2914650" cy="9525"/>
            </a:xfrm>
            <a:custGeom>
              <a:avLst/>
              <a:gdLst/>
              <a:ahLst/>
              <a:cxnLst/>
              <a:rect l="l" t="t" r="r" b="b"/>
              <a:pathLst>
                <a:path w="2914650" h="9525">
                  <a:moveTo>
                    <a:pt x="0" y="0"/>
                  </a:moveTo>
                  <a:lnTo>
                    <a:pt x="2914650" y="0"/>
                  </a:lnTo>
                </a:path>
              </a:pathLst>
            </a:custGeom>
            <a:noFill/>
            <a:ln w="9525">
              <a:solidFill>
                <a:srgbClr val="E5EAF0"/>
              </a:solidFill>
            </a:ln>
          </p:spPr>
        </p:sp>
        <p:sp>
          <p:nvSpPr>
            <p:cNvPr id="18" name="TextBox 18"/>
            <p:cNvSpPr txBox="1"/>
            <p:nvPr/>
          </p:nvSpPr>
          <p:spPr>
            <a:xfrm>
              <a:off x="939165" y="2744152"/>
              <a:ext cx="586740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93A0B0"/>
                  </a:solidFill>
                  <a:latin typeface="Arial"/>
                  <a:ea typeface="SimHei"/>
                  <a:cs typeface="Arial"/>
                </a:rPr>
                <a:t>关键卡点</a:t>
              </a:r>
            </a:p>
          </p:txBody>
        </p:sp>
        <p:sp>
          <p:nvSpPr>
            <p:cNvPr id="19" name="Rectangle 19"/>
            <p:cNvSpPr/>
            <p:nvPr/>
          </p:nvSpPr>
          <p:spPr>
            <a:xfrm>
              <a:off x="952500" y="3124200"/>
              <a:ext cx="76200" cy="76200"/>
            </a:xfrm>
            <a:prstGeom prst="rect">
              <a:avLst/>
            </a:prstGeom>
            <a:solidFill>
              <a:srgbClr val="1565C0"/>
            </a:solidFill>
            <a:ln>
              <a:noFill/>
            </a:ln>
          </p:spPr>
        </p:sp>
        <p:sp>
          <p:nvSpPr>
            <p:cNvPr id="20" name="TextBox 20"/>
            <p:cNvSpPr txBox="1"/>
            <p:nvPr/>
          </p:nvSpPr>
          <p:spPr>
            <a:xfrm>
              <a:off x="1127760" y="3089910"/>
              <a:ext cx="2350770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1A2230"/>
                  </a:solidFill>
                  <a:latin typeface="Arial"/>
                  <a:ea typeface="Microsoft YaHei"/>
                  <a:cs typeface="Arial"/>
                </a:rPr>
                <a:t>收齐正式资料：AppID / 云空间 /</a:t>
              </a:r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1127760" y="3337560"/>
              <a:ext cx="2558796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1A2230"/>
                  </a:solidFill>
                  <a:latin typeface="Arial"/>
                  <a:ea typeface="Microsoft YaHei"/>
                  <a:cs typeface="Arial"/>
                </a:rPr>
                <a:t>商户号 / 域名 / 客服 / Logo / 政策</a:t>
              </a:r>
            </a:p>
          </p:txBody>
        </p:sp>
        <p:sp>
          <p:nvSpPr>
            <p:cNvPr id="22" name="Rectangle 22"/>
            <p:cNvSpPr/>
            <p:nvPr/>
          </p:nvSpPr>
          <p:spPr>
            <a:xfrm>
              <a:off x="952500" y="4038600"/>
              <a:ext cx="76200" cy="76200"/>
            </a:xfrm>
            <a:prstGeom prst="rect">
              <a:avLst/>
            </a:prstGeom>
            <a:solidFill>
              <a:srgbClr val="1565C0"/>
            </a:solidFill>
            <a:ln>
              <a:noFill/>
            </a:ln>
          </p:spPr>
        </p:sp>
        <p:sp>
          <p:nvSpPr>
            <p:cNvPr id="23" name="TextBox 23"/>
            <p:cNvSpPr txBox="1"/>
            <p:nvPr/>
          </p:nvSpPr>
          <p:spPr>
            <a:xfrm>
              <a:off x="1127760" y="4004310"/>
              <a:ext cx="1470660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1A2230"/>
                  </a:solidFill>
                  <a:latin typeface="Arial"/>
                  <a:ea typeface="Microsoft YaHei"/>
                  <a:cs typeface="Arial"/>
                </a:rPr>
                <a:t>确认权威客服热线号</a:t>
              </a:r>
            </a:p>
          </p:txBody>
        </p:sp>
        <p:sp>
          <p:nvSpPr>
            <p:cNvPr id="24" name="TextBox 24"/>
            <p:cNvSpPr txBox="1"/>
            <p:nvPr/>
          </p:nvSpPr>
          <p:spPr>
            <a:xfrm>
              <a:off x="1127760" y="4251960"/>
              <a:ext cx="1862709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1A2230"/>
                  </a:solidFill>
                  <a:latin typeface="Arial"/>
                  <a:ea typeface="Microsoft YaHei"/>
                  <a:cs typeface="Arial"/>
                </a:rPr>
                <a:t>（暂用 0757-85775667）</a:t>
              </a:r>
            </a:p>
          </p:txBody>
        </p:sp>
        <p:sp>
          <p:nvSpPr>
            <p:cNvPr id="25" name="Rectangle 25"/>
            <p:cNvSpPr/>
            <p:nvPr/>
          </p:nvSpPr>
          <p:spPr>
            <a:xfrm>
              <a:off x="952500" y="4953000"/>
              <a:ext cx="76200" cy="76200"/>
            </a:xfrm>
            <a:prstGeom prst="rect">
              <a:avLst/>
            </a:prstGeom>
            <a:solidFill>
              <a:srgbClr val="1565C0"/>
            </a:solidFill>
            <a:ln>
              <a:noFill/>
            </a:ln>
          </p:spPr>
        </p:sp>
        <p:sp>
          <p:nvSpPr>
            <p:cNvPr id="26" name="TextBox 26"/>
            <p:cNvSpPr txBox="1"/>
            <p:nvPr/>
          </p:nvSpPr>
          <p:spPr>
            <a:xfrm>
              <a:off x="1127760" y="4918710"/>
              <a:ext cx="1790700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1A2230"/>
                  </a:solidFill>
                  <a:latin typeface="Arial"/>
                  <a:ea typeface="Microsoft YaHei"/>
                  <a:cs typeface="Arial"/>
                </a:rPr>
                <a:t>组织每日进度同步，跟踪</a:t>
              </a:r>
            </a:p>
          </p:txBody>
        </p:sp>
        <p:sp>
          <p:nvSpPr>
            <p:cNvPr id="27" name="TextBox 27"/>
            <p:cNvSpPr txBox="1"/>
            <p:nvPr/>
          </p:nvSpPr>
          <p:spPr>
            <a:xfrm>
              <a:off x="1127760" y="5166360"/>
              <a:ext cx="2310765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1A2230"/>
                  </a:solidFill>
                  <a:latin typeface="Arial"/>
                  <a:ea typeface="Microsoft YaHei"/>
                  <a:cs typeface="Arial"/>
                </a:rPr>
                <a:t>支付 / 订阅 / URL / 索引 / 真机</a:t>
              </a:r>
            </a:p>
          </p:txBody>
        </p:sp>
      </p:grpSp>
      <p:grpSp>
        <p:nvGrpSpPr>
          <p:cNvPr id="47" name="Group 47"/>
          <p:cNvGrpSpPr/>
          <p:nvPr/>
        </p:nvGrpSpPr>
        <p:grpSpPr>
          <a:xfrm>
            <a:off x="4362450" y="1428750"/>
            <a:ext cx="3448050" cy="4762500"/>
            <a:chOff x="4362450" y="1428750"/>
            <a:chExt cx="3448050" cy="4762500"/>
          </a:xfrm>
        </p:grpSpPr>
        <p:sp>
          <p:nvSpPr>
            <p:cNvPr id="29" name="Rectangle 29"/>
            <p:cNvSpPr/>
            <p:nvPr/>
          </p:nvSpPr>
          <p:spPr>
            <a:xfrm>
              <a:off x="4362450" y="1428750"/>
              <a:ext cx="3448050" cy="4762500"/>
            </a:xfrm>
            <a:prstGeom prst="rect">
              <a:avLst/>
            </a:prstGeom>
            <a:solidFill>
              <a:srgbClr val="F4F7FB"/>
            </a:solidFill>
            <a:ln>
              <a:noFill/>
            </a:ln>
          </p:spPr>
        </p:sp>
        <p:sp>
          <p:nvSpPr>
            <p:cNvPr id="30" name="Rectangle 30"/>
            <p:cNvSpPr/>
            <p:nvPr/>
          </p:nvSpPr>
          <p:spPr>
            <a:xfrm>
              <a:off x="4362450" y="1428750"/>
              <a:ext cx="3448050" cy="38100"/>
            </a:xfrm>
            <a:prstGeom prst="rect">
              <a:avLst/>
            </a:prstGeom>
            <a:solidFill>
              <a:srgbClr val="1565C0"/>
            </a:solidFill>
            <a:ln>
              <a:noFill/>
            </a:ln>
          </p:spPr>
        </p:sp>
        <p:grpSp>
          <p:nvGrpSpPr>
            <p:cNvPr id="33" name="Group 33"/>
            <p:cNvGrpSpPr/>
            <p:nvPr/>
          </p:nvGrpSpPr>
          <p:grpSpPr>
            <a:xfrm>
              <a:off x="4686300" y="1738312"/>
              <a:ext cx="228600" cy="257176"/>
              <a:chOff x="4686300" y="1738312"/>
              <a:chExt cx="228600" cy="257176"/>
            </a:xfrm>
          </p:grpSpPr>
          <p:sp>
            <p:nvSpPr>
              <p:cNvPr id="31" name="Freeform 31"/>
              <p:cNvSpPr/>
              <p:nvPr/>
            </p:nvSpPr>
            <p:spPr>
              <a:xfrm>
                <a:off x="4686300" y="1738312"/>
                <a:ext cx="228600" cy="200025"/>
              </a:xfrm>
              <a:custGeom>
                <a:avLst/>
                <a:gdLst/>
                <a:ahLst/>
                <a:cxnLst/>
                <a:rect l="l" t="t" r="r" b="b"/>
                <a:pathLst>
                  <a:path w="228600" h="200025">
                    <a:moveTo>
                      <a:pt x="85725" y="28575"/>
                    </a:moveTo>
                    <a:cubicBezTo>
                      <a:pt x="85725" y="12793"/>
                      <a:pt x="98518" y="0"/>
                      <a:pt x="114300" y="0"/>
                    </a:cubicBezTo>
                    <a:cubicBezTo>
                      <a:pt x="130082" y="0"/>
                      <a:pt x="142875" y="12793"/>
                      <a:pt x="142875" y="28575"/>
                    </a:cubicBezTo>
                    <a:cubicBezTo>
                      <a:pt x="176310" y="44385"/>
                      <a:pt x="198291" y="77356"/>
                      <a:pt x="200025" y="114300"/>
                    </a:cubicBezTo>
                    <a:lnTo>
                      <a:pt x="200025" y="157162"/>
                    </a:lnTo>
                    <a:cubicBezTo>
                      <a:pt x="202205" y="175176"/>
                      <a:pt x="212811" y="191084"/>
                      <a:pt x="228600" y="200025"/>
                    </a:cubicBezTo>
                    <a:lnTo>
                      <a:pt x="0" y="200025"/>
                    </a:lnTo>
                    <a:cubicBezTo>
                      <a:pt x="15789" y="191084"/>
                      <a:pt x="26395" y="175176"/>
                      <a:pt x="28575" y="157162"/>
                    </a:cubicBezTo>
                    <a:lnTo>
                      <a:pt x="28575" y="114300"/>
                    </a:lnTo>
                    <a:cubicBezTo>
                      <a:pt x="30309" y="77356"/>
                      <a:pt x="52290" y="44385"/>
                      <a:pt x="85725" y="28575"/>
                    </a:cubicBezTo>
                  </a:path>
                </a:pathLst>
              </a:custGeom>
              <a:noFill/>
              <a:ln w="19050">
                <a:solidFill>
                  <a:srgbClr val="1565C0"/>
                </a:solidFill>
              </a:ln>
            </p:spPr>
          </p:sp>
          <p:sp>
            <p:nvSpPr>
              <p:cNvPr id="32" name="Freeform 32"/>
              <p:cNvSpPr/>
              <p:nvPr/>
            </p:nvSpPr>
            <p:spPr>
              <a:xfrm>
                <a:off x="4757738" y="1938338"/>
                <a:ext cx="85725" cy="57150"/>
              </a:xfrm>
              <a:custGeom>
                <a:avLst/>
                <a:gdLst/>
                <a:ahLst/>
                <a:cxnLst/>
                <a:rect l="l" t="t" r="r" b="b"/>
                <a:pathLst>
                  <a:path w="85725" h="57150">
                    <a:moveTo>
                      <a:pt x="0" y="0"/>
                    </a:moveTo>
                    <a:lnTo>
                      <a:pt x="0" y="14288"/>
                    </a:lnTo>
                    <a:cubicBezTo>
                      <a:pt x="0" y="37960"/>
                      <a:pt x="19190" y="57150"/>
                      <a:pt x="42862" y="57150"/>
                    </a:cubicBezTo>
                    <a:cubicBezTo>
                      <a:pt x="66535" y="57150"/>
                      <a:pt x="85725" y="37960"/>
                      <a:pt x="85725" y="14288"/>
                    </a:cubicBezTo>
                    <a:lnTo>
                      <a:pt x="85725" y="0"/>
                    </a:lnTo>
                  </a:path>
                </a:pathLst>
              </a:custGeom>
              <a:noFill/>
              <a:ln w="19050">
                <a:solidFill>
                  <a:srgbClr val="1565C0"/>
                </a:solidFill>
              </a:ln>
            </p:spPr>
          </p:sp>
        </p:grpSp>
        <p:sp>
          <p:nvSpPr>
            <p:cNvPr id="34" name="TextBox 34"/>
            <p:cNvSpPr txBox="1"/>
            <p:nvPr/>
          </p:nvSpPr>
          <p:spPr>
            <a:xfrm>
              <a:off x="5063490" y="1767840"/>
              <a:ext cx="549783" cy="3657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b="1" dirty="0">
                  <a:solidFill>
                    <a:srgbClr val="1A2230"/>
                  </a:solidFill>
                  <a:latin typeface="Arial"/>
                  <a:ea typeface="SimHei"/>
                  <a:cs typeface="Arial"/>
                </a:rPr>
                <a:t>陈莎</a:t>
              </a:r>
            </a:p>
          </p:txBody>
        </p:sp>
        <p:sp>
          <p:nvSpPr>
            <p:cNvPr id="35" name="TextBox 35"/>
            <p:cNvSpPr txBox="1"/>
            <p:nvPr/>
          </p:nvSpPr>
          <p:spPr>
            <a:xfrm>
              <a:off x="4613910" y="2194560"/>
              <a:ext cx="1678686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1565C0"/>
                  </a:solidFill>
                  <a:latin typeface="Arial"/>
                  <a:ea typeface="SimHei"/>
                  <a:cs typeface="Arial"/>
                </a:rPr>
                <a:t>微信平台 / 支付 / 订阅</a:t>
              </a:r>
            </a:p>
          </p:txBody>
        </p:sp>
        <p:sp>
          <p:nvSpPr>
            <p:cNvPr id="36" name="Line 36"/>
            <p:cNvSpPr/>
            <p:nvPr/>
          </p:nvSpPr>
          <p:spPr>
            <a:xfrm>
              <a:off x="4629150" y="2533650"/>
              <a:ext cx="2914650" cy="9525"/>
            </a:xfrm>
            <a:custGeom>
              <a:avLst/>
              <a:gdLst/>
              <a:ahLst/>
              <a:cxnLst/>
              <a:rect l="l" t="t" r="r" b="b"/>
              <a:pathLst>
                <a:path w="2914650" h="9525">
                  <a:moveTo>
                    <a:pt x="0" y="0"/>
                  </a:moveTo>
                  <a:lnTo>
                    <a:pt x="2914650" y="0"/>
                  </a:lnTo>
                </a:path>
              </a:pathLst>
            </a:custGeom>
            <a:noFill/>
            <a:ln w="9525">
              <a:solidFill>
                <a:srgbClr val="E5EAF0"/>
              </a:solidFill>
            </a:ln>
          </p:spPr>
        </p:sp>
        <p:sp>
          <p:nvSpPr>
            <p:cNvPr id="37" name="TextBox 37"/>
            <p:cNvSpPr txBox="1"/>
            <p:nvPr/>
          </p:nvSpPr>
          <p:spPr>
            <a:xfrm>
              <a:off x="4615815" y="2744152"/>
              <a:ext cx="586740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93A0B0"/>
                  </a:solidFill>
                  <a:latin typeface="Arial"/>
                  <a:ea typeface="SimHei"/>
                  <a:cs typeface="Arial"/>
                </a:rPr>
                <a:t>关键卡点</a:t>
              </a:r>
            </a:p>
          </p:txBody>
        </p:sp>
        <p:sp>
          <p:nvSpPr>
            <p:cNvPr id="38" name="Rectangle 38"/>
            <p:cNvSpPr/>
            <p:nvPr/>
          </p:nvSpPr>
          <p:spPr>
            <a:xfrm>
              <a:off x="4629150" y="3124200"/>
              <a:ext cx="76200" cy="76200"/>
            </a:xfrm>
            <a:prstGeom prst="rect">
              <a:avLst/>
            </a:prstGeom>
            <a:solidFill>
              <a:srgbClr val="1565C0"/>
            </a:solidFill>
            <a:ln>
              <a:noFill/>
            </a:ln>
          </p:spPr>
        </p:sp>
        <p:sp>
          <p:nvSpPr>
            <p:cNvPr id="39" name="TextBox 39"/>
            <p:cNvSpPr txBox="1"/>
            <p:nvPr/>
          </p:nvSpPr>
          <p:spPr>
            <a:xfrm>
              <a:off x="4804410" y="3089910"/>
              <a:ext cx="990600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1A2230"/>
                  </a:solidFill>
                  <a:latin typeface="Arial"/>
                  <a:ea typeface="Microsoft YaHei"/>
                  <a:cs typeface="Arial"/>
                </a:rPr>
                <a:t>配置合法域名</a:t>
              </a:r>
            </a:p>
          </p:txBody>
        </p:sp>
        <p:sp>
          <p:nvSpPr>
            <p:cNvPr id="40" name="TextBox 40"/>
            <p:cNvSpPr txBox="1"/>
            <p:nvPr/>
          </p:nvSpPr>
          <p:spPr>
            <a:xfrm>
              <a:off x="4804410" y="3337560"/>
              <a:ext cx="2198751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00" dirty="0">
                  <a:solidFill>
                    <a:srgbClr val="1A2230"/>
                  </a:solidFill>
                  <a:latin typeface="Arial"/>
                  <a:ea typeface="Arial"/>
                  <a:cs typeface="Arial"/>
                </a:rPr>
                <a:t>request / upload / download</a:t>
              </a:r>
            </a:p>
          </p:txBody>
        </p:sp>
        <p:sp>
          <p:nvSpPr>
            <p:cNvPr id="41" name="Rectangle 41"/>
            <p:cNvSpPr/>
            <p:nvPr/>
          </p:nvSpPr>
          <p:spPr>
            <a:xfrm>
              <a:off x="4629150" y="4038600"/>
              <a:ext cx="76200" cy="76200"/>
            </a:xfrm>
            <a:prstGeom prst="rect">
              <a:avLst/>
            </a:prstGeom>
            <a:solidFill>
              <a:srgbClr val="1565C0"/>
            </a:solidFill>
            <a:ln>
              <a:noFill/>
            </a:ln>
          </p:spPr>
        </p:sp>
        <p:sp>
          <p:nvSpPr>
            <p:cNvPr id="42" name="TextBox 42"/>
            <p:cNvSpPr txBox="1"/>
            <p:nvPr/>
          </p:nvSpPr>
          <p:spPr>
            <a:xfrm>
              <a:off x="4804410" y="4004310"/>
              <a:ext cx="2294763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1A2230"/>
                  </a:solidFill>
                  <a:latin typeface="Arial"/>
                  <a:ea typeface="Microsoft YaHei"/>
                  <a:cs typeface="Arial"/>
                </a:rPr>
                <a:t>申请订阅模板 ID（报修 / 签收 /</a:t>
              </a:r>
            </a:p>
          </p:txBody>
        </p:sp>
        <p:sp>
          <p:nvSpPr>
            <p:cNvPr id="43" name="TextBox 43"/>
            <p:cNvSpPr txBox="1"/>
            <p:nvPr/>
          </p:nvSpPr>
          <p:spPr>
            <a:xfrm>
              <a:off x="4804410" y="4251960"/>
              <a:ext cx="2526792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1A2230"/>
                  </a:solidFill>
                  <a:latin typeface="Arial"/>
                  <a:ea typeface="Microsoft YaHei"/>
                  <a:cs typeface="Arial"/>
                </a:rPr>
                <a:t>报价 / 付款 / 发货 / 完成 / 回访）</a:t>
              </a:r>
            </a:p>
          </p:txBody>
        </p:sp>
        <p:sp>
          <p:nvSpPr>
            <p:cNvPr id="44" name="Rectangle 44"/>
            <p:cNvSpPr/>
            <p:nvPr/>
          </p:nvSpPr>
          <p:spPr>
            <a:xfrm>
              <a:off x="4629150" y="4953000"/>
              <a:ext cx="76200" cy="76200"/>
            </a:xfrm>
            <a:prstGeom prst="rect">
              <a:avLst/>
            </a:prstGeom>
            <a:solidFill>
              <a:srgbClr val="1565C0"/>
            </a:solidFill>
            <a:ln>
              <a:noFill/>
            </a:ln>
          </p:spPr>
        </p:sp>
        <p:sp>
          <p:nvSpPr>
            <p:cNvPr id="45" name="TextBox 45"/>
            <p:cNvSpPr txBox="1"/>
            <p:nvPr/>
          </p:nvSpPr>
          <p:spPr>
            <a:xfrm>
              <a:off x="4804410" y="4918710"/>
              <a:ext cx="1790700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1A2230"/>
                  </a:solidFill>
                  <a:latin typeface="Arial"/>
                  <a:ea typeface="Microsoft YaHei"/>
                  <a:cs typeface="Arial"/>
                </a:rPr>
                <a:t>微信支付商户号 / 证书 /</a:t>
              </a:r>
            </a:p>
          </p:txBody>
        </p:sp>
        <p:sp>
          <p:nvSpPr>
            <p:cNvPr id="46" name="TextBox 46"/>
            <p:cNvSpPr txBox="1"/>
            <p:nvPr/>
          </p:nvSpPr>
          <p:spPr>
            <a:xfrm>
              <a:off x="4804410" y="5166360"/>
              <a:ext cx="2302764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1A2230"/>
                  </a:solidFill>
                  <a:latin typeface="Arial"/>
                  <a:ea typeface="Microsoft YaHei"/>
                  <a:cs typeface="Arial"/>
                </a:rPr>
                <a:t>APIv3 / 回调 URL（WX_PAY_*）</a:t>
              </a:r>
            </a:p>
          </p:txBody>
        </p:sp>
      </p:grpSp>
      <p:grpSp>
        <p:nvGrpSpPr>
          <p:cNvPr id="67" name="Group 67"/>
          <p:cNvGrpSpPr/>
          <p:nvPr/>
        </p:nvGrpSpPr>
        <p:grpSpPr>
          <a:xfrm>
            <a:off x="8039100" y="1428750"/>
            <a:ext cx="3448050" cy="4762500"/>
            <a:chOff x="8039100" y="1428750"/>
            <a:chExt cx="3448050" cy="4762500"/>
          </a:xfrm>
        </p:grpSpPr>
        <p:sp>
          <p:nvSpPr>
            <p:cNvPr id="48" name="Rectangle 48"/>
            <p:cNvSpPr/>
            <p:nvPr/>
          </p:nvSpPr>
          <p:spPr>
            <a:xfrm>
              <a:off x="8039100" y="1428750"/>
              <a:ext cx="3448050" cy="4762500"/>
            </a:xfrm>
            <a:prstGeom prst="rect">
              <a:avLst/>
            </a:prstGeom>
            <a:solidFill>
              <a:srgbClr val="F4F7FB"/>
            </a:solidFill>
            <a:ln>
              <a:noFill/>
            </a:ln>
          </p:spPr>
        </p:sp>
        <p:sp>
          <p:nvSpPr>
            <p:cNvPr id="49" name="Rectangle 49"/>
            <p:cNvSpPr/>
            <p:nvPr/>
          </p:nvSpPr>
          <p:spPr>
            <a:xfrm>
              <a:off x="8039100" y="1428750"/>
              <a:ext cx="3448050" cy="38100"/>
            </a:xfrm>
            <a:prstGeom prst="rect">
              <a:avLst/>
            </a:prstGeom>
            <a:solidFill>
              <a:srgbClr val="1565C0"/>
            </a:solidFill>
            <a:ln>
              <a:noFill/>
            </a:ln>
          </p:spPr>
        </p:sp>
        <p:grpSp>
          <p:nvGrpSpPr>
            <p:cNvPr id="53" name="Group 53"/>
            <p:cNvGrpSpPr/>
            <p:nvPr/>
          </p:nvGrpSpPr>
          <p:grpSpPr>
            <a:xfrm>
              <a:off x="8362950" y="1738312"/>
              <a:ext cx="228600" cy="257176"/>
              <a:chOff x="8362950" y="1738312"/>
              <a:chExt cx="228600" cy="257176"/>
            </a:xfrm>
          </p:grpSpPr>
          <p:sp>
            <p:nvSpPr>
              <p:cNvPr id="50" name="Freeform 50"/>
              <p:cNvSpPr/>
              <p:nvPr/>
            </p:nvSpPr>
            <p:spPr>
              <a:xfrm>
                <a:off x="8362950" y="1738312"/>
                <a:ext cx="228600" cy="85725"/>
              </a:xfrm>
              <a:custGeom>
                <a:avLst/>
                <a:gdLst/>
                <a:ahLst/>
                <a:cxnLst/>
                <a:rect l="l" t="t" r="r" b="b"/>
                <a:pathLst>
                  <a:path w="228600" h="85725">
                    <a:moveTo>
                      <a:pt x="0" y="42862"/>
                    </a:moveTo>
                    <a:cubicBezTo>
                      <a:pt x="0" y="66535"/>
                      <a:pt x="51174" y="85725"/>
                      <a:pt x="114300" y="85725"/>
                    </a:cubicBezTo>
                    <a:cubicBezTo>
                      <a:pt x="177426" y="85725"/>
                      <a:pt x="228600" y="66535"/>
                      <a:pt x="228600" y="42862"/>
                    </a:cubicBezTo>
                    <a:cubicBezTo>
                      <a:pt x="228600" y="19190"/>
                      <a:pt x="177426" y="0"/>
                      <a:pt x="114300" y="0"/>
                    </a:cubicBezTo>
                    <a:cubicBezTo>
                      <a:pt x="51174" y="0"/>
                      <a:pt x="0" y="19190"/>
                      <a:pt x="0" y="42862"/>
                    </a:cubicBezTo>
                  </a:path>
                </a:pathLst>
              </a:custGeom>
              <a:noFill/>
              <a:ln w="19050">
                <a:solidFill>
                  <a:srgbClr val="1565C0"/>
                </a:solidFill>
              </a:ln>
            </p:spPr>
          </p:sp>
          <p:sp>
            <p:nvSpPr>
              <p:cNvPr id="51" name="Freeform 51"/>
              <p:cNvSpPr/>
              <p:nvPr/>
            </p:nvSpPr>
            <p:spPr>
              <a:xfrm>
                <a:off x="8362950" y="1781175"/>
                <a:ext cx="228600" cy="128588"/>
              </a:xfrm>
              <a:custGeom>
                <a:avLst/>
                <a:gdLst/>
                <a:ahLst/>
                <a:cxnLst/>
                <a:rect l="l" t="t" r="r" b="b"/>
                <a:pathLst>
                  <a:path w="228600" h="128588">
                    <a:moveTo>
                      <a:pt x="0" y="0"/>
                    </a:moveTo>
                    <a:lnTo>
                      <a:pt x="0" y="85725"/>
                    </a:lnTo>
                    <a:cubicBezTo>
                      <a:pt x="0" y="109397"/>
                      <a:pt x="51174" y="128588"/>
                      <a:pt x="114300" y="128588"/>
                    </a:cubicBezTo>
                    <a:cubicBezTo>
                      <a:pt x="177426" y="128588"/>
                      <a:pt x="228600" y="109397"/>
                      <a:pt x="228600" y="85725"/>
                    </a:cubicBezTo>
                    <a:lnTo>
                      <a:pt x="228600" y="0"/>
                    </a:lnTo>
                  </a:path>
                </a:pathLst>
              </a:custGeom>
              <a:noFill/>
              <a:ln w="19050">
                <a:solidFill>
                  <a:srgbClr val="1565C0"/>
                </a:solidFill>
              </a:ln>
            </p:spPr>
          </p:sp>
          <p:sp>
            <p:nvSpPr>
              <p:cNvPr id="52" name="Freeform 52"/>
              <p:cNvSpPr/>
              <p:nvPr/>
            </p:nvSpPr>
            <p:spPr>
              <a:xfrm>
                <a:off x="8362950" y="1866900"/>
                <a:ext cx="228600" cy="128588"/>
              </a:xfrm>
              <a:custGeom>
                <a:avLst/>
                <a:gdLst/>
                <a:ahLst/>
                <a:cxnLst/>
                <a:rect l="l" t="t" r="r" b="b"/>
                <a:pathLst>
                  <a:path w="228600" h="128588">
                    <a:moveTo>
                      <a:pt x="0" y="0"/>
                    </a:moveTo>
                    <a:lnTo>
                      <a:pt x="0" y="85725"/>
                    </a:lnTo>
                    <a:cubicBezTo>
                      <a:pt x="0" y="109397"/>
                      <a:pt x="51174" y="128588"/>
                      <a:pt x="114300" y="128588"/>
                    </a:cubicBezTo>
                    <a:cubicBezTo>
                      <a:pt x="177426" y="128588"/>
                      <a:pt x="228600" y="109397"/>
                      <a:pt x="228600" y="85725"/>
                    </a:cubicBezTo>
                    <a:lnTo>
                      <a:pt x="228600" y="0"/>
                    </a:lnTo>
                  </a:path>
                </a:pathLst>
              </a:custGeom>
              <a:noFill/>
              <a:ln w="19050">
                <a:solidFill>
                  <a:srgbClr val="1565C0"/>
                </a:solidFill>
              </a:ln>
            </p:spPr>
          </p:sp>
        </p:grpSp>
        <p:sp>
          <p:nvSpPr>
            <p:cNvPr id="54" name="TextBox 54"/>
            <p:cNvSpPr txBox="1"/>
            <p:nvPr/>
          </p:nvSpPr>
          <p:spPr>
            <a:xfrm>
              <a:off x="8740140" y="1767840"/>
              <a:ext cx="801815" cy="3657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b="1" dirty="0">
                  <a:solidFill>
                    <a:srgbClr val="1A2230"/>
                  </a:solidFill>
                  <a:latin typeface="Arial"/>
                  <a:ea typeface="SimHei"/>
                  <a:cs typeface="Arial"/>
                </a:rPr>
                <a:t>苏凤冰</a:t>
              </a:r>
            </a:p>
          </p:txBody>
        </p:sp>
        <p:sp>
          <p:nvSpPr>
            <p:cNvPr id="55" name="TextBox 55"/>
            <p:cNvSpPr txBox="1"/>
            <p:nvPr/>
          </p:nvSpPr>
          <p:spPr>
            <a:xfrm>
              <a:off x="8290560" y="2194560"/>
              <a:ext cx="1982724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1565C0"/>
                  </a:solidFill>
                  <a:latin typeface="Arial"/>
                  <a:ea typeface="SimHei"/>
                  <a:cs typeface="Arial"/>
                </a:rPr>
                <a:t>uniCloud / 数据库 / 云函数</a:t>
              </a:r>
            </a:p>
          </p:txBody>
        </p:sp>
        <p:sp>
          <p:nvSpPr>
            <p:cNvPr id="56" name="Line 56"/>
            <p:cNvSpPr/>
            <p:nvPr/>
          </p:nvSpPr>
          <p:spPr>
            <a:xfrm>
              <a:off x="8305800" y="2533650"/>
              <a:ext cx="2914650" cy="9525"/>
            </a:xfrm>
            <a:custGeom>
              <a:avLst/>
              <a:gdLst/>
              <a:ahLst/>
              <a:cxnLst/>
              <a:rect l="l" t="t" r="r" b="b"/>
              <a:pathLst>
                <a:path w="2914650" h="9525">
                  <a:moveTo>
                    <a:pt x="0" y="0"/>
                  </a:moveTo>
                  <a:lnTo>
                    <a:pt x="2914650" y="0"/>
                  </a:lnTo>
                </a:path>
              </a:pathLst>
            </a:custGeom>
            <a:noFill/>
            <a:ln w="9525">
              <a:solidFill>
                <a:srgbClr val="E5EAF0"/>
              </a:solidFill>
            </a:ln>
          </p:spPr>
        </p:sp>
        <p:sp>
          <p:nvSpPr>
            <p:cNvPr id="57" name="TextBox 57"/>
            <p:cNvSpPr txBox="1"/>
            <p:nvPr/>
          </p:nvSpPr>
          <p:spPr>
            <a:xfrm>
              <a:off x="8292465" y="2744152"/>
              <a:ext cx="586740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93A0B0"/>
                  </a:solidFill>
                  <a:latin typeface="Arial"/>
                  <a:ea typeface="SimHei"/>
                  <a:cs typeface="Arial"/>
                </a:rPr>
                <a:t>关键卡点</a:t>
              </a:r>
            </a:p>
          </p:txBody>
        </p:sp>
        <p:sp>
          <p:nvSpPr>
            <p:cNvPr id="58" name="Rectangle 58"/>
            <p:cNvSpPr/>
            <p:nvPr/>
          </p:nvSpPr>
          <p:spPr>
            <a:xfrm>
              <a:off x="8305800" y="3124200"/>
              <a:ext cx="76200" cy="76200"/>
            </a:xfrm>
            <a:prstGeom prst="rect">
              <a:avLst/>
            </a:prstGeom>
            <a:solidFill>
              <a:srgbClr val="1565C0"/>
            </a:solidFill>
            <a:ln>
              <a:noFill/>
            </a:ln>
          </p:spPr>
        </p:sp>
        <p:sp>
          <p:nvSpPr>
            <p:cNvPr id="59" name="TextBox 59"/>
            <p:cNvSpPr txBox="1"/>
            <p:nvPr/>
          </p:nvSpPr>
          <p:spPr>
            <a:xfrm>
              <a:off x="8481060" y="3089910"/>
              <a:ext cx="1974723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1A2230"/>
                  </a:solidFill>
                  <a:latin typeface="Arial"/>
                  <a:ea typeface="Microsoft YaHei"/>
                  <a:cs typeface="Arial"/>
                </a:rPr>
                <a:t>创建 / 接入客户正式云空间</a:t>
              </a:r>
            </a:p>
          </p:txBody>
        </p:sp>
        <p:sp>
          <p:nvSpPr>
            <p:cNvPr id="60" name="TextBox 60"/>
            <p:cNvSpPr txBox="1"/>
            <p:nvPr/>
          </p:nvSpPr>
          <p:spPr>
            <a:xfrm>
              <a:off x="8481060" y="3337560"/>
              <a:ext cx="1310640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1A2230"/>
                  </a:solidFill>
                  <a:latin typeface="Arial"/>
                  <a:ea typeface="Microsoft YaHei"/>
                  <a:cs typeface="Arial"/>
                </a:rPr>
                <a:t>（当前在开发云）</a:t>
              </a:r>
            </a:p>
          </p:txBody>
        </p:sp>
        <p:sp>
          <p:nvSpPr>
            <p:cNvPr id="61" name="Rectangle 61"/>
            <p:cNvSpPr/>
            <p:nvPr/>
          </p:nvSpPr>
          <p:spPr>
            <a:xfrm>
              <a:off x="8305800" y="4038600"/>
              <a:ext cx="76200" cy="76200"/>
            </a:xfrm>
            <a:prstGeom prst="rect">
              <a:avLst/>
            </a:prstGeom>
            <a:solidFill>
              <a:srgbClr val="1565C0"/>
            </a:solidFill>
            <a:ln>
              <a:noFill/>
            </a:ln>
          </p:spPr>
        </p:sp>
        <p:sp>
          <p:nvSpPr>
            <p:cNvPr id="62" name="TextBox 62"/>
            <p:cNvSpPr txBox="1"/>
            <p:nvPr/>
          </p:nvSpPr>
          <p:spPr>
            <a:xfrm>
              <a:off x="8481060" y="4004310"/>
              <a:ext cx="1334643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1A2230"/>
                  </a:solidFill>
                  <a:latin typeface="Arial"/>
                  <a:ea typeface="Microsoft YaHei"/>
                  <a:cs typeface="Arial"/>
                </a:rPr>
                <a:t>重部署 7 个云函数</a:t>
              </a:r>
            </a:p>
          </p:txBody>
        </p:sp>
        <p:sp>
          <p:nvSpPr>
            <p:cNvPr id="63" name="TextBox 63"/>
            <p:cNvSpPr txBox="1"/>
            <p:nvPr/>
          </p:nvSpPr>
          <p:spPr>
            <a:xfrm>
              <a:off x="8481060" y="4251960"/>
              <a:ext cx="1494663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1A2230"/>
                  </a:solidFill>
                  <a:latin typeface="Arial"/>
                  <a:ea typeface="Microsoft YaHei"/>
                  <a:cs typeface="Arial"/>
                </a:rPr>
                <a:t>（含合规整改 5 个）</a:t>
              </a:r>
            </a:p>
          </p:txBody>
        </p:sp>
        <p:sp>
          <p:nvSpPr>
            <p:cNvPr id="64" name="Rectangle 64"/>
            <p:cNvSpPr/>
            <p:nvPr/>
          </p:nvSpPr>
          <p:spPr>
            <a:xfrm>
              <a:off x="8305800" y="4953000"/>
              <a:ext cx="76200" cy="76200"/>
            </a:xfrm>
            <a:prstGeom prst="rect">
              <a:avLst/>
            </a:prstGeom>
            <a:solidFill>
              <a:srgbClr val="1565C0"/>
            </a:solidFill>
            <a:ln>
              <a:noFill/>
            </a:ln>
          </p:spPr>
        </p:sp>
        <p:sp>
          <p:nvSpPr>
            <p:cNvPr id="65" name="TextBox 65"/>
            <p:cNvSpPr txBox="1"/>
            <p:nvPr/>
          </p:nvSpPr>
          <p:spPr>
            <a:xfrm>
              <a:off x="8481060" y="4918710"/>
              <a:ext cx="1918716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1A2230"/>
                  </a:solidFill>
                  <a:latin typeface="Arial"/>
                  <a:ea typeface="Microsoft YaHei"/>
                  <a:cs typeface="Arial"/>
                </a:rPr>
                <a:t>创建集合 / schema / 索引</a:t>
              </a:r>
            </a:p>
          </p:txBody>
        </p:sp>
        <p:sp>
          <p:nvSpPr>
            <p:cNvPr id="66" name="TextBox 66"/>
            <p:cNvSpPr txBox="1"/>
            <p:nvPr/>
          </p:nvSpPr>
          <p:spPr>
            <a:xfrm>
              <a:off x="8481060" y="5166360"/>
              <a:ext cx="2126742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1A2230"/>
                  </a:solidFill>
                  <a:latin typeface="Arial"/>
                  <a:ea typeface="Microsoft YaHei"/>
                  <a:cs typeface="Arial"/>
                </a:rPr>
                <a:t>（order_no 唯一、sn 清洗）</a:t>
              </a:r>
            </a:p>
          </p:txBody>
        </p:sp>
      </p:grpSp>
      <p:grpSp>
        <p:nvGrpSpPr>
          <p:cNvPr id="70" name="Group 70"/>
          <p:cNvGrpSpPr/>
          <p:nvPr/>
        </p:nvGrpSpPr>
        <p:grpSpPr>
          <a:xfrm>
            <a:off x="675322" y="6597491"/>
            <a:ext cx="10841355" cy="167640"/>
            <a:chOff x="675322" y="6597491"/>
            <a:chExt cx="10841355" cy="167640"/>
          </a:xfrm>
        </p:grpSpPr>
        <p:sp>
          <p:nvSpPr>
            <p:cNvPr id="68" name="TextBox 68"/>
            <p:cNvSpPr txBox="1"/>
            <p:nvPr/>
          </p:nvSpPr>
          <p:spPr>
            <a:xfrm>
              <a:off x="675322" y="6597491"/>
              <a:ext cx="1797677" cy="1676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825" dirty="0">
                  <a:solidFill>
                    <a:srgbClr val="93A0B0"/>
                  </a:solidFill>
                  <a:latin typeface="Arial"/>
                  <a:ea typeface="Microsoft YaHei"/>
                  <a:cs typeface="Arial"/>
                </a:rPr>
                <a:t>牙医仪器检修小程序 · 项目进度汇报</a:t>
              </a:r>
            </a:p>
          </p:txBody>
        </p:sp>
        <p:sp>
          <p:nvSpPr>
            <p:cNvPr id="69" name="TextBox 69"/>
            <p:cNvSpPr txBox="1"/>
            <p:nvPr/>
          </p:nvSpPr>
          <p:spPr>
            <a:xfrm>
              <a:off x="10335077" y="6597491"/>
              <a:ext cx="1181600" cy="1676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en-US" sz="825" dirty="0">
                  <a:solidFill>
                    <a:srgbClr val="93A0B0"/>
                  </a:solidFill>
                  <a:latin typeface="Arial"/>
                  <a:ea typeface="Arial"/>
                  <a:cs typeface="Arial"/>
                </a:rPr>
                <a:t>2026-06-22 · P09 / 12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</p:sp>
      <p:grpSp>
        <p:nvGrpSpPr>
          <p:cNvPr id="7" name="Group 7"/>
          <p:cNvGrpSpPr/>
          <p:nvPr/>
        </p:nvGrpSpPr>
        <p:grpSpPr>
          <a:xfrm>
            <a:off x="685800" y="533400"/>
            <a:ext cx="10833735" cy="504825"/>
            <a:chOff x="685800" y="533400"/>
            <a:chExt cx="10833735" cy="504825"/>
          </a:xfrm>
        </p:grpSpPr>
        <p:sp>
          <p:nvSpPr>
            <p:cNvPr id="3" name="Rectangle 3"/>
            <p:cNvSpPr/>
            <p:nvPr/>
          </p:nvSpPr>
          <p:spPr>
            <a:xfrm>
              <a:off x="685800" y="533400"/>
              <a:ext cx="57150" cy="323850"/>
            </a:xfrm>
            <a:prstGeom prst="rect">
              <a:avLst/>
            </a:prstGeom>
            <a:solidFill>
              <a:srgbClr val="1565C0"/>
            </a:solidFill>
            <a:ln>
              <a:noFill/>
            </a:ln>
          </p:spPr>
        </p:sp>
        <p:sp>
          <p:nvSpPr>
            <p:cNvPr id="4" name="TextBox 4"/>
            <p:cNvSpPr txBox="1"/>
            <p:nvPr/>
          </p:nvSpPr>
          <p:spPr>
            <a:xfrm>
              <a:off x="847725" y="557212"/>
              <a:ext cx="3254800" cy="4572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250" b="1" dirty="0">
                  <a:solidFill>
                    <a:srgbClr val="1A2230"/>
                  </a:solidFill>
                  <a:latin typeface="Arial"/>
                  <a:ea typeface="SimHei"/>
                  <a:cs typeface="Arial"/>
                </a:rPr>
                <a:t>按人分工 · 卡点（下）</a:t>
              </a:r>
            </a:p>
          </p:txBody>
        </p:sp>
        <p:sp>
          <p:nvSpPr>
            <p:cNvPr id="5" name="TextBox 5"/>
            <p:cNvSpPr txBox="1"/>
            <p:nvPr/>
          </p:nvSpPr>
          <p:spPr>
            <a:xfrm>
              <a:off x="9910667" y="667702"/>
              <a:ext cx="1608868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1050" dirty="0">
                  <a:solidFill>
                    <a:srgbClr val="93A0B0"/>
                  </a:solidFill>
                  <a:latin typeface="Arial"/>
                  <a:ea typeface="Microsoft YaHei"/>
                  <a:cs typeface="Arial"/>
                </a:rPr>
                <a:t>真机 / 后台 / 全流程验收</a:t>
              </a:r>
            </a:p>
          </p:txBody>
        </p:sp>
        <p:sp>
          <p:nvSpPr>
            <p:cNvPr id="6" name="Line 6"/>
            <p:cNvSpPr/>
            <p:nvPr/>
          </p:nvSpPr>
          <p:spPr>
            <a:xfrm>
              <a:off x="685800" y="1028700"/>
              <a:ext cx="10820400" cy="9525"/>
            </a:xfrm>
            <a:custGeom>
              <a:avLst/>
              <a:gdLst/>
              <a:ahLst/>
              <a:cxnLst/>
              <a:rect l="l" t="t" r="r" b="b"/>
              <a:pathLst>
                <a:path w="10820400" h="9525">
                  <a:moveTo>
                    <a:pt x="0" y="0"/>
                  </a:moveTo>
                  <a:lnTo>
                    <a:pt x="10820400" y="0"/>
                  </a:lnTo>
                </a:path>
              </a:pathLst>
            </a:custGeom>
            <a:noFill/>
            <a:ln w="9525">
              <a:solidFill>
                <a:srgbClr val="E5EAF0"/>
              </a:solidFill>
            </a:ln>
          </p:spPr>
        </p:sp>
      </p:grpSp>
      <p:grpSp>
        <p:nvGrpSpPr>
          <p:cNvPr id="27" name="Group 27"/>
          <p:cNvGrpSpPr/>
          <p:nvPr/>
        </p:nvGrpSpPr>
        <p:grpSpPr>
          <a:xfrm>
            <a:off x="685800" y="1428750"/>
            <a:ext cx="3448050" cy="4762500"/>
            <a:chOff x="685800" y="1428750"/>
            <a:chExt cx="3448050" cy="4762500"/>
          </a:xfrm>
        </p:grpSpPr>
        <p:sp>
          <p:nvSpPr>
            <p:cNvPr id="8" name="Rectangle 8"/>
            <p:cNvSpPr/>
            <p:nvPr/>
          </p:nvSpPr>
          <p:spPr>
            <a:xfrm>
              <a:off x="685800" y="1428750"/>
              <a:ext cx="3448050" cy="4762500"/>
            </a:xfrm>
            <a:prstGeom prst="rect">
              <a:avLst/>
            </a:prstGeom>
            <a:solidFill>
              <a:srgbClr val="F4F7FB"/>
            </a:solidFill>
            <a:ln>
              <a:noFill/>
            </a:ln>
          </p:spPr>
        </p:sp>
        <p:sp>
          <p:nvSpPr>
            <p:cNvPr id="9" name="Rectangle 9"/>
            <p:cNvSpPr/>
            <p:nvPr/>
          </p:nvSpPr>
          <p:spPr>
            <a:xfrm>
              <a:off x="685800" y="1428750"/>
              <a:ext cx="3448050" cy="38100"/>
            </a:xfrm>
            <a:prstGeom prst="rect">
              <a:avLst/>
            </a:prstGeom>
            <a:solidFill>
              <a:srgbClr val="1565C0"/>
            </a:solidFill>
            <a:ln>
              <a:noFill/>
            </a:ln>
          </p:spPr>
        </p:sp>
        <p:grpSp>
          <p:nvGrpSpPr>
            <p:cNvPr id="13" name="Group 13"/>
            <p:cNvGrpSpPr/>
            <p:nvPr/>
          </p:nvGrpSpPr>
          <p:grpSpPr>
            <a:xfrm>
              <a:off x="995362" y="1752600"/>
              <a:ext cx="257176" cy="228600"/>
              <a:chOff x="995362" y="1752600"/>
              <a:chExt cx="257176" cy="228600"/>
            </a:xfrm>
          </p:grpSpPr>
          <p:sp>
            <p:nvSpPr>
              <p:cNvPr id="10" name="Freeform 10"/>
              <p:cNvSpPr/>
              <p:nvPr/>
            </p:nvSpPr>
            <p:spPr>
              <a:xfrm>
                <a:off x="995362" y="1809750"/>
                <a:ext cx="57150" cy="114300"/>
              </a:xfrm>
              <a:custGeom>
                <a:avLst/>
                <a:gdLst/>
                <a:ahLst/>
                <a:cxnLst/>
                <a:rect l="l" t="t" r="r" b="b"/>
                <a:pathLst>
                  <a:path w="57150" h="114300">
                    <a:moveTo>
                      <a:pt x="57150" y="0"/>
                    </a:moveTo>
                    <a:lnTo>
                      <a:pt x="0" y="57150"/>
                    </a:lnTo>
                    <a:lnTo>
                      <a:pt x="57150" y="114300"/>
                    </a:lnTo>
                  </a:path>
                </a:pathLst>
              </a:custGeom>
              <a:noFill/>
              <a:ln w="19050">
                <a:solidFill>
                  <a:srgbClr val="1565C0"/>
                </a:solidFill>
              </a:ln>
            </p:spPr>
          </p:sp>
          <p:sp>
            <p:nvSpPr>
              <p:cNvPr id="11" name="Freeform 11"/>
              <p:cNvSpPr/>
              <p:nvPr/>
            </p:nvSpPr>
            <p:spPr>
              <a:xfrm>
                <a:off x="1195388" y="1809750"/>
                <a:ext cx="57150" cy="114300"/>
              </a:xfrm>
              <a:custGeom>
                <a:avLst/>
                <a:gdLst/>
                <a:ahLst/>
                <a:cxnLst/>
                <a:rect l="l" t="t" r="r" b="b"/>
                <a:pathLst>
                  <a:path w="57150" h="114300">
                    <a:moveTo>
                      <a:pt x="0" y="0"/>
                    </a:moveTo>
                    <a:lnTo>
                      <a:pt x="57150" y="57150"/>
                    </a:lnTo>
                    <a:lnTo>
                      <a:pt x="0" y="114300"/>
                    </a:lnTo>
                  </a:path>
                </a:pathLst>
              </a:custGeom>
              <a:noFill/>
              <a:ln w="19050">
                <a:solidFill>
                  <a:srgbClr val="1565C0"/>
                </a:solidFill>
              </a:ln>
            </p:spPr>
          </p:sp>
          <p:sp>
            <p:nvSpPr>
              <p:cNvPr id="12" name="Freeform 12"/>
              <p:cNvSpPr/>
              <p:nvPr/>
            </p:nvSpPr>
            <p:spPr>
              <a:xfrm>
                <a:off x="1095375" y="1752600"/>
                <a:ext cx="57150" cy="228600"/>
              </a:xfrm>
              <a:custGeom>
                <a:avLst/>
                <a:gdLst/>
                <a:ahLst/>
                <a:cxnLst/>
                <a:rect l="l" t="t" r="r" b="b"/>
                <a:pathLst>
                  <a:path w="57150" h="228600">
                    <a:moveTo>
                      <a:pt x="57150" y="0"/>
                    </a:moveTo>
                    <a:lnTo>
                      <a:pt x="0" y="228600"/>
                    </a:lnTo>
                  </a:path>
                </a:pathLst>
              </a:custGeom>
              <a:noFill/>
              <a:ln w="19050">
                <a:solidFill>
                  <a:srgbClr val="1565C0"/>
                </a:solidFill>
              </a:ln>
            </p:spPr>
          </p:sp>
        </p:grpSp>
        <p:sp>
          <p:nvSpPr>
            <p:cNvPr id="14" name="TextBox 14"/>
            <p:cNvSpPr txBox="1"/>
            <p:nvPr/>
          </p:nvSpPr>
          <p:spPr>
            <a:xfrm>
              <a:off x="1386840" y="1767840"/>
              <a:ext cx="801815" cy="3657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b="1" dirty="0">
                  <a:solidFill>
                    <a:srgbClr val="1A2230"/>
                  </a:solidFill>
                  <a:latin typeface="Arial"/>
                  <a:ea typeface="SimHei"/>
                  <a:cs typeface="Arial"/>
                </a:rPr>
                <a:t>郑佳华</a:t>
              </a:r>
            </a:p>
          </p:txBody>
        </p:sp>
        <p:sp>
          <p:nvSpPr>
            <p:cNvPr id="15" name="TextBox 15"/>
            <p:cNvSpPr txBox="1"/>
            <p:nvPr/>
          </p:nvSpPr>
          <p:spPr>
            <a:xfrm>
              <a:off x="937260" y="2194560"/>
              <a:ext cx="1494663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1565C0"/>
                  </a:solidFill>
                  <a:latin typeface="Arial"/>
                  <a:ea typeface="SimHei"/>
                  <a:cs typeface="Arial"/>
                </a:rPr>
                <a:t>小程序端 / 真机闭环</a:t>
              </a:r>
            </a:p>
          </p:txBody>
        </p:sp>
        <p:sp>
          <p:nvSpPr>
            <p:cNvPr id="16" name="Line 16"/>
            <p:cNvSpPr/>
            <p:nvPr/>
          </p:nvSpPr>
          <p:spPr>
            <a:xfrm>
              <a:off x="952500" y="2533650"/>
              <a:ext cx="2914650" cy="9525"/>
            </a:xfrm>
            <a:custGeom>
              <a:avLst/>
              <a:gdLst/>
              <a:ahLst/>
              <a:cxnLst/>
              <a:rect l="l" t="t" r="r" b="b"/>
              <a:pathLst>
                <a:path w="2914650" h="9525">
                  <a:moveTo>
                    <a:pt x="0" y="0"/>
                  </a:moveTo>
                  <a:lnTo>
                    <a:pt x="2914650" y="0"/>
                  </a:lnTo>
                </a:path>
              </a:pathLst>
            </a:custGeom>
            <a:noFill/>
            <a:ln w="9525">
              <a:solidFill>
                <a:srgbClr val="E5EAF0"/>
              </a:solidFill>
            </a:ln>
          </p:spPr>
        </p:sp>
        <p:sp>
          <p:nvSpPr>
            <p:cNvPr id="17" name="TextBox 17"/>
            <p:cNvSpPr txBox="1"/>
            <p:nvPr/>
          </p:nvSpPr>
          <p:spPr>
            <a:xfrm>
              <a:off x="939165" y="2744152"/>
              <a:ext cx="586740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93A0B0"/>
                  </a:solidFill>
                  <a:latin typeface="Arial"/>
                  <a:ea typeface="SimHei"/>
                  <a:cs typeface="Arial"/>
                </a:rPr>
                <a:t>关键卡点</a:t>
              </a:r>
            </a:p>
          </p:txBody>
        </p:sp>
        <p:sp>
          <p:nvSpPr>
            <p:cNvPr id="18" name="Rectangle 18"/>
            <p:cNvSpPr/>
            <p:nvPr/>
          </p:nvSpPr>
          <p:spPr>
            <a:xfrm>
              <a:off x="952500" y="3124200"/>
              <a:ext cx="76200" cy="76200"/>
            </a:xfrm>
            <a:prstGeom prst="rect">
              <a:avLst/>
            </a:prstGeom>
            <a:solidFill>
              <a:srgbClr val="1565C0"/>
            </a:solidFill>
            <a:ln>
              <a:noFill/>
            </a:ln>
          </p:spPr>
        </p:sp>
        <p:sp>
          <p:nvSpPr>
            <p:cNvPr id="19" name="TextBox 19"/>
            <p:cNvSpPr txBox="1"/>
            <p:nvPr/>
          </p:nvSpPr>
          <p:spPr>
            <a:xfrm>
              <a:off x="1127760" y="3089910"/>
              <a:ext cx="2390775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1A2230"/>
                  </a:solidFill>
                  <a:latin typeface="Arial"/>
                  <a:ea typeface="Microsoft YaHei"/>
                  <a:cs typeface="Arial"/>
                </a:rPr>
                <a:t>manifest 用正式 AppID 且无密钥</a:t>
              </a:r>
            </a:p>
          </p:txBody>
        </p:sp>
        <p:sp>
          <p:nvSpPr>
            <p:cNvPr id="20" name="TextBox 20"/>
            <p:cNvSpPr txBox="1"/>
            <p:nvPr/>
          </p:nvSpPr>
          <p:spPr>
            <a:xfrm>
              <a:off x="1127760" y="3337560"/>
              <a:ext cx="2110740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1A2230"/>
                  </a:solidFill>
                  <a:latin typeface="Arial"/>
                  <a:ea typeface="Microsoft YaHei"/>
                  <a:cs typeface="Arial"/>
                </a:rPr>
                <a:t>（待确认是否客户正式主体）</a:t>
              </a:r>
            </a:p>
          </p:txBody>
        </p:sp>
        <p:sp>
          <p:nvSpPr>
            <p:cNvPr id="21" name="Rectangle 21"/>
            <p:cNvSpPr/>
            <p:nvPr/>
          </p:nvSpPr>
          <p:spPr>
            <a:xfrm>
              <a:off x="952500" y="4038600"/>
              <a:ext cx="76200" cy="76200"/>
            </a:xfrm>
            <a:prstGeom prst="rect">
              <a:avLst/>
            </a:prstGeom>
            <a:solidFill>
              <a:srgbClr val="1565C0"/>
            </a:solidFill>
            <a:ln>
              <a:noFill/>
            </a:ln>
          </p:spPr>
        </p:sp>
        <p:sp>
          <p:nvSpPr>
            <p:cNvPr id="22" name="TextBox 22"/>
            <p:cNvSpPr txBox="1"/>
            <p:nvPr/>
          </p:nvSpPr>
          <p:spPr>
            <a:xfrm>
              <a:off x="1127760" y="4004310"/>
              <a:ext cx="2294763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1A2230"/>
                  </a:solidFill>
                  <a:latin typeface="Arial"/>
                  <a:ea typeface="Microsoft YaHei"/>
                  <a:cs typeface="Arial"/>
                </a:rPr>
                <a:t>构建体验版（二维码 + 版本号）</a:t>
              </a:r>
            </a:p>
          </p:txBody>
        </p:sp>
        <p:sp>
          <p:nvSpPr>
            <p:cNvPr id="23" name="TextBox 23"/>
            <p:cNvSpPr txBox="1"/>
            <p:nvPr/>
          </p:nvSpPr>
          <p:spPr>
            <a:xfrm>
              <a:off x="1127760" y="4251960"/>
              <a:ext cx="990600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1A2230"/>
                  </a:solidFill>
                  <a:latin typeface="Arial"/>
                  <a:ea typeface="Microsoft YaHei"/>
                  <a:cs typeface="Arial"/>
                </a:rPr>
                <a:t>并连正式环境</a:t>
              </a:r>
            </a:p>
          </p:txBody>
        </p:sp>
        <p:sp>
          <p:nvSpPr>
            <p:cNvPr id="24" name="Rectangle 24"/>
            <p:cNvSpPr/>
            <p:nvPr/>
          </p:nvSpPr>
          <p:spPr>
            <a:xfrm>
              <a:off x="952500" y="4953000"/>
              <a:ext cx="76200" cy="76200"/>
            </a:xfrm>
            <a:prstGeom prst="rect">
              <a:avLst/>
            </a:prstGeom>
            <a:solidFill>
              <a:srgbClr val="1565C0"/>
            </a:solidFill>
            <a:ln>
              <a:noFill/>
            </a:ln>
          </p:spPr>
        </p:sp>
        <p:sp>
          <p:nvSpPr>
            <p:cNvPr id="25" name="TextBox 25"/>
            <p:cNvSpPr txBox="1"/>
            <p:nvPr/>
          </p:nvSpPr>
          <p:spPr>
            <a:xfrm>
              <a:off x="1127760" y="4918710"/>
              <a:ext cx="1310640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1A2230"/>
                  </a:solidFill>
                  <a:latin typeface="Arial"/>
                  <a:ea typeface="Microsoft YaHei"/>
                  <a:cs typeface="Arial"/>
                </a:rPr>
                <a:t>真机跑客户主流程</a:t>
              </a:r>
            </a:p>
          </p:txBody>
        </p:sp>
        <p:sp>
          <p:nvSpPr>
            <p:cNvPr id="26" name="TextBox 26"/>
            <p:cNvSpPr txBox="1"/>
            <p:nvPr/>
          </p:nvSpPr>
          <p:spPr>
            <a:xfrm>
              <a:off x="1127760" y="5166360"/>
              <a:ext cx="1446657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1A2230"/>
                  </a:solidFill>
                  <a:latin typeface="Arial"/>
                  <a:ea typeface="Microsoft YaHei"/>
                  <a:cs typeface="Arial"/>
                </a:rPr>
                <a:t>（登录 → … → 评价）</a:t>
              </a:r>
            </a:p>
          </p:txBody>
        </p:sp>
      </p:grpSp>
      <p:grpSp>
        <p:nvGrpSpPr>
          <p:cNvPr id="43" name="Group 43"/>
          <p:cNvGrpSpPr/>
          <p:nvPr/>
        </p:nvGrpSpPr>
        <p:grpSpPr>
          <a:xfrm>
            <a:off x="4362450" y="1428750"/>
            <a:ext cx="3448050" cy="4762500"/>
            <a:chOff x="4362450" y="1428750"/>
            <a:chExt cx="3448050" cy="4762500"/>
          </a:xfrm>
        </p:grpSpPr>
        <p:sp>
          <p:nvSpPr>
            <p:cNvPr id="28" name="Rectangle 28"/>
            <p:cNvSpPr/>
            <p:nvPr/>
          </p:nvSpPr>
          <p:spPr>
            <a:xfrm>
              <a:off x="4362450" y="1428750"/>
              <a:ext cx="3448050" cy="4762500"/>
            </a:xfrm>
            <a:prstGeom prst="rect">
              <a:avLst/>
            </a:prstGeom>
            <a:solidFill>
              <a:srgbClr val="F4F7FB"/>
            </a:solidFill>
            <a:ln>
              <a:noFill/>
            </a:ln>
          </p:spPr>
        </p:sp>
        <p:sp>
          <p:nvSpPr>
            <p:cNvPr id="29" name="Rectangle 29"/>
            <p:cNvSpPr/>
            <p:nvPr/>
          </p:nvSpPr>
          <p:spPr>
            <a:xfrm>
              <a:off x="4362450" y="1428750"/>
              <a:ext cx="3448050" cy="38100"/>
            </a:xfrm>
            <a:prstGeom prst="rect">
              <a:avLst/>
            </a:prstGeom>
            <a:solidFill>
              <a:srgbClr val="1565C0"/>
            </a:solidFill>
            <a:ln>
              <a:noFill/>
            </a:ln>
          </p:spPr>
        </p:sp>
        <p:sp>
          <p:nvSpPr>
            <p:cNvPr id="30" name="Freeform 30"/>
            <p:cNvSpPr/>
            <p:nvPr/>
          </p:nvSpPr>
          <p:spPr>
            <a:xfrm>
              <a:off x="4657725" y="1762458"/>
              <a:ext cx="285750" cy="190224"/>
            </a:xfrm>
            <a:custGeom>
              <a:avLst/>
              <a:gdLst/>
              <a:ahLst/>
              <a:cxnLst/>
              <a:rect l="l" t="t" r="r" b="b"/>
              <a:pathLst>
                <a:path w="285750" h="190224">
                  <a:moveTo>
                    <a:pt x="66537" y="190167"/>
                  </a:moveTo>
                  <a:cubicBezTo>
                    <a:pt x="29789" y="190167"/>
                    <a:pt x="0" y="161492"/>
                    <a:pt x="0" y="126116"/>
                  </a:cubicBezTo>
                  <a:cubicBezTo>
                    <a:pt x="0" y="90754"/>
                    <a:pt x="29789" y="62079"/>
                    <a:pt x="66537" y="62079"/>
                  </a:cubicBezTo>
                  <a:cubicBezTo>
                    <a:pt x="72152" y="36905"/>
                    <a:pt x="92169" y="16359"/>
                    <a:pt x="119043" y="8172"/>
                  </a:cubicBezTo>
                  <a:cubicBezTo>
                    <a:pt x="145904" y="0"/>
                    <a:pt x="175565" y="5415"/>
                    <a:pt x="196825" y="22460"/>
                  </a:cubicBezTo>
                  <a:cubicBezTo>
                    <a:pt x="218084" y="39462"/>
                    <a:pt x="227714" y="65422"/>
                    <a:pt x="222113" y="90597"/>
                  </a:cubicBezTo>
                  <a:lnTo>
                    <a:pt x="236258" y="90597"/>
                  </a:lnTo>
                  <a:cubicBezTo>
                    <a:pt x="263590" y="90597"/>
                    <a:pt x="285750" y="112886"/>
                    <a:pt x="285750" y="140403"/>
                  </a:cubicBezTo>
                  <a:cubicBezTo>
                    <a:pt x="285750" y="167935"/>
                    <a:pt x="263590" y="190224"/>
                    <a:pt x="236244" y="190224"/>
                  </a:cubicBezTo>
                  <a:lnTo>
                    <a:pt x="66537" y="190224"/>
                  </a:lnTo>
                </a:path>
              </a:pathLst>
            </a:custGeom>
            <a:noFill/>
            <a:ln w="19050">
              <a:solidFill>
                <a:srgbClr val="1565C0"/>
              </a:solidFill>
            </a:ln>
          </p:spPr>
        </p:sp>
        <p:sp>
          <p:nvSpPr>
            <p:cNvPr id="31" name="TextBox 31"/>
            <p:cNvSpPr txBox="1"/>
            <p:nvPr/>
          </p:nvSpPr>
          <p:spPr>
            <a:xfrm>
              <a:off x="5063490" y="1767840"/>
              <a:ext cx="801815" cy="3657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b="1" dirty="0">
                  <a:solidFill>
                    <a:srgbClr val="1A2230"/>
                  </a:solidFill>
                  <a:latin typeface="Arial"/>
                  <a:ea typeface="SimHei"/>
                  <a:cs typeface="Arial"/>
                </a:rPr>
                <a:t>蔡珠琪</a:t>
              </a:r>
            </a:p>
          </p:txBody>
        </p:sp>
        <p:sp>
          <p:nvSpPr>
            <p:cNvPr id="32" name="TextBox 32"/>
            <p:cNvSpPr txBox="1"/>
            <p:nvPr/>
          </p:nvSpPr>
          <p:spPr>
            <a:xfrm>
              <a:off x="4613910" y="2194560"/>
              <a:ext cx="1398651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1565C0"/>
                  </a:solidFill>
                  <a:latin typeface="Arial"/>
                  <a:ea typeface="SimHei"/>
                  <a:cs typeface="Arial"/>
                </a:rPr>
                <a:t>PC 后台部署 / 验收</a:t>
              </a:r>
            </a:p>
          </p:txBody>
        </p:sp>
        <p:sp>
          <p:nvSpPr>
            <p:cNvPr id="33" name="Line 33"/>
            <p:cNvSpPr/>
            <p:nvPr/>
          </p:nvSpPr>
          <p:spPr>
            <a:xfrm>
              <a:off x="4629150" y="2533650"/>
              <a:ext cx="2914650" cy="9525"/>
            </a:xfrm>
            <a:custGeom>
              <a:avLst/>
              <a:gdLst/>
              <a:ahLst/>
              <a:cxnLst/>
              <a:rect l="l" t="t" r="r" b="b"/>
              <a:pathLst>
                <a:path w="2914650" h="9525">
                  <a:moveTo>
                    <a:pt x="0" y="0"/>
                  </a:moveTo>
                  <a:lnTo>
                    <a:pt x="2914650" y="0"/>
                  </a:lnTo>
                </a:path>
              </a:pathLst>
            </a:custGeom>
            <a:noFill/>
            <a:ln w="9525">
              <a:solidFill>
                <a:srgbClr val="E5EAF0"/>
              </a:solidFill>
            </a:ln>
          </p:spPr>
        </p:sp>
        <p:sp>
          <p:nvSpPr>
            <p:cNvPr id="34" name="TextBox 34"/>
            <p:cNvSpPr txBox="1"/>
            <p:nvPr/>
          </p:nvSpPr>
          <p:spPr>
            <a:xfrm>
              <a:off x="4615815" y="2744152"/>
              <a:ext cx="586740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93A0B0"/>
                  </a:solidFill>
                  <a:latin typeface="Arial"/>
                  <a:ea typeface="SimHei"/>
                  <a:cs typeface="Arial"/>
                </a:rPr>
                <a:t>关键卡点</a:t>
              </a:r>
            </a:p>
          </p:txBody>
        </p:sp>
        <p:sp>
          <p:nvSpPr>
            <p:cNvPr id="35" name="Rectangle 35"/>
            <p:cNvSpPr/>
            <p:nvPr/>
          </p:nvSpPr>
          <p:spPr>
            <a:xfrm>
              <a:off x="4629150" y="3124200"/>
              <a:ext cx="76200" cy="76200"/>
            </a:xfrm>
            <a:prstGeom prst="rect">
              <a:avLst/>
            </a:prstGeom>
            <a:solidFill>
              <a:srgbClr val="1565C0"/>
            </a:solidFill>
            <a:ln>
              <a:noFill/>
            </a:ln>
          </p:spPr>
        </p:sp>
        <p:sp>
          <p:nvSpPr>
            <p:cNvPr id="36" name="TextBox 36"/>
            <p:cNvSpPr txBox="1"/>
            <p:nvPr/>
          </p:nvSpPr>
          <p:spPr>
            <a:xfrm>
              <a:off x="4804410" y="3089910"/>
              <a:ext cx="1790700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1A2230"/>
                  </a:solidFill>
                  <a:latin typeface="Arial"/>
                  <a:ea typeface="Microsoft YaHei"/>
                  <a:cs typeface="Arial"/>
                </a:rPr>
                <a:t>配置 PC 正式 VITE_* URL</a:t>
              </a:r>
            </a:p>
          </p:txBody>
        </p:sp>
        <p:sp>
          <p:nvSpPr>
            <p:cNvPr id="37" name="TextBox 37"/>
            <p:cNvSpPr txBox="1"/>
            <p:nvPr/>
          </p:nvSpPr>
          <p:spPr>
            <a:xfrm>
              <a:off x="4804410" y="3337560"/>
              <a:ext cx="806577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1A2230"/>
                  </a:solidFill>
                  <a:latin typeface="Arial"/>
                  <a:ea typeface="Microsoft YaHei"/>
                  <a:cs typeface="Arial"/>
                </a:rPr>
                <a:t>+ 生产构建</a:t>
              </a:r>
            </a:p>
          </p:txBody>
        </p:sp>
        <p:sp>
          <p:nvSpPr>
            <p:cNvPr id="38" name="Rectangle 38"/>
            <p:cNvSpPr/>
            <p:nvPr/>
          </p:nvSpPr>
          <p:spPr>
            <a:xfrm>
              <a:off x="4629150" y="4038600"/>
              <a:ext cx="76200" cy="76200"/>
            </a:xfrm>
            <a:prstGeom prst="rect">
              <a:avLst/>
            </a:prstGeom>
            <a:solidFill>
              <a:srgbClr val="1565C0"/>
            </a:solidFill>
            <a:ln>
              <a:noFill/>
            </a:ln>
          </p:spPr>
        </p:sp>
        <p:sp>
          <p:nvSpPr>
            <p:cNvPr id="39" name="TextBox 39"/>
            <p:cNvSpPr txBox="1"/>
            <p:nvPr/>
          </p:nvSpPr>
          <p:spPr>
            <a:xfrm>
              <a:off x="4804410" y="4004310"/>
              <a:ext cx="1614678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1A2230"/>
                  </a:solidFill>
                  <a:latin typeface="Arial"/>
                  <a:ea typeface="Microsoft YaHei"/>
                  <a:cs typeface="Arial"/>
                </a:rPr>
                <a:t>部署正式域名 + HTTPS</a:t>
              </a:r>
            </a:p>
          </p:txBody>
        </p:sp>
        <p:sp>
          <p:nvSpPr>
            <p:cNvPr id="40" name="Rectangle 40"/>
            <p:cNvSpPr/>
            <p:nvPr/>
          </p:nvSpPr>
          <p:spPr>
            <a:xfrm>
              <a:off x="4629150" y="4953000"/>
              <a:ext cx="76200" cy="76200"/>
            </a:xfrm>
            <a:prstGeom prst="rect">
              <a:avLst/>
            </a:prstGeom>
            <a:solidFill>
              <a:srgbClr val="1565C0"/>
            </a:solidFill>
            <a:ln>
              <a:noFill/>
            </a:ln>
          </p:spPr>
        </p:sp>
        <p:sp>
          <p:nvSpPr>
            <p:cNvPr id="41" name="TextBox 41"/>
            <p:cNvSpPr txBox="1"/>
            <p:nvPr/>
          </p:nvSpPr>
          <p:spPr>
            <a:xfrm>
              <a:off x="4804410" y="4918710"/>
              <a:ext cx="2430780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1A2230"/>
                  </a:solidFill>
                  <a:latin typeface="Arial"/>
                  <a:ea typeface="Microsoft YaHei"/>
                  <a:cs typeface="Arial"/>
                </a:rPr>
                <a:t>验收后台核心业务（工单 / 报价 /</a:t>
              </a:r>
            </a:p>
          </p:txBody>
        </p:sp>
        <p:sp>
          <p:nvSpPr>
            <p:cNvPr id="42" name="TextBox 42"/>
            <p:cNvSpPr txBox="1"/>
            <p:nvPr/>
          </p:nvSpPr>
          <p:spPr>
            <a:xfrm>
              <a:off x="4804410" y="5166360"/>
              <a:ext cx="2526792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1A2230"/>
                  </a:solidFill>
                  <a:latin typeface="Arial"/>
                  <a:ea typeface="Microsoft YaHei"/>
                  <a:cs typeface="Arial"/>
                </a:rPr>
                <a:t>库存 / 结算 / 发票 / 审计 / 统计）</a:t>
              </a:r>
            </a:p>
          </p:txBody>
        </p:sp>
      </p:grpSp>
      <p:grpSp>
        <p:nvGrpSpPr>
          <p:cNvPr id="63" name="Group 63"/>
          <p:cNvGrpSpPr/>
          <p:nvPr/>
        </p:nvGrpSpPr>
        <p:grpSpPr>
          <a:xfrm>
            <a:off x="8039100" y="1428750"/>
            <a:ext cx="3448050" cy="4762500"/>
            <a:chOff x="8039100" y="1428750"/>
            <a:chExt cx="3448050" cy="4762500"/>
          </a:xfrm>
        </p:grpSpPr>
        <p:sp>
          <p:nvSpPr>
            <p:cNvPr id="44" name="Rectangle 44"/>
            <p:cNvSpPr/>
            <p:nvPr/>
          </p:nvSpPr>
          <p:spPr>
            <a:xfrm>
              <a:off x="8039100" y="1428750"/>
              <a:ext cx="3448050" cy="4762500"/>
            </a:xfrm>
            <a:prstGeom prst="rect">
              <a:avLst/>
            </a:prstGeom>
            <a:solidFill>
              <a:srgbClr val="F4F7FB"/>
            </a:solidFill>
            <a:ln>
              <a:noFill/>
            </a:ln>
          </p:spPr>
        </p:sp>
        <p:sp>
          <p:nvSpPr>
            <p:cNvPr id="45" name="Rectangle 45"/>
            <p:cNvSpPr/>
            <p:nvPr/>
          </p:nvSpPr>
          <p:spPr>
            <a:xfrm>
              <a:off x="8039100" y="1428750"/>
              <a:ext cx="3448050" cy="38100"/>
            </a:xfrm>
            <a:prstGeom prst="rect">
              <a:avLst/>
            </a:prstGeom>
            <a:solidFill>
              <a:srgbClr val="1565C0"/>
            </a:solidFill>
            <a:ln>
              <a:noFill/>
            </a:ln>
          </p:spPr>
        </p:sp>
        <p:grpSp>
          <p:nvGrpSpPr>
            <p:cNvPr id="49" name="Group 49"/>
            <p:cNvGrpSpPr/>
            <p:nvPr/>
          </p:nvGrpSpPr>
          <p:grpSpPr>
            <a:xfrm>
              <a:off x="8377238" y="1738312"/>
              <a:ext cx="200025" cy="257176"/>
              <a:chOff x="8377238" y="1738312"/>
              <a:chExt cx="200025" cy="257176"/>
            </a:xfrm>
          </p:grpSpPr>
          <p:sp>
            <p:nvSpPr>
              <p:cNvPr id="46" name="Freeform 46"/>
              <p:cNvSpPr/>
              <p:nvPr/>
            </p:nvSpPr>
            <p:spPr>
              <a:xfrm>
                <a:off x="8377238" y="1766888"/>
                <a:ext cx="200025" cy="228600"/>
              </a:xfrm>
              <a:custGeom>
                <a:avLst/>
                <a:gdLst/>
                <a:ahLst/>
                <a:cxnLst/>
                <a:rect l="l" t="t" r="r" b="b"/>
                <a:pathLst>
                  <a:path w="200025" h="228600">
                    <a:moveTo>
                      <a:pt x="57150" y="0"/>
                    </a:moveTo>
                    <a:lnTo>
                      <a:pt x="28575" y="0"/>
                    </a:lnTo>
                    <a:cubicBezTo>
                      <a:pt x="12793" y="0"/>
                      <a:pt x="0" y="12793"/>
                      <a:pt x="0" y="28575"/>
                    </a:cubicBezTo>
                    <a:lnTo>
                      <a:pt x="0" y="200025"/>
                    </a:lnTo>
                    <a:cubicBezTo>
                      <a:pt x="0" y="215807"/>
                      <a:pt x="12793" y="228600"/>
                      <a:pt x="28575" y="228600"/>
                    </a:cubicBezTo>
                    <a:lnTo>
                      <a:pt x="171450" y="228600"/>
                    </a:lnTo>
                    <a:cubicBezTo>
                      <a:pt x="187232" y="228600"/>
                      <a:pt x="200025" y="215807"/>
                      <a:pt x="200025" y="200025"/>
                    </a:cubicBezTo>
                    <a:lnTo>
                      <a:pt x="200025" y="28575"/>
                    </a:lnTo>
                    <a:cubicBezTo>
                      <a:pt x="200025" y="12793"/>
                      <a:pt x="187232" y="0"/>
                      <a:pt x="171450" y="0"/>
                    </a:cubicBezTo>
                    <a:lnTo>
                      <a:pt x="142875" y="0"/>
                    </a:lnTo>
                  </a:path>
                </a:pathLst>
              </a:custGeom>
              <a:noFill/>
              <a:ln w="19050">
                <a:solidFill>
                  <a:srgbClr val="1565C0"/>
                </a:solidFill>
              </a:ln>
            </p:spPr>
          </p:sp>
          <p:sp>
            <p:nvSpPr>
              <p:cNvPr id="47" name="Freeform 47"/>
              <p:cNvSpPr/>
              <p:nvPr/>
            </p:nvSpPr>
            <p:spPr>
              <a:xfrm>
                <a:off x="8434388" y="1738312"/>
                <a:ext cx="85725" cy="57150"/>
              </a:xfrm>
              <a:custGeom>
                <a:avLst/>
                <a:gdLst/>
                <a:ahLst/>
                <a:cxnLst/>
                <a:rect l="l" t="t" r="r" b="b"/>
                <a:pathLst>
                  <a:path w="85725" h="57150">
                    <a:moveTo>
                      <a:pt x="0" y="28575"/>
                    </a:moveTo>
                    <a:cubicBezTo>
                      <a:pt x="0" y="12793"/>
                      <a:pt x="12793" y="0"/>
                      <a:pt x="28575" y="0"/>
                    </a:cubicBezTo>
                    <a:lnTo>
                      <a:pt x="57150" y="0"/>
                    </a:lnTo>
                    <a:cubicBezTo>
                      <a:pt x="72932" y="0"/>
                      <a:pt x="85725" y="12793"/>
                      <a:pt x="85725" y="28575"/>
                    </a:cubicBezTo>
                    <a:cubicBezTo>
                      <a:pt x="85725" y="44357"/>
                      <a:pt x="72932" y="57150"/>
                      <a:pt x="57150" y="57150"/>
                    </a:cubicBezTo>
                    <a:lnTo>
                      <a:pt x="28575" y="57150"/>
                    </a:lnTo>
                    <a:cubicBezTo>
                      <a:pt x="12793" y="57150"/>
                      <a:pt x="0" y="44357"/>
                      <a:pt x="0" y="28575"/>
                    </a:cubicBezTo>
                  </a:path>
                </a:pathLst>
              </a:custGeom>
              <a:noFill/>
              <a:ln w="19050">
                <a:solidFill>
                  <a:srgbClr val="1565C0"/>
                </a:solidFill>
              </a:ln>
            </p:spPr>
          </p:sp>
          <p:sp>
            <p:nvSpPr>
              <p:cNvPr id="48" name="Freeform 48"/>
              <p:cNvSpPr/>
              <p:nvPr/>
            </p:nvSpPr>
            <p:spPr>
              <a:xfrm>
                <a:off x="8434388" y="1866900"/>
                <a:ext cx="85725" cy="57150"/>
              </a:xfrm>
              <a:custGeom>
                <a:avLst/>
                <a:gdLst/>
                <a:ahLst/>
                <a:cxnLst/>
                <a:rect l="l" t="t" r="r" b="b"/>
                <a:pathLst>
                  <a:path w="85725" h="57150">
                    <a:moveTo>
                      <a:pt x="0" y="28575"/>
                    </a:moveTo>
                    <a:lnTo>
                      <a:pt x="28575" y="57150"/>
                    </a:lnTo>
                    <a:lnTo>
                      <a:pt x="85725" y="0"/>
                    </a:lnTo>
                  </a:path>
                </a:pathLst>
              </a:custGeom>
              <a:noFill/>
              <a:ln w="19050">
                <a:solidFill>
                  <a:srgbClr val="1565C0"/>
                </a:solidFill>
              </a:ln>
            </p:spPr>
          </p:sp>
        </p:grpSp>
        <p:sp>
          <p:nvSpPr>
            <p:cNvPr id="50" name="TextBox 50"/>
            <p:cNvSpPr txBox="1"/>
            <p:nvPr/>
          </p:nvSpPr>
          <p:spPr>
            <a:xfrm>
              <a:off x="8740140" y="1767840"/>
              <a:ext cx="801815" cy="3657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b="1" dirty="0">
                  <a:solidFill>
                    <a:srgbClr val="1A2230"/>
                  </a:solidFill>
                  <a:latin typeface="Arial"/>
                  <a:ea typeface="SimHei"/>
                  <a:cs typeface="Arial"/>
                </a:rPr>
                <a:t>钟浩霆</a:t>
              </a:r>
            </a:p>
          </p:txBody>
        </p:sp>
        <p:sp>
          <p:nvSpPr>
            <p:cNvPr id="51" name="TextBox 51"/>
            <p:cNvSpPr txBox="1"/>
            <p:nvPr/>
          </p:nvSpPr>
          <p:spPr>
            <a:xfrm>
              <a:off x="8290560" y="2194560"/>
              <a:ext cx="1654683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1565C0"/>
                  </a:solidFill>
                  <a:latin typeface="Arial"/>
                  <a:ea typeface="SimHei"/>
                  <a:cs typeface="Arial"/>
                </a:rPr>
                <a:t>资料核对 / 全流程验收</a:t>
              </a:r>
            </a:p>
          </p:txBody>
        </p:sp>
        <p:sp>
          <p:nvSpPr>
            <p:cNvPr id="52" name="Line 52"/>
            <p:cNvSpPr/>
            <p:nvPr/>
          </p:nvSpPr>
          <p:spPr>
            <a:xfrm>
              <a:off x="8305800" y="2533650"/>
              <a:ext cx="2914650" cy="9525"/>
            </a:xfrm>
            <a:custGeom>
              <a:avLst/>
              <a:gdLst/>
              <a:ahLst/>
              <a:cxnLst/>
              <a:rect l="l" t="t" r="r" b="b"/>
              <a:pathLst>
                <a:path w="2914650" h="9525">
                  <a:moveTo>
                    <a:pt x="0" y="0"/>
                  </a:moveTo>
                  <a:lnTo>
                    <a:pt x="2914650" y="0"/>
                  </a:lnTo>
                </a:path>
              </a:pathLst>
            </a:custGeom>
            <a:noFill/>
            <a:ln w="9525">
              <a:solidFill>
                <a:srgbClr val="E5EAF0"/>
              </a:solidFill>
            </a:ln>
          </p:spPr>
        </p:sp>
        <p:sp>
          <p:nvSpPr>
            <p:cNvPr id="53" name="TextBox 53"/>
            <p:cNvSpPr txBox="1"/>
            <p:nvPr/>
          </p:nvSpPr>
          <p:spPr>
            <a:xfrm>
              <a:off x="8292465" y="2744152"/>
              <a:ext cx="586740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93A0B0"/>
                  </a:solidFill>
                  <a:latin typeface="Arial"/>
                  <a:ea typeface="SimHei"/>
                  <a:cs typeface="Arial"/>
                </a:rPr>
                <a:t>关键卡点</a:t>
              </a:r>
            </a:p>
          </p:txBody>
        </p:sp>
        <p:sp>
          <p:nvSpPr>
            <p:cNvPr id="54" name="Rectangle 54"/>
            <p:cNvSpPr/>
            <p:nvPr/>
          </p:nvSpPr>
          <p:spPr>
            <a:xfrm>
              <a:off x="8305800" y="3124200"/>
              <a:ext cx="76200" cy="76200"/>
            </a:xfrm>
            <a:prstGeom prst="rect">
              <a:avLst/>
            </a:prstGeom>
            <a:solidFill>
              <a:srgbClr val="1565C0"/>
            </a:solidFill>
            <a:ln>
              <a:noFill/>
            </a:ln>
          </p:spPr>
        </p:sp>
        <p:sp>
          <p:nvSpPr>
            <p:cNvPr id="55" name="TextBox 55"/>
            <p:cNvSpPr txBox="1"/>
            <p:nvPr/>
          </p:nvSpPr>
          <p:spPr>
            <a:xfrm>
              <a:off x="8481060" y="3089910"/>
              <a:ext cx="2430780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1A2230"/>
                  </a:solidFill>
                  <a:latin typeface="Arial"/>
                  <a:ea typeface="Microsoft YaHei"/>
                  <a:cs typeface="Arial"/>
                </a:rPr>
                <a:t>核对客户可见资料（电话 / 微信 /</a:t>
              </a:r>
            </a:p>
          </p:txBody>
        </p:sp>
        <p:sp>
          <p:nvSpPr>
            <p:cNvPr id="56" name="TextBox 56"/>
            <p:cNvSpPr txBox="1"/>
            <p:nvPr/>
          </p:nvSpPr>
          <p:spPr>
            <a:xfrm>
              <a:off x="8481060" y="3337560"/>
              <a:ext cx="1710690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1A2230"/>
                  </a:solidFill>
                  <a:latin typeface="Arial"/>
                  <a:ea typeface="Microsoft YaHei"/>
                  <a:cs typeface="Arial"/>
                </a:rPr>
                <a:t>二维码 / Logo / 政策）</a:t>
              </a:r>
            </a:p>
          </p:txBody>
        </p:sp>
        <p:sp>
          <p:nvSpPr>
            <p:cNvPr id="57" name="Rectangle 57"/>
            <p:cNvSpPr/>
            <p:nvPr/>
          </p:nvSpPr>
          <p:spPr>
            <a:xfrm>
              <a:off x="8305800" y="4038600"/>
              <a:ext cx="76200" cy="76200"/>
            </a:xfrm>
            <a:prstGeom prst="rect">
              <a:avLst/>
            </a:prstGeom>
            <a:solidFill>
              <a:srgbClr val="1565C0"/>
            </a:solidFill>
            <a:ln>
              <a:noFill/>
            </a:ln>
          </p:spPr>
        </p:sp>
        <p:sp>
          <p:nvSpPr>
            <p:cNvPr id="58" name="TextBox 58"/>
            <p:cNvSpPr txBox="1"/>
            <p:nvPr/>
          </p:nvSpPr>
          <p:spPr>
            <a:xfrm>
              <a:off x="8481060" y="4004310"/>
              <a:ext cx="1470660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1A2230"/>
                  </a:solidFill>
                  <a:latin typeface="Arial"/>
                  <a:ea typeface="Microsoft YaHei"/>
                  <a:cs typeface="Arial"/>
                </a:rPr>
                <a:t>真实业务跑完整闭环</a:t>
              </a:r>
            </a:p>
          </p:txBody>
        </p:sp>
        <p:sp>
          <p:nvSpPr>
            <p:cNvPr id="59" name="TextBox 59"/>
            <p:cNvSpPr txBox="1"/>
            <p:nvPr/>
          </p:nvSpPr>
          <p:spPr>
            <a:xfrm>
              <a:off x="8481060" y="4251960"/>
              <a:ext cx="1126617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1A2230"/>
                  </a:solidFill>
                  <a:latin typeface="Arial"/>
                  <a:ea typeface="Microsoft YaHei"/>
                  <a:cs typeface="Arial"/>
                </a:rPr>
                <a:t>+ 建立问题清单</a:t>
              </a:r>
            </a:p>
          </p:txBody>
        </p:sp>
        <p:sp>
          <p:nvSpPr>
            <p:cNvPr id="60" name="Rectangle 60"/>
            <p:cNvSpPr/>
            <p:nvPr/>
          </p:nvSpPr>
          <p:spPr>
            <a:xfrm>
              <a:off x="8305800" y="4953000"/>
              <a:ext cx="76200" cy="76200"/>
            </a:xfrm>
            <a:prstGeom prst="rect">
              <a:avLst/>
            </a:prstGeom>
            <a:solidFill>
              <a:srgbClr val="1565C0"/>
            </a:solidFill>
            <a:ln>
              <a:noFill/>
            </a:ln>
          </p:spPr>
        </p:sp>
        <p:sp>
          <p:nvSpPr>
            <p:cNvPr id="61" name="TextBox 61"/>
            <p:cNvSpPr txBox="1"/>
            <p:nvPr/>
          </p:nvSpPr>
          <p:spPr>
            <a:xfrm>
              <a:off x="8481060" y="4918710"/>
              <a:ext cx="1630680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1A2230"/>
                  </a:solidFill>
                  <a:latin typeface="Arial"/>
                  <a:ea typeface="Microsoft YaHei"/>
                  <a:cs typeface="Arial"/>
                </a:rPr>
                <a:t>最终复验（阻塞清零）</a:t>
              </a:r>
            </a:p>
          </p:txBody>
        </p:sp>
        <p:sp>
          <p:nvSpPr>
            <p:cNvPr id="62" name="TextBox 62"/>
            <p:cNvSpPr txBox="1"/>
            <p:nvPr/>
          </p:nvSpPr>
          <p:spPr>
            <a:xfrm>
              <a:off x="8481060" y="5166360"/>
              <a:ext cx="1446657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1A2230"/>
                  </a:solidFill>
                  <a:latin typeface="Arial"/>
                  <a:ea typeface="Microsoft YaHei"/>
                  <a:cs typeface="Arial"/>
                </a:rPr>
                <a:t>+ 给出最终上线建议</a:t>
              </a:r>
            </a:p>
          </p:txBody>
        </p:sp>
      </p:grpSp>
      <p:grpSp>
        <p:nvGrpSpPr>
          <p:cNvPr id="66" name="Group 66"/>
          <p:cNvGrpSpPr/>
          <p:nvPr/>
        </p:nvGrpSpPr>
        <p:grpSpPr>
          <a:xfrm>
            <a:off x="675322" y="6597491"/>
            <a:ext cx="10841355" cy="167640"/>
            <a:chOff x="675322" y="6597491"/>
            <a:chExt cx="10841355" cy="167640"/>
          </a:xfrm>
        </p:grpSpPr>
        <p:sp>
          <p:nvSpPr>
            <p:cNvPr id="64" name="TextBox 64"/>
            <p:cNvSpPr txBox="1"/>
            <p:nvPr/>
          </p:nvSpPr>
          <p:spPr>
            <a:xfrm>
              <a:off x="675322" y="6597491"/>
              <a:ext cx="1797677" cy="1676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825" dirty="0">
                  <a:solidFill>
                    <a:srgbClr val="93A0B0"/>
                  </a:solidFill>
                  <a:latin typeface="Arial"/>
                  <a:ea typeface="Microsoft YaHei"/>
                  <a:cs typeface="Arial"/>
                </a:rPr>
                <a:t>牙医仪器检修小程序 · 项目进度汇报</a:t>
              </a:r>
            </a:p>
          </p:txBody>
        </p:sp>
        <p:sp>
          <p:nvSpPr>
            <p:cNvPr id="65" name="TextBox 65"/>
            <p:cNvSpPr txBox="1"/>
            <p:nvPr/>
          </p:nvSpPr>
          <p:spPr>
            <a:xfrm>
              <a:off x="10335077" y="6597491"/>
              <a:ext cx="1181600" cy="1676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en-US" sz="825" dirty="0">
                  <a:solidFill>
                    <a:srgbClr val="93A0B0"/>
                  </a:solidFill>
                  <a:latin typeface="Arial"/>
                  <a:ea typeface="Arial"/>
                  <a:cs typeface="Arial"/>
                </a:rPr>
                <a:t>2026-06-22 · P10 / 12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</p:sp>
      <p:grpSp>
        <p:nvGrpSpPr>
          <p:cNvPr id="7" name="Group 7"/>
          <p:cNvGrpSpPr/>
          <p:nvPr/>
        </p:nvGrpSpPr>
        <p:grpSpPr>
          <a:xfrm>
            <a:off x="685800" y="533400"/>
            <a:ext cx="10833735" cy="504825"/>
            <a:chOff x="685800" y="533400"/>
            <a:chExt cx="10833735" cy="504825"/>
          </a:xfrm>
        </p:grpSpPr>
        <p:sp>
          <p:nvSpPr>
            <p:cNvPr id="3" name="Rectangle 3"/>
            <p:cNvSpPr/>
            <p:nvPr/>
          </p:nvSpPr>
          <p:spPr>
            <a:xfrm>
              <a:off x="685800" y="533400"/>
              <a:ext cx="57150" cy="323850"/>
            </a:xfrm>
            <a:prstGeom prst="rect">
              <a:avLst/>
            </a:prstGeom>
            <a:solidFill>
              <a:srgbClr val="1565C0"/>
            </a:solidFill>
            <a:ln>
              <a:noFill/>
            </a:ln>
          </p:spPr>
        </p:sp>
        <p:sp>
          <p:nvSpPr>
            <p:cNvPr id="4" name="TextBox 4"/>
            <p:cNvSpPr txBox="1"/>
            <p:nvPr/>
          </p:nvSpPr>
          <p:spPr>
            <a:xfrm>
              <a:off x="847725" y="557212"/>
              <a:ext cx="2624721" cy="4572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250" b="1" dirty="0">
                  <a:solidFill>
                    <a:srgbClr val="1A2230"/>
                  </a:solidFill>
                  <a:latin typeface="Arial"/>
                  <a:ea typeface="SimHei"/>
                  <a:cs typeface="Arial"/>
                </a:rPr>
                <a:t>未来 7 天行动计划</a:t>
              </a:r>
            </a:p>
          </p:txBody>
        </p:sp>
        <p:sp>
          <p:nvSpPr>
            <p:cNvPr id="5" name="TextBox 5"/>
            <p:cNvSpPr txBox="1"/>
            <p:nvPr/>
          </p:nvSpPr>
          <p:spPr>
            <a:xfrm>
              <a:off x="10561749" y="667702"/>
              <a:ext cx="957786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en-US" sz="1050" dirty="0">
                  <a:solidFill>
                    <a:srgbClr val="93A0B0"/>
                  </a:solidFill>
                  <a:latin typeface="Arial"/>
                  <a:ea typeface="Arial"/>
                  <a:cs typeface="Arial"/>
                </a:rPr>
                <a:t>06-22 → 06-30</a:t>
              </a:r>
            </a:p>
          </p:txBody>
        </p:sp>
        <p:sp>
          <p:nvSpPr>
            <p:cNvPr id="6" name="Line 6"/>
            <p:cNvSpPr/>
            <p:nvPr/>
          </p:nvSpPr>
          <p:spPr>
            <a:xfrm>
              <a:off x="685800" y="1028700"/>
              <a:ext cx="10820400" cy="9525"/>
            </a:xfrm>
            <a:custGeom>
              <a:avLst/>
              <a:gdLst/>
              <a:ahLst/>
              <a:cxnLst/>
              <a:rect l="l" t="t" r="r" b="b"/>
              <a:pathLst>
                <a:path w="10820400" h="9525">
                  <a:moveTo>
                    <a:pt x="0" y="0"/>
                  </a:moveTo>
                  <a:lnTo>
                    <a:pt x="10820400" y="0"/>
                  </a:lnTo>
                </a:path>
              </a:pathLst>
            </a:custGeom>
            <a:noFill/>
            <a:ln w="9525">
              <a:solidFill>
                <a:srgbClr val="E5EAF0"/>
              </a:solidFill>
            </a:ln>
          </p:spPr>
        </p:sp>
      </p:grpSp>
      <p:grpSp>
        <p:nvGrpSpPr>
          <p:cNvPr id="22" name="Group 22"/>
          <p:cNvGrpSpPr/>
          <p:nvPr/>
        </p:nvGrpSpPr>
        <p:grpSpPr>
          <a:xfrm>
            <a:off x="685800" y="1428750"/>
            <a:ext cx="6016729" cy="1104900"/>
            <a:chOff x="685800" y="1428750"/>
            <a:chExt cx="6016729" cy="1104900"/>
          </a:xfrm>
        </p:grpSpPr>
        <p:sp>
          <p:nvSpPr>
            <p:cNvPr id="8" name="Rectangle 8"/>
            <p:cNvSpPr/>
            <p:nvPr/>
          </p:nvSpPr>
          <p:spPr>
            <a:xfrm>
              <a:off x="685800" y="1428750"/>
              <a:ext cx="2381250" cy="1104900"/>
            </a:xfrm>
            <a:prstGeom prst="rect">
              <a:avLst/>
            </a:prstGeom>
            <a:solidFill>
              <a:srgbClr val="1565C0"/>
            </a:solidFill>
            <a:ln>
              <a:noFill/>
            </a:ln>
          </p:spPr>
        </p:sp>
        <p:sp>
          <p:nvSpPr>
            <p:cNvPr id="9" name="TextBox 9"/>
            <p:cNvSpPr txBox="1"/>
            <p:nvPr/>
          </p:nvSpPr>
          <p:spPr>
            <a:xfrm>
              <a:off x="1169075" y="1751648"/>
              <a:ext cx="1414701" cy="3962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950" b="1" dirty="0">
                  <a:solidFill>
                    <a:srgbClr val="FFFFFF"/>
                  </a:solidFill>
                  <a:latin typeface="Arial"/>
                  <a:ea typeface="Arial"/>
                  <a:cs typeface="Arial"/>
                </a:rPr>
                <a:t>06-22 ~ 24</a:t>
              </a:r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1541145" y="2137410"/>
              <a:ext cx="670560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dirty="0">
                  <a:solidFill>
                    <a:srgbClr val="D6E4F5"/>
                  </a:solidFill>
                  <a:latin typeface="Arial"/>
                  <a:ea typeface="SimHei"/>
                  <a:cs typeface="Arial"/>
                </a:rPr>
                <a:t>资料锁定</a:t>
              </a:r>
            </a:p>
          </p:txBody>
        </p:sp>
        <p:grpSp>
          <p:nvGrpSpPr>
            <p:cNvPr id="17" name="Group 17"/>
            <p:cNvGrpSpPr/>
            <p:nvPr/>
          </p:nvGrpSpPr>
          <p:grpSpPr>
            <a:xfrm>
              <a:off x="3355975" y="1554956"/>
              <a:ext cx="165099" cy="185737"/>
              <a:chOff x="3355975" y="1554956"/>
              <a:chExt cx="165099" cy="185737"/>
            </a:xfrm>
          </p:grpSpPr>
          <p:sp>
            <p:nvSpPr>
              <p:cNvPr id="11" name="Freeform 11"/>
              <p:cNvSpPr/>
              <p:nvPr/>
            </p:nvSpPr>
            <p:spPr>
              <a:xfrm>
                <a:off x="3355975" y="1575594"/>
                <a:ext cx="165099" cy="165099"/>
              </a:xfrm>
              <a:custGeom>
                <a:avLst/>
                <a:gdLst/>
                <a:ahLst/>
                <a:cxnLst/>
                <a:rect l="l" t="t" r="r" b="b"/>
                <a:pathLst>
                  <a:path w="165099" h="165099">
                    <a:moveTo>
                      <a:pt x="0" y="20637"/>
                    </a:moveTo>
                    <a:cubicBezTo>
                      <a:pt x="0" y="9240"/>
                      <a:pt x="9240" y="0"/>
                      <a:pt x="20637" y="0"/>
                    </a:cubicBezTo>
                    <a:lnTo>
                      <a:pt x="144462" y="0"/>
                    </a:lnTo>
                    <a:cubicBezTo>
                      <a:pt x="155860" y="0"/>
                      <a:pt x="165099" y="9240"/>
                      <a:pt x="165099" y="20637"/>
                    </a:cubicBezTo>
                    <a:lnTo>
                      <a:pt x="165099" y="144462"/>
                    </a:lnTo>
                    <a:cubicBezTo>
                      <a:pt x="165099" y="155860"/>
                      <a:pt x="155860" y="165099"/>
                      <a:pt x="144462" y="165099"/>
                    </a:cubicBezTo>
                    <a:lnTo>
                      <a:pt x="20637" y="165099"/>
                    </a:lnTo>
                    <a:cubicBezTo>
                      <a:pt x="9240" y="165099"/>
                      <a:pt x="0" y="155860"/>
                      <a:pt x="0" y="144462"/>
                    </a:cubicBezTo>
                    <a:lnTo>
                      <a:pt x="0" y="20637"/>
                    </a:lnTo>
                  </a:path>
                </a:pathLst>
              </a:custGeom>
              <a:noFill/>
              <a:ln w="19050">
                <a:solidFill>
                  <a:srgbClr val="1565C0"/>
                </a:solidFill>
              </a:ln>
            </p:spPr>
          </p:sp>
          <p:sp>
            <p:nvSpPr>
              <p:cNvPr id="12" name="Freeform 12"/>
              <p:cNvSpPr/>
              <p:nvPr/>
            </p:nvSpPr>
            <p:spPr>
              <a:xfrm>
                <a:off x="3479799" y="1554956"/>
                <a:ext cx="9525" cy="41275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41275">
                    <a:moveTo>
                      <a:pt x="0" y="0"/>
                    </a:moveTo>
                    <a:lnTo>
                      <a:pt x="0" y="41275"/>
                    </a:lnTo>
                  </a:path>
                </a:pathLst>
              </a:custGeom>
              <a:noFill/>
              <a:ln w="19050">
                <a:solidFill>
                  <a:srgbClr val="1565C0"/>
                </a:solidFill>
              </a:ln>
            </p:spPr>
          </p:sp>
          <p:sp>
            <p:nvSpPr>
              <p:cNvPr id="13" name="Freeform 13"/>
              <p:cNvSpPr/>
              <p:nvPr/>
            </p:nvSpPr>
            <p:spPr>
              <a:xfrm>
                <a:off x="3397250" y="1554956"/>
                <a:ext cx="9525" cy="41275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41275">
                    <a:moveTo>
                      <a:pt x="0" y="0"/>
                    </a:moveTo>
                    <a:lnTo>
                      <a:pt x="0" y="41275"/>
                    </a:lnTo>
                  </a:path>
                </a:pathLst>
              </a:custGeom>
              <a:noFill/>
              <a:ln w="19050">
                <a:solidFill>
                  <a:srgbClr val="1565C0"/>
                </a:solidFill>
              </a:ln>
            </p:spPr>
          </p:sp>
          <p:sp>
            <p:nvSpPr>
              <p:cNvPr id="14" name="Freeform 14"/>
              <p:cNvSpPr/>
              <p:nvPr/>
            </p:nvSpPr>
            <p:spPr>
              <a:xfrm>
                <a:off x="3355975" y="1637506"/>
                <a:ext cx="165099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165099" h="9525">
                    <a:moveTo>
                      <a:pt x="0" y="0"/>
                    </a:moveTo>
                    <a:lnTo>
                      <a:pt x="165099" y="0"/>
                    </a:lnTo>
                  </a:path>
                </a:pathLst>
              </a:custGeom>
              <a:noFill/>
              <a:ln w="19050">
                <a:solidFill>
                  <a:srgbClr val="1565C0"/>
                </a:solidFill>
              </a:ln>
            </p:spPr>
          </p:sp>
          <p:sp>
            <p:nvSpPr>
              <p:cNvPr id="15" name="Freeform 15"/>
              <p:cNvSpPr/>
              <p:nvPr/>
            </p:nvSpPr>
            <p:spPr>
              <a:xfrm>
                <a:off x="3428206" y="1678781"/>
                <a:ext cx="10319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10319" h="9525">
                    <a:moveTo>
                      <a:pt x="0" y="0"/>
                    </a:moveTo>
                    <a:lnTo>
                      <a:pt x="10319" y="0"/>
                    </a:lnTo>
                  </a:path>
                </a:pathLst>
              </a:custGeom>
              <a:noFill/>
              <a:ln w="19050">
                <a:solidFill>
                  <a:srgbClr val="1565C0"/>
                </a:solidFill>
              </a:ln>
            </p:spPr>
          </p:sp>
          <p:sp>
            <p:nvSpPr>
              <p:cNvPr id="16" name="Freeform 16"/>
              <p:cNvSpPr/>
              <p:nvPr/>
            </p:nvSpPr>
            <p:spPr>
              <a:xfrm>
                <a:off x="3438525" y="1678781"/>
                <a:ext cx="9525" cy="30956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30956">
                    <a:moveTo>
                      <a:pt x="0" y="0"/>
                    </a:moveTo>
                    <a:lnTo>
                      <a:pt x="0" y="30956"/>
                    </a:lnTo>
                  </a:path>
                </a:pathLst>
              </a:custGeom>
              <a:noFill/>
              <a:ln w="19050">
                <a:solidFill>
                  <a:srgbClr val="1565C0"/>
                </a:solidFill>
              </a:ln>
            </p:spPr>
          </p:sp>
        </p:grpSp>
        <p:sp>
          <p:nvSpPr>
            <p:cNvPr id="18" name="Rectangle 18"/>
            <p:cNvSpPr/>
            <p:nvPr/>
          </p:nvSpPr>
          <p:spPr>
            <a:xfrm>
              <a:off x="3390900" y="1866900"/>
              <a:ext cx="76200" cy="76200"/>
            </a:xfrm>
            <a:prstGeom prst="rect">
              <a:avLst/>
            </a:prstGeom>
            <a:solidFill>
              <a:srgbClr val="1565C0"/>
            </a:solidFill>
            <a:ln>
              <a:noFill/>
            </a:ln>
          </p:spPr>
        </p:sp>
        <p:sp>
          <p:nvSpPr>
            <p:cNvPr id="19" name="TextBox 19"/>
            <p:cNvSpPr txBox="1"/>
            <p:nvPr/>
          </p:nvSpPr>
          <p:spPr>
            <a:xfrm>
              <a:off x="3584258" y="1824514"/>
              <a:ext cx="2412682" cy="2590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75" dirty="0">
                  <a:solidFill>
                    <a:srgbClr val="1A2230"/>
                  </a:solidFill>
                  <a:latin typeface="Arial"/>
                  <a:ea typeface="Microsoft YaHei"/>
                  <a:cs typeface="Arial"/>
                </a:rPr>
                <a:t>收齐并锁定正式资料（吴彤彤）</a:t>
              </a:r>
            </a:p>
          </p:txBody>
        </p:sp>
        <p:sp>
          <p:nvSpPr>
            <p:cNvPr id="20" name="Rectangle 20"/>
            <p:cNvSpPr/>
            <p:nvPr/>
          </p:nvSpPr>
          <p:spPr>
            <a:xfrm>
              <a:off x="3390900" y="2266950"/>
              <a:ext cx="76200" cy="76200"/>
            </a:xfrm>
            <a:prstGeom prst="rect">
              <a:avLst/>
            </a:prstGeom>
            <a:solidFill>
              <a:srgbClr val="1565C0"/>
            </a:solidFill>
            <a:ln>
              <a:noFill/>
            </a:ln>
          </p:spPr>
        </p:sp>
        <p:sp>
          <p:nvSpPr>
            <p:cNvPr id="21" name="TextBox 21"/>
            <p:cNvSpPr txBox="1"/>
            <p:nvPr/>
          </p:nvSpPr>
          <p:spPr>
            <a:xfrm>
              <a:off x="3584258" y="2224564"/>
              <a:ext cx="3118271" cy="2590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75" dirty="0">
                  <a:solidFill>
                    <a:srgbClr val="1A2230"/>
                  </a:solidFill>
                  <a:latin typeface="Arial"/>
                  <a:ea typeface="Microsoft YaHei"/>
                  <a:cs typeface="Arial"/>
                </a:rPr>
                <a:t>重部署 5 个整改云函数到正式（苏凤冰）</a:t>
              </a:r>
            </a:p>
          </p:txBody>
        </p:sp>
      </p:grpSp>
      <p:grpSp>
        <p:nvGrpSpPr>
          <p:cNvPr id="37" name="Group 37"/>
          <p:cNvGrpSpPr/>
          <p:nvPr/>
        </p:nvGrpSpPr>
        <p:grpSpPr>
          <a:xfrm>
            <a:off x="685800" y="2667000"/>
            <a:ext cx="7818954" cy="1104900"/>
            <a:chOff x="685800" y="2667000"/>
            <a:chExt cx="7818954" cy="1104900"/>
          </a:xfrm>
        </p:grpSpPr>
        <p:sp>
          <p:nvSpPr>
            <p:cNvPr id="23" name="Rectangle 23"/>
            <p:cNvSpPr/>
            <p:nvPr/>
          </p:nvSpPr>
          <p:spPr>
            <a:xfrm>
              <a:off x="685800" y="2667000"/>
              <a:ext cx="2381250" cy="1104900"/>
            </a:xfrm>
            <a:prstGeom prst="rect">
              <a:avLst/>
            </a:prstGeom>
            <a:solidFill>
              <a:srgbClr val="1565C0"/>
            </a:solidFill>
            <a:ln>
              <a:noFill/>
            </a:ln>
          </p:spPr>
        </p:sp>
        <p:sp>
          <p:nvSpPr>
            <p:cNvPr id="24" name="TextBox 24"/>
            <p:cNvSpPr txBox="1"/>
            <p:nvPr/>
          </p:nvSpPr>
          <p:spPr>
            <a:xfrm>
              <a:off x="1169075" y="2989898"/>
              <a:ext cx="1414701" cy="3962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950" b="1" dirty="0">
                  <a:solidFill>
                    <a:srgbClr val="FFFFFF"/>
                  </a:solidFill>
                  <a:latin typeface="Arial"/>
                  <a:ea typeface="Arial"/>
                  <a:cs typeface="Arial"/>
                </a:rPr>
                <a:t>06-25 ~ 27</a:t>
              </a:r>
            </a:p>
          </p:txBody>
        </p:sp>
        <p:sp>
          <p:nvSpPr>
            <p:cNvPr id="25" name="TextBox 25"/>
            <p:cNvSpPr txBox="1"/>
            <p:nvPr/>
          </p:nvSpPr>
          <p:spPr>
            <a:xfrm>
              <a:off x="1461135" y="3375660"/>
              <a:ext cx="830580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dirty="0">
                  <a:solidFill>
                    <a:srgbClr val="D6E4F5"/>
                  </a:solidFill>
                  <a:latin typeface="Arial"/>
                  <a:ea typeface="SimHei"/>
                  <a:cs typeface="Arial"/>
                </a:rPr>
                <a:t>环境与配置</a:t>
              </a:r>
            </a:p>
          </p:txBody>
        </p:sp>
        <p:grpSp>
          <p:nvGrpSpPr>
            <p:cNvPr id="32" name="Group 32"/>
            <p:cNvGrpSpPr/>
            <p:nvPr/>
          </p:nvGrpSpPr>
          <p:grpSpPr>
            <a:xfrm>
              <a:off x="3355975" y="2793206"/>
              <a:ext cx="165099" cy="185737"/>
              <a:chOff x="3355975" y="2793206"/>
              <a:chExt cx="165099" cy="185737"/>
            </a:xfrm>
          </p:grpSpPr>
          <p:sp>
            <p:nvSpPr>
              <p:cNvPr id="26" name="Freeform 26"/>
              <p:cNvSpPr/>
              <p:nvPr/>
            </p:nvSpPr>
            <p:spPr>
              <a:xfrm>
                <a:off x="3355975" y="2813844"/>
                <a:ext cx="165099" cy="165099"/>
              </a:xfrm>
              <a:custGeom>
                <a:avLst/>
                <a:gdLst/>
                <a:ahLst/>
                <a:cxnLst/>
                <a:rect l="l" t="t" r="r" b="b"/>
                <a:pathLst>
                  <a:path w="165099" h="165099">
                    <a:moveTo>
                      <a:pt x="0" y="20637"/>
                    </a:moveTo>
                    <a:cubicBezTo>
                      <a:pt x="0" y="9240"/>
                      <a:pt x="9240" y="0"/>
                      <a:pt x="20637" y="0"/>
                    </a:cubicBezTo>
                    <a:lnTo>
                      <a:pt x="144462" y="0"/>
                    </a:lnTo>
                    <a:cubicBezTo>
                      <a:pt x="155860" y="0"/>
                      <a:pt x="165099" y="9240"/>
                      <a:pt x="165099" y="20637"/>
                    </a:cubicBezTo>
                    <a:lnTo>
                      <a:pt x="165099" y="144462"/>
                    </a:lnTo>
                    <a:cubicBezTo>
                      <a:pt x="165099" y="155860"/>
                      <a:pt x="155860" y="165099"/>
                      <a:pt x="144462" y="165099"/>
                    </a:cubicBezTo>
                    <a:lnTo>
                      <a:pt x="20637" y="165099"/>
                    </a:lnTo>
                    <a:cubicBezTo>
                      <a:pt x="9240" y="165099"/>
                      <a:pt x="0" y="155860"/>
                      <a:pt x="0" y="144462"/>
                    </a:cubicBezTo>
                    <a:lnTo>
                      <a:pt x="0" y="20637"/>
                    </a:lnTo>
                  </a:path>
                </a:pathLst>
              </a:custGeom>
              <a:noFill/>
              <a:ln w="19050">
                <a:solidFill>
                  <a:srgbClr val="1565C0"/>
                </a:solidFill>
              </a:ln>
            </p:spPr>
          </p:sp>
          <p:sp>
            <p:nvSpPr>
              <p:cNvPr id="27" name="Freeform 27"/>
              <p:cNvSpPr/>
              <p:nvPr/>
            </p:nvSpPr>
            <p:spPr>
              <a:xfrm>
                <a:off x="3479799" y="2793206"/>
                <a:ext cx="9525" cy="41275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41275">
                    <a:moveTo>
                      <a:pt x="0" y="0"/>
                    </a:moveTo>
                    <a:lnTo>
                      <a:pt x="0" y="41275"/>
                    </a:lnTo>
                  </a:path>
                </a:pathLst>
              </a:custGeom>
              <a:noFill/>
              <a:ln w="19050">
                <a:solidFill>
                  <a:srgbClr val="1565C0"/>
                </a:solidFill>
              </a:ln>
            </p:spPr>
          </p:sp>
          <p:sp>
            <p:nvSpPr>
              <p:cNvPr id="28" name="Freeform 28"/>
              <p:cNvSpPr/>
              <p:nvPr/>
            </p:nvSpPr>
            <p:spPr>
              <a:xfrm>
                <a:off x="3397250" y="2793206"/>
                <a:ext cx="9525" cy="41275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41275">
                    <a:moveTo>
                      <a:pt x="0" y="0"/>
                    </a:moveTo>
                    <a:lnTo>
                      <a:pt x="0" y="41275"/>
                    </a:lnTo>
                  </a:path>
                </a:pathLst>
              </a:custGeom>
              <a:noFill/>
              <a:ln w="19050">
                <a:solidFill>
                  <a:srgbClr val="1565C0"/>
                </a:solidFill>
              </a:ln>
            </p:spPr>
          </p:sp>
          <p:sp>
            <p:nvSpPr>
              <p:cNvPr id="29" name="Freeform 29"/>
              <p:cNvSpPr/>
              <p:nvPr/>
            </p:nvSpPr>
            <p:spPr>
              <a:xfrm>
                <a:off x="3355975" y="2875756"/>
                <a:ext cx="165099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165099" h="9525">
                    <a:moveTo>
                      <a:pt x="0" y="0"/>
                    </a:moveTo>
                    <a:lnTo>
                      <a:pt x="165099" y="0"/>
                    </a:lnTo>
                  </a:path>
                </a:pathLst>
              </a:custGeom>
              <a:noFill/>
              <a:ln w="19050">
                <a:solidFill>
                  <a:srgbClr val="1565C0"/>
                </a:solidFill>
              </a:ln>
            </p:spPr>
          </p:sp>
          <p:sp>
            <p:nvSpPr>
              <p:cNvPr id="30" name="Freeform 30"/>
              <p:cNvSpPr/>
              <p:nvPr/>
            </p:nvSpPr>
            <p:spPr>
              <a:xfrm>
                <a:off x="3428206" y="2917031"/>
                <a:ext cx="10319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10319" h="9525">
                    <a:moveTo>
                      <a:pt x="0" y="0"/>
                    </a:moveTo>
                    <a:lnTo>
                      <a:pt x="10319" y="0"/>
                    </a:lnTo>
                  </a:path>
                </a:pathLst>
              </a:custGeom>
              <a:noFill/>
              <a:ln w="19050">
                <a:solidFill>
                  <a:srgbClr val="1565C0"/>
                </a:solidFill>
              </a:ln>
            </p:spPr>
          </p:sp>
          <p:sp>
            <p:nvSpPr>
              <p:cNvPr id="31" name="Freeform 31"/>
              <p:cNvSpPr/>
              <p:nvPr/>
            </p:nvSpPr>
            <p:spPr>
              <a:xfrm>
                <a:off x="3438525" y="2917031"/>
                <a:ext cx="9525" cy="30956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30956">
                    <a:moveTo>
                      <a:pt x="0" y="0"/>
                    </a:moveTo>
                    <a:lnTo>
                      <a:pt x="0" y="30956"/>
                    </a:lnTo>
                  </a:path>
                </a:pathLst>
              </a:custGeom>
              <a:noFill/>
              <a:ln w="19050">
                <a:solidFill>
                  <a:srgbClr val="1565C0"/>
                </a:solidFill>
              </a:ln>
            </p:spPr>
          </p:sp>
        </p:grpSp>
        <p:sp>
          <p:nvSpPr>
            <p:cNvPr id="33" name="Rectangle 33"/>
            <p:cNvSpPr/>
            <p:nvPr/>
          </p:nvSpPr>
          <p:spPr>
            <a:xfrm>
              <a:off x="3390900" y="3105150"/>
              <a:ext cx="76200" cy="76200"/>
            </a:xfrm>
            <a:prstGeom prst="rect">
              <a:avLst/>
            </a:prstGeom>
            <a:solidFill>
              <a:srgbClr val="1565C0"/>
            </a:solidFill>
            <a:ln>
              <a:noFill/>
            </a:ln>
          </p:spPr>
        </p:sp>
        <p:sp>
          <p:nvSpPr>
            <p:cNvPr id="34" name="TextBox 34"/>
            <p:cNvSpPr txBox="1"/>
            <p:nvPr/>
          </p:nvSpPr>
          <p:spPr>
            <a:xfrm>
              <a:off x="3584258" y="3062764"/>
              <a:ext cx="4920496" cy="2590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75" dirty="0">
                  <a:solidFill>
                    <a:srgbClr val="1A2230"/>
                  </a:solidFill>
                  <a:latin typeface="Arial"/>
                  <a:ea typeface="Microsoft YaHei"/>
                  <a:cs typeface="Arial"/>
                </a:rPr>
                <a:t>切正式云空间 + 支付 / 订阅 / 域名 / 索引配置（苏凤冰 · 陈莎）</a:t>
              </a:r>
            </a:p>
          </p:txBody>
        </p:sp>
        <p:sp>
          <p:nvSpPr>
            <p:cNvPr id="35" name="Rectangle 35"/>
            <p:cNvSpPr/>
            <p:nvPr/>
          </p:nvSpPr>
          <p:spPr>
            <a:xfrm>
              <a:off x="3390900" y="3505200"/>
              <a:ext cx="76200" cy="76200"/>
            </a:xfrm>
            <a:prstGeom prst="rect">
              <a:avLst/>
            </a:prstGeom>
            <a:solidFill>
              <a:srgbClr val="1565C0"/>
            </a:solidFill>
            <a:ln>
              <a:noFill/>
            </a:ln>
          </p:spPr>
        </p:sp>
        <p:sp>
          <p:nvSpPr>
            <p:cNvPr id="36" name="TextBox 36"/>
            <p:cNvSpPr txBox="1"/>
            <p:nvPr/>
          </p:nvSpPr>
          <p:spPr>
            <a:xfrm>
              <a:off x="3584258" y="3462814"/>
              <a:ext cx="3050262" cy="2590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75" dirty="0">
                  <a:solidFill>
                    <a:srgbClr val="1A2230"/>
                  </a:solidFill>
                  <a:latin typeface="Arial"/>
                  <a:ea typeface="Microsoft YaHei"/>
                  <a:cs typeface="Arial"/>
                </a:rPr>
                <a:t>PC 后台正式域名 HTTPS 部署（蔡珠琪）</a:t>
              </a:r>
            </a:p>
          </p:txBody>
        </p:sp>
      </p:grpSp>
      <p:grpSp>
        <p:nvGrpSpPr>
          <p:cNvPr id="52" name="Group 52"/>
          <p:cNvGrpSpPr/>
          <p:nvPr/>
        </p:nvGrpSpPr>
        <p:grpSpPr>
          <a:xfrm>
            <a:off x="685800" y="3905250"/>
            <a:ext cx="7062359" cy="1104900"/>
            <a:chOff x="685800" y="3905250"/>
            <a:chExt cx="7062359" cy="1104900"/>
          </a:xfrm>
        </p:grpSpPr>
        <p:sp>
          <p:nvSpPr>
            <p:cNvPr id="38" name="Rectangle 38"/>
            <p:cNvSpPr/>
            <p:nvPr/>
          </p:nvSpPr>
          <p:spPr>
            <a:xfrm>
              <a:off x="685800" y="3905250"/>
              <a:ext cx="2381250" cy="1104900"/>
            </a:xfrm>
            <a:prstGeom prst="rect">
              <a:avLst/>
            </a:prstGeom>
            <a:solidFill>
              <a:srgbClr val="1565C0"/>
            </a:solidFill>
            <a:ln>
              <a:noFill/>
            </a:ln>
          </p:spPr>
        </p:sp>
        <p:sp>
          <p:nvSpPr>
            <p:cNvPr id="39" name="TextBox 39"/>
            <p:cNvSpPr txBox="1"/>
            <p:nvPr/>
          </p:nvSpPr>
          <p:spPr>
            <a:xfrm>
              <a:off x="1169075" y="4228148"/>
              <a:ext cx="1414701" cy="3962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950" b="1" dirty="0">
                  <a:solidFill>
                    <a:srgbClr val="FFFFFF"/>
                  </a:solidFill>
                  <a:latin typeface="Arial"/>
                  <a:ea typeface="Arial"/>
                  <a:cs typeface="Arial"/>
                </a:rPr>
                <a:t>06-28 ~ 30</a:t>
              </a:r>
            </a:p>
          </p:txBody>
        </p:sp>
        <p:sp>
          <p:nvSpPr>
            <p:cNvPr id="40" name="TextBox 40"/>
            <p:cNvSpPr txBox="1"/>
            <p:nvPr/>
          </p:nvSpPr>
          <p:spPr>
            <a:xfrm>
              <a:off x="1541145" y="4613910"/>
              <a:ext cx="670560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dirty="0">
                  <a:solidFill>
                    <a:srgbClr val="D6E4F5"/>
                  </a:solidFill>
                  <a:latin typeface="Arial"/>
                  <a:ea typeface="SimHei"/>
                  <a:cs typeface="Arial"/>
                </a:rPr>
                <a:t>验收闭环</a:t>
              </a:r>
            </a:p>
          </p:txBody>
        </p:sp>
        <p:grpSp>
          <p:nvGrpSpPr>
            <p:cNvPr id="47" name="Group 47"/>
            <p:cNvGrpSpPr/>
            <p:nvPr/>
          </p:nvGrpSpPr>
          <p:grpSpPr>
            <a:xfrm>
              <a:off x="3355975" y="4031456"/>
              <a:ext cx="165099" cy="185737"/>
              <a:chOff x="3355975" y="4031456"/>
              <a:chExt cx="165099" cy="185737"/>
            </a:xfrm>
          </p:grpSpPr>
          <p:sp>
            <p:nvSpPr>
              <p:cNvPr id="41" name="Freeform 41"/>
              <p:cNvSpPr/>
              <p:nvPr/>
            </p:nvSpPr>
            <p:spPr>
              <a:xfrm>
                <a:off x="3355975" y="4052094"/>
                <a:ext cx="165099" cy="165099"/>
              </a:xfrm>
              <a:custGeom>
                <a:avLst/>
                <a:gdLst/>
                <a:ahLst/>
                <a:cxnLst/>
                <a:rect l="l" t="t" r="r" b="b"/>
                <a:pathLst>
                  <a:path w="165099" h="165099">
                    <a:moveTo>
                      <a:pt x="0" y="20637"/>
                    </a:moveTo>
                    <a:cubicBezTo>
                      <a:pt x="0" y="9240"/>
                      <a:pt x="9240" y="0"/>
                      <a:pt x="20637" y="0"/>
                    </a:cubicBezTo>
                    <a:lnTo>
                      <a:pt x="144462" y="0"/>
                    </a:lnTo>
                    <a:cubicBezTo>
                      <a:pt x="155860" y="0"/>
                      <a:pt x="165099" y="9240"/>
                      <a:pt x="165099" y="20637"/>
                    </a:cubicBezTo>
                    <a:lnTo>
                      <a:pt x="165099" y="144462"/>
                    </a:lnTo>
                    <a:cubicBezTo>
                      <a:pt x="165099" y="155860"/>
                      <a:pt x="155860" y="165099"/>
                      <a:pt x="144462" y="165099"/>
                    </a:cubicBezTo>
                    <a:lnTo>
                      <a:pt x="20637" y="165099"/>
                    </a:lnTo>
                    <a:cubicBezTo>
                      <a:pt x="9240" y="165099"/>
                      <a:pt x="0" y="155860"/>
                      <a:pt x="0" y="144462"/>
                    </a:cubicBezTo>
                    <a:lnTo>
                      <a:pt x="0" y="20637"/>
                    </a:lnTo>
                  </a:path>
                </a:pathLst>
              </a:custGeom>
              <a:noFill/>
              <a:ln w="19050">
                <a:solidFill>
                  <a:srgbClr val="1565C0"/>
                </a:solidFill>
              </a:ln>
            </p:spPr>
          </p:sp>
          <p:sp>
            <p:nvSpPr>
              <p:cNvPr id="42" name="Freeform 42"/>
              <p:cNvSpPr/>
              <p:nvPr/>
            </p:nvSpPr>
            <p:spPr>
              <a:xfrm>
                <a:off x="3479799" y="4031456"/>
                <a:ext cx="9525" cy="41275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41275">
                    <a:moveTo>
                      <a:pt x="0" y="0"/>
                    </a:moveTo>
                    <a:lnTo>
                      <a:pt x="0" y="41275"/>
                    </a:lnTo>
                  </a:path>
                </a:pathLst>
              </a:custGeom>
              <a:noFill/>
              <a:ln w="19050">
                <a:solidFill>
                  <a:srgbClr val="1565C0"/>
                </a:solidFill>
              </a:ln>
            </p:spPr>
          </p:sp>
          <p:sp>
            <p:nvSpPr>
              <p:cNvPr id="43" name="Freeform 43"/>
              <p:cNvSpPr/>
              <p:nvPr/>
            </p:nvSpPr>
            <p:spPr>
              <a:xfrm>
                <a:off x="3397250" y="4031456"/>
                <a:ext cx="9525" cy="41275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41275">
                    <a:moveTo>
                      <a:pt x="0" y="0"/>
                    </a:moveTo>
                    <a:lnTo>
                      <a:pt x="0" y="41275"/>
                    </a:lnTo>
                  </a:path>
                </a:pathLst>
              </a:custGeom>
              <a:noFill/>
              <a:ln w="19050">
                <a:solidFill>
                  <a:srgbClr val="1565C0"/>
                </a:solidFill>
              </a:ln>
            </p:spPr>
          </p:sp>
          <p:sp>
            <p:nvSpPr>
              <p:cNvPr id="44" name="Freeform 44"/>
              <p:cNvSpPr/>
              <p:nvPr/>
            </p:nvSpPr>
            <p:spPr>
              <a:xfrm>
                <a:off x="3355975" y="4114006"/>
                <a:ext cx="165099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165099" h="9525">
                    <a:moveTo>
                      <a:pt x="0" y="0"/>
                    </a:moveTo>
                    <a:lnTo>
                      <a:pt x="165099" y="0"/>
                    </a:lnTo>
                  </a:path>
                </a:pathLst>
              </a:custGeom>
              <a:noFill/>
              <a:ln w="19050">
                <a:solidFill>
                  <a:srgbClr val="1565C0"/>
                </a:solidFill>
              </a:ln>
            </p:spPr>
          </p:sp>
          <p:sp>
            <p:nvSpPr>
              <p:cNvPr id="45" name="Freeform 45"/>
              <p:cNvSpPr/>
              <p:nvPr/>
            </p:nvSpPr>
            <p:spPr>
              <a:xfrm>
                <a:off x="3428206" y="4155281"/>
                <a:ext cx="10319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10319" h="9525">
                    <a:moveTo>
                      <a:pt x="0" y="0"/>
                    </a:moveTo>
                    <a:lnTo>
                      <a:pt x="10319" y="0"/>
                    </a:lnTo>
                  </a:path>
                </a:pathLst>
              </a:custGeom>
              <a:noFill/>
              <a:ln w="19050">
                <a:solidFill>
                  <a:srgbClr val="1565C0"/>
                </a:solidFill>
              </a:ln>
            </p:spPr>
          </p:sp>
          <p:sp>
            <p:nvSpPr>
              <p:cNvPr id="46" name="Freeform 46"/>
              <p:cNvSpPr/>
              <p:nvPr/>
            </p:nvSpPr>
            <p:spPr>
              <a:xfrm>
                <a:off x="3438525" y="4155281"/>
                <a:ext cx="9525" cy="30956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30956">
                    <a:moveTo>
                      <a:pt x="0" y="0"/>
                    </a:moveTo>
                    <a:lnTo>
                      <a:pt x="0" y="30956"/>
                    </a:lnTo>
                  </a:path>
                </a:pathLst>
              </a:custGeom>
              <a:noFill/>
              <a:ln w="19050">
                <a:solidFill>
                  <a:srgbClr val="1565C0"/>
                </a:solidFill>
              </a:ln>
            </p:spPr>
          </p:sp>
        </p:grpSp>
        <p:sp>
          <p:nvSpPr>
            <p:cNvPr id="48" name="Rectangle 48"/>
            <p:cNvSpPr/>
            <p:nvPr/>
          </p:nvSpPr>
          <p:spPr>
            <a:xfrm>
              <a:off x="3390900" y="4343400"/>
              <a:ext cx="76200" cy="76200"/>
            </a:xfrm>
            <a:prstGeom prst="rect">
              <a:avLst/>
            </a:prstGeom>
            <a:solidFill>
              <a:srgbClr val="1565C0"/>
            </a:solidFill>
            <a:ln>
              <a:noFill/>
            </a:ln>
          </p:spPr>
        </p:sp>
        <p:sp>
          <p:nvSpPr>
            <p:cNvPr id="49" name="TextBox 49"/>
            <p:cNvSpPr txBox="1"/>
            <p:nvPr/>
          </p:nvSpPr>
          <p:spPr>
            <a:xfrm>
              <a:off x="3584258" y="4301014"/>
              <a:ext cx="4163901" cy="2590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75" dirty="0">
                  <a:solidFill>
                    <a:srgbClr val="1A2230"/>
                  </a:solidFill>
                  <a:latin typeface="Arial"/>
                  <a:ea typeface="Microsoft YaHei"/>
                  <a:cs typeface="Arial"/>
                </a:rPr>
                <a:t>第一轮真机 + 全流程业务闭环验收（郑佳华 · 钟浩霆）</a:t>
              </a:r>
            </a:p>
          </p:txBody>
        </p:sp>
        <p:sp>
          <p:nvSpPr>
            <p:cNvPr id="50" name="Rectangle 50"/>
            <p:cNvSpPr/>
            <p:nvPr/>
          </p:nvSpPr>
          <p:spPr>
            <a:xfrm>
              <a:off x="3390900" y="4743450"/>
              <a:ext cx="76200" cy="76200"/>
            </a:xfrm>
            <a:prstGeom prst="rect">
              <a:avLst/>
            </a:prstGeom>
            <a:solidFill>
              <a:srgbClr val="1565C0"/>
            </a:solidFill>
            <a:ln>
              <a:noFill/>
            </a:ln>
          </p:spPr>
        </p:sp>
        <p:sp>
          <p:nvSpPr>
            <p:cNvPr id="51" name="TextBox 51"/>
            <p:cNvSpPr txBox="1"/>
            <p:nvPr/>
          </p:nvSpPr>
          <p:spPr>
            <a:xfrm>
              <a:off x="3584258" y="4701064"/>
              <a:ext cx="2752725" cy="2590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75" dirty="0">
                  <a:solidFill>
                    <a:srgbClr val="1A2230"/>
                  </a:solidFill>
                  <a:latin typeface="Arial"/>
                  <a:ea typeface="Microsoft YaHei"/>
                  <a:cs typeface="Arial"/>
                </a:rPr>
                <a:t>整理问题清单并复测，准备最终回归</a:t>
              </a:r>
            </a:p>
          </p:txBody>
        </p:sp>
      </p:grpSp>
      <p:grpSp>
        <p:nvGrpSpPr>
          <p:cNvPr id="61" name="Group 61"/>
          <p:cNvGrpSpPr/>
          <p:nvPr/>
        </p:nvGrpSpPr>
        <p:grpSpPr>
          <a:xfrm>
            <a:off x="685800" y="5334000"/>
            <a:ext cx="10820400" cy="647700"/>
            <a:chOff x="685800" y="5334000"/>
            <a:chExt cx="10820400" cy="647700"/>
          </a:xfrm>
        </p:grpSpPr>
        <p:sp>
          <p:nvSpPr>
            <p:cNvPr id="53" name="Rectangle 53"/>
            <p:cNvSpPr/>
            <p:nvPr/>
          </p:nvSpPr>
          <p:spPr>
            <a:xfrm>
              <a:off x="685800" y="5334000"/>
              <a:ext cx="10820400" cy="647700"/>
            </a:xfrm>
            <a:prstGeom prst="rect">
              <a:avLst/>
            </a:prstGeom>
            <a:solidFill>
              <a:srgbClr val="FBE9EA"/>
            </a:solidFill>
            <a:ln>
              <a:noFill/>
            </a:ln>
          </p:spPr>
        </p:sp>
        <p:sp>
          <p:nvSpPr>
            <p:cNvPr id="54" name="Rectangle 54"/>
            <p:cNvSpPr/>
            <p:nvPr/>
          </p:nvSpPr>
          <p:spPr>
            <a:xfrm>
              <a:off x="685800" y="5334000"/>
              <a:ext cx="57150" cy="647700"/>
            </a:xfrm>
            <a:prstGeom prst="rect">
              <a:avLst/>
            </a:prstGeom>
            <a:solidFill>
              <a:srgbClr val="D32F2F"/>
            </a:solidFill>
            <a:ln>
              <a:noFill/>
            </a:ln>
          </p:spPr>
        </p:sp>
        <p:grpSp>
          <p:nvGrpSpPr>
            <p:cNvPr id="58" name="Group 58"/>
            <p:cNvGrpSpPr/>
            <p:nvPr/>
          </p:nvGrpSpPr>
          <p:grpSpPr>
            <a:xfrm>
              <a:off x="1014919" y="5539331"/>
              <a:ext cx="256151" cy="220068"/>
              <a:chOff x="1014919" y="5539331"/>
              <a:chExt cx="256151" cy="220068"/>
            </a:xfrm>
          </p:grpSpPr>
          <p:sp>
            <p:nvSpPr>
              <p:cNvPr id="55" name="Freeform 55"/>
              <p:cNvSpPr/>
              <p:nvPr/>
            </p:nvSpPr>
            <p:spPr>
              <a:xfrm>
                <a:off x="1143000" y="5619750"/>
                <a:ext cx="9525" cy="50800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50800">
                    <a:moveTo>
                      <a:pt x="0" y="0"/>
                    </a:moveTo>
                    <a:lnTo>
                      <a:pt x="0" y="50800"/>
                    </a:lnTo>
                  </a:path>
                </a:pathLst>
              </a:custGeom>
              <a:noFill/>
              <a:ln w="19050">
                <a:solidFill>
                  <a:srgbClr val="D32F2F"/>
                </a:solidFill>
              </a:ln>
            </p:spPr>
          </p:sp>
          <p:sp>
            <p:nvSpPr>
              <p:cNvPr id="56" name="Freeform 56"/>
              <p:cNvSpPr/>
              <p:nvPr/>
            </p:nvSpPr>
            <p:spPr>
              <a:xfrm>
                <a:off x="1014919" y="5539331"/>
                <a:ext cx="256151" cy="220068"/>
              </a:xfrm>
              <a:custGeom>
                <a:avLst/>
                <a:gdLst/>
                <a:ahLst/>
                <a:cxnLst/>
                <a:rect l="l" t="t" r="r" b="b"/>
                <a:pathLst>
                  <a:path w="256151" h="220068">
                    <a:moveTo>
                      <a:pt x="107291" y="11725"/>
                    </a:moveTo>
                    <a:lnTo>
                      <a:pt x="4345" y="183606"/>
                    </a:lnTo>
                    <a:cubicBezTo>
                      <a:pt x="26" y="191085"/>
                      <a:pt x="0" y="200293"/>
                      <a:pt x="4276" y="207796"/>
                    </a:cubicBezTo>
                    <a:cubicBezTo>
                      <a:pt x="8551" y="215299"/>
                      <a:pt x="16487" y="219971"/>
                      <a:pt x="25122" y="220068"/>
                    </a:cubicBezTo>
                    <a:lnTo>
                      <a:pt x="231039" y="220068"/>
                    </a:lnTo>
                    <a:cubicBezTo>
                      <a:pt x="239671" y="219968"/>
                      <a:pt x="247602" y="215299"/>
                      <a:pt x="251877" y="207800"/>
                    </a:cubicBezTo>
                    <a:cubicBezTo>
                      <a:pt x="256151" y="200300"/>
                      <a:pt x="256128" y="191097"/>
                      <a:pt x="251816" y="183619"/>
                    </a:cubicBezTo>
                    <a:lnTo>
                      <a:pt x="148870" y="11712"/>
                    </a:lnTo>
                    <a:cubicBezTo>
                      <a:pt x="144465" y="4441"/>
                      <a:pt x="136582" y="0"/>
                      <a:pt x="128081" y="0"/>
                    </a:cubicBezTo>
                    <a:cubicBezTo>
                      <a:pt x="119579" y="0"/>
                      <a:pt x="111696" y="4441"/>
                      <a:pt x="107291" y="11712"/>
                    </a:cubicBezTo>
                  </a:path>
                </a:pathLst>
              </a:custGeom>
              <a:noFill/>
              <a:ln w="19050">
                <a:solidFill>
                  <a:srgbClr val="D32F2F"/>
                </a:solidFill>
              </a:ln>
            </p:spPr>
          </p:sp>
          <p:sp>
            <p:nvSpPr>
              <p:cNvPr id="57" name="Freeform 57"/>
              <p:cNvSpPr/>
              <p:nvPr/>
            </p:nvSpPr>
            <p:spPr>
              <a:xfrm>
                <a:off x="1143000" y="5708649"/>
                <a:ext cx="9525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9525">
                    <a:moveTo>
                      <a:pt x="0" y="0"/>
                    </a:moveTo>
                    <a:lnTo>
                      <a:pt x="127" y="0"/>
                    </a:lnTo>
                  </a:path>
                </a:pathLst>
              </a:custGeom>
              <a:noFill/>
              <a:ln w="19050">
                <a:solidFill>
                  <a:srgbClr val="D32F2F"/>
                </a:solidFill>
              </a:ln>
            </p:spPr>
          </p:sp>
        </p:grpSp>
        <p:sp>
          <p:nvSpPr>
            <p:cNvPr id="59" name="TextBox 59"/>
            <p:cNvSpPr txBox="1"/>
            <p:nvPr/>
          </p:nvSpPr>
          <p:spPr>
            <a:xfrm>
              <a:off x="1470660" y="5509260"/>
              <a:ext cx="1542669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b="1" dirty="0">
                  <a:solidFill>
                    <a:srgbClr val="D32F2F"/>
                  </a:solidFill>
                  <a:latin typeface="Arial"/>
                  <a:ea typeface="SimHei"/>
                  <a:cs typeface="Arial"/>
                </a:rPr>
                <a:t>并行推进（卡发布）</a:t>
              </a:r>
            </a:p>
          </p:txBody>
        </p:sp>
        <p:sp>
          <p:nvSpPr>
            <p:cNvPr id="60" name="TextBox 60"/>
            <p:cNvSpPr txBox="1"/>
            <p:nvPr/>
          </p:nvSpPr>
          <p:spPr>
            <a:xfrm>
              <a:off x="1470660" y="5737860"/>
              <a:ext cx="7183374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1A2230"/>
                  </a:solidFill>
                  <a:latin typeface="Arial"/>
                  <a:ea typeface="Microsoft YaHei"/>
                  <a:cs typeface="Arial"/>
                </a:rPr>
                <a:t>补齐《医疗器械生产许可证》《互联网信息服务备案凭证》并在「类目管理」重新提交审核 —— 吴彤彤</a:t>
              </a:r>
            </a:p>
          </p:txBody>
        </p:sp>
      </p:grpSp>
      <p:grpSp>
        <p:nvGrpSpPr>
          <p:cNvPr id="64" name="Group 64"/>
          <p:cNvGrpSpPr/>
          <p:nvPr/>
        </p:nvGrpSpPr>
        <p:grpSpPr>
          <a:xfrm>
            <a:off x="675322" y="6597491"/>
            <a:ext cx="10841355" cy="167640"/>
            <a:chOff x="675322" y="6597491"/>
            <a:chExt cx="10841355" cy="167640"/>
          </a:xfrm>
        </p:grpSpPr>
        <p:sp>
          <p:nvSpPr>
            <p:cNvPr id="62" name="TextBox 62"/>
            <p:cNvSpPr txBox="1"/>
            <p:nvPr/>
          </p:nvSpPr>
          <p:spPr>
            <a:xfrm>
              <a:off x="675322" y="6597491"/>
              <a:ext cx="1797677" cy="1676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825" dirty="0">
                  <a:solidFill>
                    <a:srgbClr val="93A0B0"/>
                  </a:solidFill>
                  <a:latin typeface="Arial"/>
                  <a:ea typeface="Microsoft YaHei"/>
                  <a:cs typeface="Arial"/>
                </a:rPr>
                <a:t>牙医仪器检修小程序 · 项目进度汇报</a:t>
              </a:r>
            </a:p>
          </p:txBody>
        </p:sp>
        <p:sp>
          <p:nvSpPr>
            <p:cNvPr id="63" name="TextBox 63"/>
            <p:cNvSpPr txBox="1"/>
            <p:nvPr/>
          </p:nvSpPr>
          <p:spPr>
            <a:xfrm>
              <a:off x="10335077" y="6597491"/>
              <a:ext cx="1181600" cy="1676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en-US" sz="825" dirty="0">
                  <a:solidFill>
                    <a:srgbClr val="93A0B0"/>
                  </a:solidFill>
                  <a:latin typeface="Arial"/>
                  <a:ea typeface="Arial"/>
                  <a:cs typeface="Arial"/>
                </a:rPr>
                <a:t>2026-06-22 · P11 / 12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oup 4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2" name="Rectangle 2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</p:spPr>
        </p:sp>
        <p:sp>
          <p:nvSpPr>
            <p:cNvPr id="3" name="Rectangle 3"/>
            <p:cNvSpPr/>
            <p:nvPr/>
          </p:nvSpPr>
          <p:spPr>
            <a:xfrm>
              <a:off x="0" y="0"/>
              <a:ext cx="95250" cy="6858000"/>
            </a:xfrm>
            <a:prstGeom prst="rect">
              <a:avLst/>
            </a:prstGeom>
            <a:solidFill>
              <a:srgbClr val="1565C0"/>
            </a:solidFill>
            <a:ln>
              <a:noFill/>
            </a:ln>
          </p:spPr>
        </p:sp>
      </p:grpSp>
      <p:grpSp>
        <p:nvGrpSpPr>
          <p:cNvPr id="7" name="Group 7"/>
          <p:cNvGrpSpPr/>
          <p:nvPr/>
        </p:nvGrpSpPr>
        <p:grpSpPr>
          <a:xfrm>
            <a:off x="685800" y="1081564"/>
            <a:ext cx="2715626" cy="259080"/>
            <a:chOff x="685800" y="1081564"/>
            <a:chExt cx="2715626" cy="259080"/>
          </a:xfrm>
        </p:grpSpPr>
        <p:sp>
          <p:nvSpPr>
            <p:cNvPr id="5" name="Rectangle 5"/>
            <p:cNvSpPr/>
            <p:nvPr/>
          </p:nvSpPr>
          <p:spPr>
            <a:xfrm>
              <a:off x="685800" y="1143000"/>
              <a:ext cx="323850" cy="38100"/>
            </a:xfrm>
            <a:prstGeom prst="rect">
              <a:avLst/>
            </a:prstGeom>
            <a:solidFill>
              <a:srgbClr val="1565C0"/>
            </a:solidFill>
            <a:ln>
              <a:noFill/>
            </a:ln>
          </p:spPr>
        </p:sp>
        <p:sp>
          <p:nvSpPr>
            <p:cNvPr id="6" name="TextBox 6"/>
            <p:cNvSpPr txBox="1"/>
            <p:nvPr/>
          </p:nvSpPr>
          <p:spPr>
            <a:xfrm>
              <a:off x="1107758" y="1081564"/>
              <a:ext cx="2293668" cy="2590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75" dirty="0">
                  <a:solidFill>
                    <a:srgbClr val="1565C0"/>
                  </a:solidFill>
                  <a:latin typeface="Arial"/>
                  <a:ea typeface="SimHei"/>
                  <a:cs typeface="Arial"/>
                </a:rPr>
                <a:t>上线判定 · 收尾 · FINAL CALL</a:t>
              </a:r>
            </a:p>
          </p:txBody>
        </p:sp>
      </p:grpSp>
      <p:grpSp>
        <p:nvGrpSpPr>
          <p:cNvPr id="10" name="Group 10"/>
          <p:cNvGrpSpPr/>
          <p:nvPr/>
        </p:nvGrpSpPr>
        <p:grpSpPr>
          <a:xfrm>
            <a:off x="613410" y="2042160"/>
            <a:ext cx="5399342" cy="853440"/>
            <a:chOff x="613410" y="2042160"/>
            <a:chExt cx="5399342" cy="853440"/>
          </a:xfrm>
        </p:grpSpPr>
        <p:sp>
          <p:nvSpPr>
            <p:cNvPr id="8" name="TextBox 8"/>
            <p:cNvSpPr txBox="1"/>
            <p:nvPr/>
          </p:nvSpPr>
          <p:spPr>
            <a:xfrm>
              <a:off x="613410" y="2042160"/>
              <a:ext cx="5399342" cy="8534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4200" b="1" dirty="0">
                  <a:solidFill>
                    <a:srgbClr val="1A2230"/>
                  </a:solidFill>
                  <a:latin typeface="Arial"/>
                  <a:ea typeface="SimHei"/>
                  <a:cs typeface="Arial"/>
                </a:rPr>
                <a:t>门槛未清零，不提审</a:t>
              </a:r>
            </a:p>
          </p:txBody>
        </p:sp>
        <p:sp>
          <p:nvSpPr>
            <p:cNvPr id="9" name="Rectangle 9"/>
            <p:cNvSpPr/>
            <p:nvPr/>
          </p:nvSpPr>
          <p:spPr>
            <a:xfrm>
              <a:off x="685800" y="2838450"/>
              <a:ext cx="1524000" cy="47625"/>
            </a:xfrm>
            <a:prstGeom prst="rect">
              <a:avLst/>
            </a:prstGeom>
            <a:solidFill>
              <a:srgbClr val="0D3B66"/>
            </a:solidFill>
            <a:ln>
              <a:noFill/>
            </a:ln>
          </p:spPr>
        </p:sp>
      </p:grpSp>
      <p:grpSp>
        <p:nvGrpSpPr>
          <p:cNvPr id="17" name="Group 17"/>
          <p:cNvGrpSpPr/>
          <p:nvPr/>
        </p:nvGrpSpPr>
        <p:grpSpPr>
          <a:xfrm>
            <a:off x="685800" y="3409950"/>
            <a:ext cx="10820400" cy="1428750"/>
            <a:chOff x="685800" y="3409950"/>
            <a:chExt cx="10820400" cy="1428750"/>
          </a:xfrm>
        </p:grpSpPr>
        <p:sp>
          <p:nvSpPr>
            <p:cNvPr id="11" name="Rectangle 11"/>
            <p:cNvSpPr/>
            <p:nvPr/>
          </p:nvSpPr>
          <p:spPr>
            <a:xfrm>
              <a:off x="685800" y="3409950"/>
              <a:ext cx="10820400" cy="1428750"/>
            </a:xfrm>
            <a:prstGeom prst="rect">
              <a:avLst/>
            </a:prstGeom>
            <a:solidFill>
              <a:srgbClr val="F4F7FB"/>
            </a:solidFill>
            <a:ln>
              <a:noFill/>
            </a:ln>
          </p:spPr>
        </p:sp>
        <p:sp>
          <p:nvSpPr>
            <p:cNvPr id="12" name="Rectangle 12"/>
            <p:cNvSpPr/>
            <p:nvPr/>
          </p:nvSpPr>
          <p:spPr>
            <a:xfrm>
              <a:off x="685800" y="3409950"/>
              <a:ext cx="57150" cy="1428750"/>
            </a:xfrm>
            <a:prstGeom prst="rect">
              <a:avLst/>
            </a:prstGeom>
            <a:solidFill>
              <a:srgbClr val="0D3B66"/>
            </a:solidFill>
            <a:ln>
              <a:noFill/>
            </a:ln>
          </p:spPr>
        </p:sp>
        <p:sp>
          <p:nvSpPr>
            <p:cNvPr id="13" name="Freeform 13"/>
            <p:cNvSpPr/>
            <p:nvPr/>
          </p:nvSpPr>
          <p:spPr>
            <a:xfrm>
              <a:off x="1107814" y="3819525"/>
              <a:ext cx="298973" cy="285751"/>
            </a:xfrm>
            <a:custGeom>
              <a:avLst/>
              <a:gdLst/>
              <a:ahLst/>
              <a:cxnLst/>
              <a:rect l="l" t="t" r="r" b="b"/>
              <a:pathLst>
                <a:path w="298973" h="285751">
                  <a:moveTo>
                    <a:pt x="149486" y="0"/>
                  </a:moveTo>
                  <a:cubicBezTo>
                    <a:pt x="186568" y="32807"/>
                    <a:pt x="234965" y="49888"/>
                    <a:pt x="284424" y="47625"/>
                  </a:cubicBezTo>
                  <a:cubicBezTo>
                    <a:pt x="298973" y="97116"/>
                    <a:pt x="292829" y="150391"/>
                    <a:pt x="267397" y="195271"/>
                  </a:cubicBezTo>
                  <a:cubicBezTo>
                    <a:pt x="241965" y="240151"/>
                    <a:pt x="199419" y="272799"/>
                    <a:pt x="149486" y="285751"/>
                  </a:cubicBezTo>
                  <a:cubicBezTo>
                    <a:pt x="99554" y="272799"/>
                    <a:pt x="57008" y="240151"/>
                    <a:pt x="31576" y="195271"/>
                  </a:cubicBezTo>
                  <a:cubicBezTo>
                    <a:pt x="6144" y="150391"/>
                    <a:pt x="0" y="97116"/>
                    <a:pt x="14549" y="47625"/>
                  </a:cubicBezTo>
                  <a:cubicBezTo>
                    <a:pt x="64008" y="49888"/>
                    <a:pt x="112405" y="32807"/>
                    <a:pt x="149486" y="0"/>
                  </a:cubicBezTo>
                </a:path>
              </a:pathLst>
            </a:custGeom>
            <a:noFill/>
            <a:ln w="19050">
              <a:solidFill>
                <a:srgbClr val="0D3B66"/>
              </a:solidFill>
            </a:ln>
          </p:spPr>
        </p:sp>
        <p:sp>
          <p:nvSpPr>
            <p:cNvPr id="14" name="TextBox 14"/>
            <p:cNvSpPr txBox="1"/>
            <p:nvPr/>
          </p:nvSpPr>
          <p:spPr>
            <a:xfrm>
              <a:off x="1623060" y="3756660"/>
              <a:ext cx="1038606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b="1" dirty="0">
                  <a:solidFill>
                    <a:srgbClr val="93A0B0"/>
                  </a:solidFill>
                  <a:latin typeface="Arial"/>
                  <a:ea typeface="SimHei"/>
                  <a:cs typeface="Arial"/>
                </a:rPr>
                <a:t>上线判定规则</a:t>
              </a:r>
            </a:p>
          </p:txBody>
        </p:sp>
        <p:sp>
          <p:nvSpPr>
            <p:cNvPr id="15" name="TextBox 15"/>
            <p:cNvSpPr txBox="1"/>
            <p:nvPr/>
          </p:nvSpPr>
          <p:spPr>
            <a:xfrm>
              <a:off x="1620202" y="4075271"/>
              <a:ext cx="7447121" cy="2895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5" dirty="0">
                  <a:solidFill>
                    <a:srgbClr val="1A2230"/>
                  </a:solidFill>
                  <a:latin typeface="Arial"/>
                  <a:ea typeface="Microsoft YaHei"/>
                  <a:cs typeface="Arial"/>
                </a:rPr>
                <a:t>任一最低上线门槛未过，原则上不得提审；有条件上线须由吴彤彤在《最终上线确认单》</a:t>
              </a:r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1620202" y="4380071"/>
              <a:ext cx="4026694" cy="2895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5" dirty="0">
                  <a:solidFill>
                    <a:srgbClr val="1A2230"/>
                  </a:solidFill>
                  <a:latin typeface="Arial"/>
                  <a:ea typeface="Microsoft YaHei"/>
                  <a:cs typeface="Arial"/>
                </a:rPr>
                <a:t>写明风险、兜底方案、负责人、预计修复时间。</a:t>
              </a:r>
            </a:p>
          </p:txBody>
        </p:sp>
      </p:grpSp>
      <p:grpSp>
        <p:nvGrpSpPr>
          <p:cNvPr id="19" name="Group 19"/>
          <p:cNvGrpSpPr/>
          <p:nvPr/>
        </p:nvGrpSpPr>
        <p:grpSpPr>
          <a:xfrm>
            <a:off x="653415" y="5363528"/>
            <a:ext cx="5420439" cy="518160"/>
            <a:chOff x="653415" y="5363528"/>
            <a:chExt cx="5420439" cy="518160"/>
          </a:xfrm>
        </p:grpSpPr>
        <p:sp>
          <p:nvSpPr>
            <p:cNvPr id="18" name="TextBox 18"/>
            <p:cNvSpPr txBox="1"/>
            <p:nvPr/>
          </p:nvSpPr>
          <p:spPr>
            <a:xfrm>
              <a:off x="653415" y="5363528"/>
              <a:ext cx="5420439" cy="5181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565C0"/>
                  </a:solidFill>
                  <a:latin typeface="Arial"/>
                  <a:ea typeface="SimHei"/>
                  <a:cs typeface="Arial"/>
                </a:rPr>
                <a:t>开发已就位，决胜在配置与审核。</a:t>
              </a:r>
            </a:p>
          </p:txBody>
        </p:sp>
      </p:grpSp>
      <p:grpSp>
        <p:nvGrpSpPr>
          <p:cNvPr id="22" name="Group 22"/>
          <p:cNvGrpSpPr/>
          <p:nvPr/>
        </p:nvGrpSpPr>
        <p:grpSpPr>
          <a:xfrm>
            <a:off x="675322" y="6597491"/>
            <a:ext cx="10841355" cy="167640"/>
            <a:chOff x="675322" y="6597491"/>
            <a:chExt cx="10841355" cy="167640"/>
          </a:xfrm>
        </p:grpSpPr>
        <p:sp>
          <p:nvSpPr>
            <p:cNvPr id="20" name="TextBox 20"/>
            <p:cNvSpPr txBox="1"/>
            <p:nvPr/>
          </p:nvSpPr>
          <p:spPr>
            <a:xfrm>
              <a:off x="675322" y="6597491"/>
              <a:ext cx="2782300" cy="1676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825" dirty="0">
                  <a:solidFill>
                    <a:srgbClr val="93A0B0"/>
                  </a:solidFill>
                  <a:latin typeface="Arial"/>
                  <a:ea typeface="Microsoft YaHei"/>
                  <a:cs typeface="Arial"/>
                </a:rPr>
                <a:t>牙医仪器检修小程序 · 项目进度汇报 · 统计 2026-06-22</a:t>
              </a:r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10335077" y="6597491"/>
              <a:ext cx="1181600" cy="1676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en-US" sz="825" dirty="0">
                  <a:solidFill>
                    <a:srgbClr val="93A0B0"/>
                  </a:solidFill>
                  <a:latin typeface="Arial"/>
                  <a:ea typeface="Arial"/>
                  <a:cs typeface="Arial"/>
                </a:rPr>
                <a:t>2026-06-22 · P12 / 12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Office PowerPoint</Application>
  <PresentationFormat>On-screen Show (16:9)</PresentationFormat>
  <Paragraphs>0</Paragraphs>
  <Slides>12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/>
  <dc:language/>
  <cp:lastModifiedBy/>
  <cp:revision>1</cp:revision>
  <dcterms:created xsi:type="dcterms:W3CDTF">2026-06-22T05:40:49Z</dcterms:created>
  <dcterms:modified xsi:type="dcterms:W3CDTF">2026-06-22T05:40:49Z</dcterms:modified>
  <cp:category/>
  <cp:contentStatus/>
</cp:coreProperties>
</file>